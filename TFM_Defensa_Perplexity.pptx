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JkyP/zUHpLB4i/OKwlVrVXijs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10972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TRABAJO FIN DE MÁSTER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155448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Integración multi-ómica de la firma de interferón tipo I y biomarcadores séricos en LES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Máster en Bioinformática y Bioestadística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5029200"/>
            <a:ext cx="548640" cy="36576"/>
          </a:xfrm>
          <a:prstGeom prst="rect">
            <a:avLst/>
          </a:prstGeom>
          <a:solidFill>
            <a:srgbClr val="0F6B78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5166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Fuensanta Bernal </a:t>
            </a:r>
            <a:r>
              <a:rPr b="1" lang="en-US" sz="2000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Gómez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5623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Defensa oral · Junio 202</a:t>
            </a:r>
            <a:r>
              <a:rPr lang="en-US" sz="1300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0" y="868680"/>
            <a:ext cx="4206240" cy="5440680"/>
          </a:xfrm>
          <a:prstGeom prst="roundRect">
            <a:avLst>
              <a:gd fmla="val 2609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38160" y="1325880"/>
            <a:ext cx="1234440" cy="1234440"/>
          </a:xfrm>
          <a:prstGeom prst="ellipse">
            <a:avLst/>
          </a:prstGeom>
          <a:solidFill>
            <a:srgbClr val="C7DCDF"/>
          </a:solidFill>
          <a:ln cap="flat" cmpd="sng" w="1905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138160" y="132588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72 ISGs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829800" y="1325880"/>
            <a:ext cx="1234440" cy="1234440"/>
          </a:xfrm>
          <a:prstGeom prst="ellipse">
            <a:avLst/>
          </a:prstGeom>
          <a:solidFill>
            <a:srgbClr val="E8DCD2"/>
          </a:solidFill>
          <a:ln cap="flat" cmpd="sng" w="1905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829800" y="132588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sérico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909560" y="3063240"/>
            <a:ext cx="3383280" cy="777240"/>
          </a:xfrm>
          <a:prstGeom prst="roundRect">
            <a:avLst>
              <a:gd fmla="val 11765" name="adj"/>
            </a:avLst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909560" y="30632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MOFA2 · DIABLO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8755380" y="2578608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" name="Google Shape;30;p1"/>
          <p:cNvCxnSpPr/>
          <p:nvPr/>
        </p:nvCxnSpPr>
        <p:spPr>
          <a:xfrm>
            <a:off x="10447020" y="2578608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" name="Google Shape;31;p1"/>
          <p:cNvCxnSpPr/>
          <p:nvPr/>
        </p:nvCxnSpPr>
        <p:spPr>
          <a:xfrm>
            <a:off x="9601200" y="3858768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" name="Google Shape;32;p1"/>
          <p:cNvSpPr/>
          <p:nvPr/>
        </p:nvSpPr>
        <p:spPr>
          <a:xfrm>
            <a:off x="7909560" y="4343400"/>
            <a:ext cx="33832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909560" y="434340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Desenlaces clínicos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· daño · remisión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02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El LES es una enfermedad heterogénea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Una misma etiqueta clínica, muchos cursos biológicos distintos.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233172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68680" y="2514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Clínica variable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68680" y="29718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Manifestaciones cutáneas, articulares, renales, hematológicas y neurológicas.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63640" y="233172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583680" y="2514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fluctuante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583680" y="29718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Brotes y periodos de remisión que se alternan en el tiempo.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425196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68680" y="44348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Daño acumulado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8680" y="4892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Lesión orgánica irreversible que se incrementa con cada brote.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63640" y="425196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583680" y="44348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Biología diversa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583680" y="4892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Mecanismos moleculares heterogéneos detrás del mismo diagnóstico.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Bernal </a:t>
            </a:r>
            <a:r>
              <a:rPr lang="en-US" sz="900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Gómez </a:t>
            </a: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HIPÓTESIS BIOLÓGICA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03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El eje IFN-I como motor molecular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IFN-α activa JAK/STAT y desencadena la expresión sostenida de los ISGs.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31520" y="3017520"/>
            <a:ext cx="2304974" cy="1554480"/>
          </a:xfrm>
          <a:prstGeom prst="roundRect">
            <a:avLst>
              <a:gd fmla="val 7059" name="adj"/>
            </a:avLst>
          </a:prstGeom>
          <a:solidFill>
            <a:srgbClr val="C7DCDF"/>
          </a:solidFill>
          <a:ln cap="flat" cmpd="sng" w="12700">
            <a:solidFill>
              <a:srgbClr val="C7DC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14400" y="3337560"/>
            <a:ext cx="193921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" y="3886200"/>
            <a:ext cx="19392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citoquina circulante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3082214" y="379476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3"/>
          <p:cNvSpPr/>
          <p:nvPr/>
        </p:nvSpPr>
        <p:spPr>
          <a:xfrm>
            <a:off x="3539414" y="3017520"/>
            <a:ext cx="2304974" cy="1554480"/>
          </a:xfrm>
          <a:prstGeom prst="roundRect">
            <a:avLst>
              <a:gd fmla="val 7059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722294" y="3337560"/>
            <a:ext cx="193921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JAK / STAT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722294" y="3886200"/>
            <a:ext cx="19392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vía de señalización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5890108" y="379476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3"/>
          <p:cNvSpPr/>
          <p:nvPr/>
        </p:nvSpPr>
        <p:spPr>
          <a:xfrm>
            <a:off x="6347308" y="3017520"/>
            <a:ext cx="2304974" cy="1554480"/>
          </a:xfrm>
          <a:prstGeom prst="roundRect">
            <a:avLst>
              <a:gd fmla="val 7059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530188" y="3337560"/>
            <a:ext cx="193921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ISGs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30188" y="3886200"/>
            <a:ext cx="19392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genes inducidos por IFN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8698001" y="379476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3"/>
          <p:cNvSpPr/>
          <p:nvPr/>
        </p:nvSpPr>
        <p:spPr>
          <a:xfrm>
            <a:off x="9155201" y="3017520"/>
            <a:ext cx="2304974" cy="1554480"/>
          </a:xfrm>
          <a:prstGeom prst="roundRect">
            <a:avLst>
              <a:gd fmla="val 7059" name="adj"/>
            </a:avLst>
          </a:prstGeom>
          <a:solidFill>
            <a:srgbClr val="E8DCD2"/>
          </a:solidFill>
          <a:ln cap="flat" cmpd="sng" w="12700">
            <a:solidFill>
              <a:srgbClr val="E8DC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338081" y="3337560"/>
            <a:ext cx="193921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Fenotipo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338081" y="3886200"/>
            <a:ext cx="19392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actividad · daño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Hipótesis: en pacientes con LES la firma IFN-I está elevada y se asocia con mayor actividad y daño.</a:t>
            </a:r>
            <a:endParaRPr b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Bernal </a:t>
            </a:r>
            <a:r>
              <a:rPr lang="en-US" sz="900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Gómez </a:t>
            </a: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MÉTODOS · COHORTE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04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Cohorte y selección de participantes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645915"/>
            <a:ext cx="1109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252 pacientes LES · 24 controles sanos · 251 LES + 24 controles en el análisis transcriptómico.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50" y="2057400"/>
            <a:ext cx="7315200" cy="38862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4"/>
          <p:cNvCxnSpPr/>
          <p:nvPr/>
        </p:nvCxnSpPr>
        <p:spPr>
          <a:xfrm>
            <a:off x="2514600" y="3063240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0F6B7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4"/>
          <p:cNvCxnSpPr/>
          <p:nvPr/>
        </p:nvCxnSpPr>
        <p:spPr>
          <a:xfrm>
            <a:off x="2514600" y="394106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0F6B7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4"/>
          <p:cNvCxnSpPr/>
          <p:nvPr/>
        </p:nvCxnSpPr>
        <p:spPr>
          <a:xfrm>
            <a:off x="2514600" y="4818888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0F6B7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4"/>
          <p:cNvSpPr/>
          <p:nvPr/>
        </p:nvSpPr>
        <p:spPr>
          <a:xfrm>
            <a:off x="868680" y="2441448"/>
            <a:ext cx="3291840" cy="621792"/>
          </a:xfrm>
          <a:prstGeom prst="roundRect">
            <a:avLst>
              <a:gd fmla="val 8824" name="adj"/>
            </a:avLst>
          </a:prstGeom>
          <a:solidFill>
            <a:srgbClr val="EAF1F2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05840" y="247802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Pacientes preseleccionados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5840" y="26883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diagnóstico clínico de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05840" y="2788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n = 400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68680" y="3319272"/>
            <a:ext cx="3291840" cy="621792"/>
          </a:xfrm>
          <a:prstGeom prst="roundRect">
            <a:avLst>
              <a:gd fmla="val 8824" name="adj"/>
            </a:avLst>
          </a:prstGeom>
          <a:solidFill>
            <a:srgbClr val="EAF1F2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005840" y="335584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Pacientes elegibles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05840" y="356616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criterios de inclusión / exclusión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05840" y="36667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n = 313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68680" y="4197096"/>
            <a:ext cx="3291840" cy="621792"/>
          </a:xfrm>
          <a:prstGeom prst="roundRect">
            <a:avLst>
              <a:gd fmla="val 8824" name="adj"/>
            </a:avLst>
          </a:prstGeom>
          <a:solidFill>
            <a:srgbClr val="EAF1F2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005840" y="423367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Muestra analítica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005840" y="44439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datos clínicos + biomarcadores séricos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05840" y="454456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n = 252 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68680" y="5074920"/>
            <a:ext cx="3291840" cy="822960"/>
          </a:xfrm>
          <a:prstGeom prst="roundRect">
            <a:avLst>
              <a:gd fmla="val 6667" name="adj"/>
            </a:avLst>
          </a:prstGeom>
          <a:solidFill>
            <a:srgbClr val="C7DCDF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511149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Cohorte transcriptómica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05840" y="532180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IFN-score · 72 ISGs · NanoString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05840" y="562356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n = 251 LES  +  24 controles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4160520" y="2752344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A84B2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4663550" y="2134050"/>
            <a:ext cx="2880300" cy="1122300"/>
          </a:xfrm>
          <a:prstGeom prst="roundRect">
            <a:avLst>
              <a:gd fmla="val 5310" name="adj"/>
            </a:avLst>
          </a:prstGeom>
          <a:solidFill>
            <a:srgbClr val="FBEEE7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823438" y="2192851"/>
            <a:ext cx="26061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Excluidos  (n = 87)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No cumplen ≥4 criterios ACR: 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Consentimiento incompleto: 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Tratamiento con anifrolumab: 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Muestras séricas inadecuadas: 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4160520" y="36301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A84B2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4663450" y="3333001"/>
            <a:ext cx="2880300" cy="777900"/>
          </a:xfrm>
          <a:prstGeom prst="roundRect">
            <a:avLst>
              <a:gd fmla="val 8000" name="adj"/>
            </a:avLst>
          </a:prstGeom>
          <a:solidFill>
            <a:srgbClr val="FBEEE7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823425" y="3447365"/>
            <a:ext cx="2606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Excluidos del transcriptómico  (n = 61)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Sin datos NanoString completos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Fallo en control de calidad (QC)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4160520" y="4507992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A84B2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" name="Google Shape;125;p4"/>
          <p:cNvSpPr/>
          <p:nvPr/>
        </p:nvSpPr>
        <p:spPr>
          <a:xfrm>
            <a:off x="4663440" y="4279392"/>
            <a:ext cx="2880360" cy="548640"/>
          </a:xfrm>
          <a:prstGeom prst="roundRect">
            <a:avLst>
              <a:gd fmla="val 10000" name="adj"/>
            </a:avLst>
          </a:prstGeom>
          <a:solidFill>
            <a:srgbClr val="FBEEE7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800600" y="4352544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Excluido  (n =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· Fallo en normalización NanoString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4160520" y="5486400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6B707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4663440" y="5074920"/>
            <a:ext cx="2880360" cy="822960"/>
          </a:xfrm>
          <a:prstGeom prst="roundRect">
            <a:avLst>
              <a:gd fmla="val 6667" name="adj"/>
            </a:avLst>
          </a:prstGeom>
          <a:solidFill>
            <a:srgbClr val="EEF0F4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800600" y="51206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Controles sanos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800600" y="539496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frecuencia-pareados por edad y sexo  ·  n = 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046865" y="2125975"/>
            <a:ext cx="35661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321185" y="2217415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252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321185" y="2839207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pacientes LES elegibles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046865" y="3451855"/>
            <a:ext cx="35661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321185" y="3543295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321185" y="4165087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controles sanos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046865" y="4777735"/>
            <a:ext cx="35661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321185" y="4869175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251 + 24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321185" y="5490967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análisis transcriptómico 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tras exclusión de 1 muestra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59893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Ilustración 2. Diagrama de flujo del proceso de selección de participantes.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Bernal </a:t>
            </a:r>
            <a:r>
              <a:rPr lang="en-US" sz="900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Gómez</a:t>
            </a: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MÉTODOS ·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05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Arquitectura analítica del estudio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Del dato bruto al modelo predictivo en una sola tubería.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2240280"/>
            <a:ext cx="11094415" cy="393192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22960" y="2738628"/>
            <a:ext cx="2331720" cy="868680"/>
          </a:xfrm>
          <a:prstGeom prst="roundRect">
            <a:avLst>
              <a:gd fmla="val 8421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987552" y="2848356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72 ISGs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87552" y="3150108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NanoString nCounter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22960" y="3771900"/>
            <a:ext cx="2331720" cy="868680"/>
          </a:xfrm>
          <a:prstGeom prst="roundRect">
            <a:avLst>
              <a:gd fmla="val 8421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87552" y="3881628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Proteoma sérico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87552" y="4183380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IFN-α · IFN-γ · BAFF · complemento · lípidos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22960" y="4805172"/>
            <a:ext cx="2331720" cy="868680"/>
          </a:xfrm>
          <a:prstGeom prst="roundRect">
            <a:avLst>
              <a:gd fmla="val 8421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987552" y="4914900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Índices clínicos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987552" y="5216652"/>
            <a:ext cx="20025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SLEDAI-2K · SLE-DAS · SLICC-DI · LLDAS · DORIS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657600" y="3520440"/>
            <a:ext cx="2194560" cy="1371600"/>
          </a:xfrm>
          <a:prstGeom prst="roundRect">
            <a:avLst>
              <a:gd fmla="val 6667" name="adj"/>
            </a:avLst>
          </a:prstGeom>
          <a:solidFill>
            <a:srgbClr val="C7DCDF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794760" y="368503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794760" y="4069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IFN-high  /  IFN-low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794760" y="4480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asociaciones clínicas · 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3172968" y="3172968"/>
            <a:ext cx="466344" cy="1033272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3172968" y="4206240"/>
            <a:ext cx="466344" cy="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5"/>
          <p:cNvCxnSpPr/>
          <p:nvPr/>
        </p:nvCxnSpPr>
        <p:spPr>
          <a:xfrm flipH="1" rot="10800000">
            <a:off x="3172968" y="4206240"/>
            <a:ext cx="466344" cy="1033272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5"/>
          <p:cNvSpPr/>
          <p:nvPr/>
        </p:nvSpPr>
        <p:spPr>
          <a:xfrm>
            <a:off x="6355080" y="3474720"/>
            <a:ext cx="2194560" cy="640080"/>
          </a:xfrm>
          <a:prstGeom prst="roundRect">
            <a:avLst>
              <a:gd fmla="val 11429" name="adj"/>
            </a:avLst>
          </a:prstGeom>
          <a:solidFill>
            <a:srgbClr val="F4DDD2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492240" y="35204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MOFA2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92240" y="37856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no supervisada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55080" y="4297680"/>
            <a:ext cx="2194560" cy="640080"/>
          </a:xfrm>
          <a:prstGeom prst="roundRect">
            <a:avLst>
              <a:gd fmla="val 11429" name="adj"/>
            </a:avLst>
          </a:prstGeom>
          <a:solidFill>
            <a:srgbClr val="F4DDD2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4922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492240" y="46085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supervisada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052560" y="3520440"/>
            <a:ext cx="2316175" cy="1371600"/>
          </a:xfrm>
          <a:prstGeom prst="roundRect">
            <a:avLst>
              <a:gd fmla="val 6667" name="adj"/>
            </a:avLst>
          </a:prstGeom>
          <a:solidFill>
            <a:srgbClr val="6666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189720" y="3685032"/>
            <a:ext cx="2041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189720" y="4069080"/>
            <a:ext cx="2041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predictivo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189720" y="4480560"/>
            <a:ext cx="20418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2D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FD2D6"/>
                </a:solidFill>
                <a:latin typeface="Calibri"/>
                <a:ea typeface="Calibri"/>
                <a:cs typeface="Calibri"/>
                <a:sym typeface="Calibri"/>
              </a:rPr>
              <a:t>validación cruzada · AUC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 flipH="1" rot="10800000">
            <a:off x="5870448" y="3794760"/>
            <a:ext cx="466344" cy="41148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5"/>
          <p:cNvCxnSpPr/>
          <p:nvPr/>
        </p:nvCxnSpPr>
        <p:spPr>
          <a:xfrm>
            <a:off x="5870448" y="4206240"/>
            <a:ext cx="466344" cy="41148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5"/>
          <p:cNvCxnSpPr/>
          <p:nvPr/>
        </p:nvCxnSpPr>
        <p:spPr>
          <a:xfrm>
            <a:off x="8567928" y="3794760"/>
            <a:ext cx="466344" cy="41148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5"/>
          <p:cNvCxnSpPr/>
          <p:nvPr/>
        </p:nvCxnSpPr>
        <p:spPr>
          <a:xfrm flipH="1" rot="10800000">
            <a:off x="8567928" y="4206240"/>
            <a:ext cx="466344" cy="41148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5"/>
          <p:cNvSpPr/>
          <p:nvPr/>
        </p:nvSpPr>
        <p:spPr>
          <a:xfrm>
            <a:off x="548640" y="6190488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Ilustración 3. Arquitectura analítica del estudio.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IFN-SCORE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06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El IFN-score está aumentado en 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Diferencia significativa frente a controles sanos.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igs/ilustr7_ifnscore.png"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0" y="2240283"/>
            <a:ext cx="7132299" cy="384046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548640" y="60807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Medianas en escala log2 (expresión relativa).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939855" y="2286058"/>
            <a:ext cx="37032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214175" y="2395786"/>
            <a:ext cx="315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0,782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214175" y="3035866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mediana LES (log2)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939855" y="3611938"/>
            <a:ext cx="37032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8214175" y="3721666"/>
            <a:ext cx="315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0,006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214175" y="4361746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mediana controles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939855" y="4937818"/>
            <a:ext cx="3703200" cy="1188600"/>
          </a:xfrm>
          <a:prstGeom prst="roundRect">
            <a:avLst>
              <a:gd fmla="val 923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8214175" y="5047546"/>
            <a:ext cx="315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1,05 × 10⁻⁴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214175" y="5687626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 (test de Wilcoxon)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Bernal </a:t>
            </a:r>
            <a:r>
              <a:rPr lang="en-US" sz="900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Gómez </a:t>
            </a: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VALIDACIÓN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07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Validación del score de 72 ISGs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Concordancia con el score clásico de 4 genes.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igs/ilustr8_corr72v4.png"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548640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user/workspace/figs/ilustr9_concordancia.png" id="224" name="Google Shape;2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2331720"/>
            <a:ext cx="393192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10378440" y="2331720"/>
            <a:ext cx="1325880" cy="1051560"/>
          </a:xfrm>
          <a:prstGeom prst="roundRect">
            <a:avLst>
              <a:gd fmla="val 10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10488168" y="24688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ρ = 0,972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0488168" y="2971800"/>
            <a:ext cx="1106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correlación de Spearman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0378440" y="3474720"/>
            <a:ext cx="1325880" cy="1051560"/>
          </a:xfrm>
          <a:prstGeom prst="roundRect">
            <a:avLst>
              <a:gd fmla="val 10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10488168" y="36118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κ = 0,779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0488168" y="4114800"/>
            <a:ext cx="1106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kappa de Cohen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0378440" y="4617720"/>
            <a:ext cx="1325880" cy="1051560"/>
          </a:xfrm>
          <a:prstGeom prst="roundRect">
            <a:avLst>
              <a:gd fmla="val 10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0488168" y="47548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sustancial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0488168" y="5257800"/>
            <a:ext cx="1106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nivel de concordancia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ENDOTIPO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08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Un tercio de los pacientes presenta endotipo IFN-high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Punto de corte definido por el percentil 97,5 de controles sanos.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31520" y="2331720"/>
            <a:ext cx="5029200" cy="3840480"/>
          </a:xfrm>
          <a:prstGeom prst="roundRect">
            <a:avLst>
              <a:gd fmla="val 2857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1188720" y="4023360"/>
            <a:ext cx="4114800" cy="640080"/>
          </a:xfrm>
          <a:prstGeom prst="rect">
            <a:avLst/>
          </a:prstGeom>
          <a:solidFill>
            <a:srgbClr val="F2D7CD"/>
          </a:solidFill>
          <a:ln cap="flat" cmpd="sng" w="12700">
            <a:solidFill>
              <a:srgbClr val="F2D7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1188720" y="4023360"/>
            <a:ext cx="1427836" cy="640080"/>
          </a:xfrm>
          <a:prstGeom prst="rect">
            <a:avLst/>
          </a:prstGeom>
          <a:solidFill>
            <a:srgbClr val="A84B2F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188720" y="36118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IFN-high  34,7%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040380" y="3611880"/>
            <a:ext cx="22631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IFN-low  65,3%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188720" y="4937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87 IFN-high  ·  164 IFN-low  ·  n = 251 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097280" y="26060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Estratificación binaria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097280" y="297180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IFN-score por paciente clasificado respecto al punto de corte derivado de controles sanos.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126480" y="2331720"/>
            <a:ext cx="2674620" cy="1828800"/>
          </a:xfrm>
          <a:prstGeom prst="roundRect">
            <a:avLst>
              <a:gd fmla="val 6000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400800" y="2606040"/>
            <a:ext cx="21259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34,7 %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00800" y="3611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pacientes IFN-high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983980" y="2331720"/>
            <a:ext cx="2674620" cy="1828800"/>
          </a:xfrm>
          <a:prstGeom prst="roundRect">
            <a:avLst>
              <a:gd fmla="val 6000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9258300" y="2606040"/>
            <a:ext cx="21259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258300" y="3611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pacientes IFN-high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126480" y="4343400"/>
            <a:ext cx="2674620" cy="1828800"/>
          </a:xfrm>
          <a:prstGeom prst="roundRect">
            <a:avLst>
              <a:gd fmla="val 6000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400800" y="4617720"/>
            <a:ext cx="21259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164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400800" y="562356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pacientes IFN-low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983980" y="4343400"/>
            <a:ext cx="2674620" cy="1828800"/>
          </a:xfrm>
          <a:prstGeom prst="roundRect">
            <a:avLst>
              <a:gd fmla="val 6000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9258300" y="4617720"/>
            <a:ext cx="21259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1,264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258300" y="562356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punto de corte (IFN-score)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CLÍNICA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09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IFN-high se asocia con mayor actividad y daño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Mayor proporción de actividad moderada y daño acumulado en pacientes IFN-high.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igs/ilustr13_actividad.png" id="280" name="Google Shape;2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71323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/>
          <p:nvPr/>
        </p:nvSpPr>
        <p:spPr>
          <a:xfrm>
            <a:off x="548640" y="60807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p-adj: SLEDAI-2K = 3,42·10⁻²  ·  SLE-DAS = 3,42·10⁻²  ·  SLICC-DI = 6,58·10⁻³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955280" y="2240280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8138160" y="2331720"/>
            <a:ext cx="822960" cy="699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961120" y="2240280"/>
            <a:ext cx="2514600" cy="882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SLEDAI-2K en IFN-high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955280" y="3287268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138160" y="3378708"/>
            <a:ext cx="822960" cy="699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961120" y="3287268"/>
            <a:ext cx="2514600" cy="882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SLE-DAS en IFN-high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955280" y="4334256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8138160" y="4425696"/>
            <a:ext cx="822960" cy="699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961120" y="4334256"/>
            <a:ext cx="2514600" cy="882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SLICC-DI (daño acumulado)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955280" y="5381244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8138160" y="5472684"/>
            <a:ext cx="822960" cy="699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961120" y="5381244"/>
            <a:ext cx="2514600" cy="882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DORIS (tendencia menor remisión)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CORRELACIONES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10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Coherencia entre transcriptoma y proteoma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El IFN-score refleja la señal proteica circulante y se desacopla del perfil lipídico.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igs/ilustr14_corr.png" id="307" name="Google Shape;3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71323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7955280" y="2240280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8183880" y="2286000"/>
            <a:ext cx="3246120" cy="485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ρ = 0,856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183880" y="2725598"/>
            <a:ext cx="324612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IFN-α sérico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955280" y="3287268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8183880" y="3332988"/>
            <a:ext cx="3246120" cy="485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ρ = 0,196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183880" y="3772586"/>
            <a:ext cx="324612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SLE-DAS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955280" y="4334256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8183880" y="4379976"/>
            <a:ext cx="3246120" cy="485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ρ = 0,182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183880" y="4819574"/>
            <a:ext cx="324612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SLEDAI-2K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955280" y="5381244"/>
            <a:ext cx="3703320" cy="882396"/>
          </a:xfrm>
          <a:prstGeom prst="roundRect">
            <a:avLst>
              <a:gd fmla="val 12435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183880" y="5426964"/>
            <a:ext cx="3246120" cy="485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ρ &lt; 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183880" y="5866562"/>
            <a:ext cx="324612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HDL · Apo A-I (negativa)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ROC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11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IFN-α sérico discrimina IFN-high mejor que los marcadores clásicos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AUC para clasificación IFN-high frente a IFN-low.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igs/ilustr15_roc.png" id="333" name="Google Shape;3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59436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6766560" y="2240280"/>
            <a:ext cx="4937760" cy="4023360"/>
          </a:xfrm>
          <a:prstGeom prst="roundRect">
            <a:avLst>
              <a:gd fmla="val 2727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04088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AUC frente a IFN-high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040880" y="28803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IFN-α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29600" y="2971800"/>
            <a:ext cx="2468880" cy="228600"/>
          </a:xfrm>
          <a:prstGeom prst="rect">
            <a:avLst/>
          </a:prstGeom>
          <a:solidFill>
            <a:srgbClr val="EEEFF2"/>
          </a:solidFill>
          <a:ln cap="flat" cmpd="sng" w="12700">
            <a:solidFill>
              <a:srgbClr val="EEE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8229600" y="2971800"/>
            <a:ext cx="2330623" cy="228600"/>
          </a:xfrm>
          <a:prstGeom prst="rect">
            <a:avLst/>
          </a:prstGeom>
          <a:solidFill>
            <a:srgbClr val="A84B2F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10744200" y="2880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0,944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7040880" y="35204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SLEDAI-2K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229600" y="3611880"/>
            <a:ext cx="2468880" cy="228600"/>
          </a:xfrm>
          <a:prstGeom prst="rect">
            <a:avLst/>
          </a:prstGeom>
          <a:solidFill>
            <a:srgbClr val="EEEFF2"/>
          </a:solidFill>
          <a:ln cap="flat" cmpd="sng" w="12700">
            <a:solidFill>
              <a:srgbClr val="EEE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8229600" y="3611880"/>
            <a:ext cx="1459108" cy="228600"/>
          </a:xfrm>
          <a:prstGeom prst="rect">
            <a:avLst/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10744200" y="35204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0,591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7040880" y="41605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229600" y="4251960"/>
            <a:ext cx="2468880" cy="228600"/>
          </a:xfrm>
          <a:prstGeom prst="rect">
            <a:avLst/>
          </a:prstGeom>
          <a:solidFill>
            <a:srgbClr val="EEEFF2"/>
          </a:solidFill>
          <a:ln cap="flat" cmpd="sng" w="12700">
            <a:solidFill>
              <a:srgbClr val="EEE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8229600" y="4251960"/>
            <a:ext cx="1328257" cy="228600"/>
          </a:xfrm>
          <a:prstGeom prst="rect">
            <a:avLst/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10744200" y="41605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0,538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040880" y="48006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229600" y="4892040"/>
            <a:ext cx="2468880" cy="228600"/>
          </a:xfrm>
          <a:prstGeom prst="rect">
            <a:avLst/>
          </a:prstGeom>
          <a:solidFill>
            <a:srgbClr val="EEEFF2"/>
          </a:solidFill>
          <a:ln cap="flat" cmpd="sng" w="12700">
            <a:solidFill>
              <a:srgbClr val="EEE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8229600" y="4892040"/>
            <a:ext cx="1306038" cy="228600"/>
          </a:xfrm>
          <a:prstGeom prst="rect">
            <a:avLst/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10744200" y="4800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0,529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7040880" y="55321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IFN-α es el biomarcador puente entre el eje transcriptómico y la actividad clínica.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RESULTADOS · MOFA2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12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MOFA2 confirma un eje IFN-I dominante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El Factor 1 captura la mayor parte de la varianza compartida entre ómicas.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48640" y="2240280"/>
            <a:ext cx="3840480" cy="4023360"/>
          </a:xfrm>
          <a:prstGeom prst="roundRect">
            <a:avLst>
              <a:gd fmla="val 2857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822960" y="23774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Factor 1 latente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822960" y="274320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85,06 %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22960" y="3611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varianza explicada en transcriptoma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822960" y="41605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7,71 %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822960" y="5029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varianza explicada en proteoma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22960" y="5532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Mismo factor, dos ómicas: un eje IFN-I integrado.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663440" y="2240280"/>
            <a:ext cx="6979615" cy="4023360"/>
          </a:xfrm>
          <a:prstGeom prst="roundRect">
            <a:avLst>
              <a:gd fmla="val 272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4937760" y="2377440"/>
            <a:ext cx="6430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Pesos en el Factor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937760" y="2788920"/>
            <a:ext cx="312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Peso positivo  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937760" y="315468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F5DCD0"/>
          </a:solidFill>
          <a:ln cap="flat" cmpd="sng" w="12700">
            <a:solidFill>
              <a:srgbClr val="F5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074920" y="319125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ISGs canónicos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074920" y="341071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IFI27 · IFI44 · IFI44L · IFIT1 · RSAD2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937760" y="374904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F5DCD0"/>
          </a:solidFill>
          <a:ln cap="flat" cmpd="sng" w="12700">
            <a:solidFill>
              <a:srgbClr val="F5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5074920" y="378561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5074920" y="400507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citoquina IFN-I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937760" y="434340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F5DCD0"/>
          </a:solidFill>
          <a:ln cap="flat" cmpd="sng" w="12700">
            <a:solidFill>
              <a:srgbClr val="F5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5074920" y="437997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074920" y="459943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IFN tipo II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937760" y="493776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F5DCD0"/>
          </a:solidFill>
          <a:ln cap="flat" cmpd="sng" w="12700">
            <a:solidFill>
              <a:srgbClr val="F5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5074920" y="497433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BAFF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074920" y="519379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supervivencia de células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8244688" y="2788920"/>
            <a:ext cx="3124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Peso negativo  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8244688" y="315468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D6E4E6"/>
          </a:solidFill>
          <a:ln cap="flat" cmpd="sng" w="12700">
            <a:solidFill>
              <a:srgbClr val="D6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8381848" y="319125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HDL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8381848" y="341071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colesterol HDL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8244688" y="374904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D6E4E6"/>
          </a:solidFill>
          <a:ln cap="flat" cmpd="sng" w="12700">
            <a:solidFill>
              <a:srgbClr val="D6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8381848" y="378561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Apo A-I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8381848" y="400507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apolipoproteína A-I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244688" y="434340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D6E4E6"/>
          </a:solidFill>
          <a:ln cap="flat" cmpd="sng" w="12700">
            <a:solidFill>
              <a:srgbClr val="D6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8381848" y="437997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8381848" y="459943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complemento C3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8244688" y="4937760"/>
            <a:ext cx="3124048" cy="502920"/>
          </a:xfrm>
          <a:prstGeom prst="roundRect">
            <a:avLst>
              <a:gd fmla="val 14545" name="adj"/>
            </a:avLst>
          </a:prstGeom>
          <a:solidFill>
            <a:srgbClr val="D6E4E6"/>
          </a:solidFill>
          <a:ln cap="flat" cmpd="sng" w="12700">
            <a:solidFill>
              <a:srgbClr val="D6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8381848" y="4974336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381848" y="5193792"/>
            <a:ext cx="2849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complemento C4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ARQUITECTURA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13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DIABLO: integración supervisada para 5 desenlaces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Dos bloques ómicos, cinco modelos paralelos, cinco lecturas clínicas.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731520" y="2743200"/>
            <a:ext cx="2377440" cy="1097280"/>
          </a:xfrm>
          <a:prstGeom prst="roundRect">
            <a:avLst>
              <a:gd fmla="val 8333" name="adj"/>
            </a:avLst>
          </a:prstGeom>
          <a:solidFill>
            <a:srgbClr val="C7DCDF"/>
          </a:solidFill>
          <a:ln cap="flat" cmpd="sng" w="12700">
            <a:solidFill>
              <a:srgbClr val="C7DC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731520" y="2834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72 ISGs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731520" y="4206240"/>
            <a:ext cx="2377440" cy="1097280"/>
          </a:xfrm>
          <a:prstGeom prst="roundRect">
            <a:avLst>
              <a:gd fmla="val 8333" name="adj"/>
            </a:avLst>
          </a:prstGeom>
          <a:solidFill>
            <a:srgbClr val="E8DCD2"/>
          </a:solidFill>
          <a:ln cap="flat" cmpd="sng" w="12700">
            <a:solidFill>
              <a:srgbClr val="E8DC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731520" y="4297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Proteoma sérico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73152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18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206240" y="3474720"/>
            <a:ext cx="2377440" cy="1097280"/>
          </a:xfrm>
          <a:prstGeom prst="roundRect">
            <a:avLst>
              <a:gd fmla="val 8333" name="adj"/>
            </a:avLst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206240" y="35661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DIABLO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206240" y="40233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modelos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13"/>
          <p:cNvCxnSpPr/>
          <p:nvPr/>
        </p:nvCxnSpPr>
        <p:spPr>
          <a:xfrm>
            <a:off x="3108960" y="3291840"/>
            <a:ext cx="1097280" cy="731520"/>
          </a:xfrm>
          <a:prstGeom prst="straightConnector1">
            <a:avLst/>
          </a:prstGeom>
          <a:noFill/>
          <a:ln cap="flat" cmpd="sng" w="1905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4" name="Google Shape;424;p13"/>
          <p:cNvCxnSpPr/>
          <p:nvPr/>
        </p:nvCxnSpPr>
        <p:spPr>
          <a:xfrm flipH="1" rot="10800000">
            <a:off x="3108960" y="4023360"/>
            <a:ext cx="1097280" cy="731520"/>
          </a:xfrm>
          <a:prstGeom prst="straightConnector1">
            <a:avLst/>
          </a:prstGeom>
          <a:noFill/>
          <a:ln cap="flat" cmpd="sng" w="1905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5" name="Google Shape;425;p13"/>
          <p:cNvSpPr/>
          <p:nvPr/>
        </p:nvSpPr>
        <p:spPr>
          <a:xfrm>
            <a:off x="7315200" y="2226564"/>
            <a:ext cx="4297680" cy="594360"/>
          </a:xfrm>
          <a:prstGeom prst="roundRect">
            <a:avLst>
              <a:gd fmla="val 12308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7543800" y="2226564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SLEDAI-2K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3"/>
          <p:cNvCxnSpPr/>
          <p:nvPr/>
        </p:nvCxnSpPr>
        <p:spPr>
          <a:xfrm flipH="1" rot="10800000">
            <a:off x="6583680" y="2523744"/>
            <a:ext cx="731520" cy="1499616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13"/>
          <p:cNvSpPr/>
          <p:nvPr/>
        </p:nvSpPr>
        <p:spPr>
          <a:xfrm>
            <a:off x="7315200" y="2930652"/>
            <a:ext cx="4297680" cy="594360"/>
          </a:xfrm>
          <a:prstGeom prst="roundRect">
            <a:avLst>
              <a:gd fmla="val 12308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7543800" y="293065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SLE-DAS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3"/>
          <p:cNvCxnSpPr/>
          <p:nvPr/>
        </p:nvCxnSpPr>
        <p:spPr>
          <a:xfrm flipH="1" rot="10800000">
            <a:off x="6583680" y="3227832"/>
            <a:ext cx="731520" cy="795528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1" name="Google Shape;431;p13"/>
          <p:cNvSpPr/>
          <p:nvPr/>
        </p:nvSpPr>
        <p:spPr>
          <a:xfrm>
            <a:off x="7315200" y="3634740"/>
            <a:ext cx="4297680" cy="594360"/>
          </a:xfrm>
          <a:prstGeom prst="roundRect">
            <a:avLst>
              <a:gd fmla="val 12308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7543800" y="363474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SLICC-SDI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13"/>
          <p:cNvCxnSpPr/>
          <p:nvPr/>
        </p:nvCxnSpPr>
        <p:spPr>
          <a:xfrm flipH="1" rot="10800000">
            <a:off x="6583680" y="3931920"/>
            <a:ext cx="731520" cy="91440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3"/>
          <p:cNvSpPr/>
          <p:nvPr/>
        </p:nvSpPr>
        <p:spPr>
          <a:xfrm>
            <a:off x="7315200" y="4338828"/>
            <a:ext cx="4297680" cy="594360"/>
          </a:xfrm>
          <a:prstGeom prst="roundRect">
            <a:avLst>
              <a:gd fmla="val 12308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7543800" y="433882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DORIS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13"/>
          <p:cNvCxnSpPr/>
          <p:nvPr/>
        </p:nvCxnSpPr>
        <p:spPr>
          <a:xfrm>
            <a:off x="6583680" y="4023360"/>
            <a:ext cx="731520" cy="612648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p13"/>
          <p:cNvSpPr/>
          <p:nvPr/>
        </p:nvSpPr>
        <p:spPr>
          <a:xfrm>
            <a:off x="7315200" y="5042916"/>
            <a:ext cx="4297680" cy="594360"/>
          </a:xfrm>
          <a:prstGeom prst="roundRect">
            <a:avLst>
              <a:gd fmla="val 12308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7543800" y="50429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Remisión estricta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3"/>
          <p:cNvCxnSpPr/>
          <p:nvPr/>
        </p:nvCxnSpPr>
        <p:spPr>
          <a:xfrm>
            <a:off x="6583680" y="4023360"/>
            <a:ext cx="731520" cy="1316736"/>
          </a:xfrm>
          <a:prstGeom prst="straightConnector1">
            <a:avLst/>
          </a:prstGeom>
          <a:noFill/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13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5 desenlaces clínicos · misma arquitectura, distinta interpretación.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14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 en actividad clínica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Mismo eje IFN transcriptómico, distinta especificidad sérica entre índices.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48640" y="2240280"/>
            <a:ext cx="5486400" cy="3566160"/>
          </a:xfrm>
          <a:prstGeom prst="roundRect">
            <a:avLst>
              <a:gd fmla="val 307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822960" y="2468880"/>
            <a:ext cx="164592" cy="320040"/>
          </a:xfrm>
          <a:prstGeom prst="rect">
            <a:avLst/>
          </a:prstGeom>
          <a:solidFill>
            <a:srgbClr val="0F6B78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1051560" y="24231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SLEDAI-2K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822960" y="3017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822960" y="32918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(eje IFN)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822960" y="42062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C3 · C4 (complemento)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822960" y="4937760"/>
            <a:ext cx="4937760" cy="18288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822960" y="50749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clínica clásica asociada al consumo de complemento.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6400800" y="2240280"/>
            <a:ext cx="5486400" cy="3566160"/>
          </a:xfrm>
          <a:prstGeom prst="roundRect">
            <a:avLst>
              <a:gd fmla="val 307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675120" y="2468880"/>
            <a:ext cx="164592" cy="320040"/>
          </a:xfrm>
          <a:prstGeom prst="rect">
            <a:avLst/>
          </a:prstGeom>
          <a:solidFill>
            <a:srgbClr val="A84B2F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903720" y="24231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SLE-DAS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6675120" y="3017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6675120" y="32918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(eje IFN)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6675120" y="3931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675120" y="42062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Apo A-I · HDL (perfil lipídico)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6675120" y="4937760"/>
            <a:ext cx="4937760" cy="18288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6675120" y="50749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clínica más sensible captura la huella metabólica.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DAÑO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15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 en daño acumulado: SLICC-SDI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El proteoma desplaza la lectura hacia daño renal y acumulado.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48640" y="2331720"/>
            <a:ext cx="6858000" cy="3931920"/>
          </a:xfrm>
          <a:prstGeom prst="roundRect">
            <a:avLst>
              <a:gd fmla="val 2791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68680" y="2606040"/>
            <a:ext cx="182880" cy="365760"/>
          </a:xfrm>
          <a:prstGeom prst="rect">
            <a:avLst/>
          </a:prstGeom>
          <a:solidFill>
            <a:srgbClr val="A84B2F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1097280" y="25603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SLICC-SDI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914400" y="32461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914400" y="352044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— eje IFN estable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914400" y="448056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 +  creatinina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914400" y="5166360"/>
            <a:ext cx="6126480" cy="18288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914400" y="530352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Lectura compatible con daño renal y daño acumulado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914400" y="566928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La firma transcriptómica permanece anclada en el eje IFN; el proteoma aporta especificidad orgánica al desenlace.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7680960" y="2331720"/>
            <a:ext cx="3962095" cy="3931920"/>
          </a:xfrm>
          <a:prstGeom prst="roundRect">
            <a:avLst>
              <a:gd fmla="val 2791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7955280" y="2606040"/>
            <a:ext cx="34134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7955280" y="3108960"/>
            <a:ext cx="3413455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Eje IFN transcriptómico se mantiene constante entre desenlaces.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El proteoma diferencia daño respecto a actividad pura.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La creatinina añade dimensión renal al modelo de daño.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REMISIÓN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16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 en remisión: DORIS y remisión estricta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En remisión, el peso transcriptómico cede protagonismo al proteoma.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548640" y="2240280"/>
            <a:ext cx="5486400" cy="3566160"/>
          </a:xfrm>
          <a:prstGeom prst="roundRect">
            <a:avLst>
              <a:gd fmla="val 307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822960" y="2468880"/>
            <a:ext cx="164592" cy="320040"/>
          </a:xfrm>
          <a:prstGeom prst="rect">
            <a:avLst/>
          </a:prstGeom>
          <a:solidFill>
            <a:srgbClr val="0F6B78"/>
          </a:solidFill>
          <a:ln cap="flat" cmpd="sng" w="12700">
            <a:solidFill>
              <a:srgbClr val="0F6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1051560" y="24231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DORIS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822960" y="3017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822960" y="32918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(firma reducida)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822960" y="42062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 +  BAFF  +  señal inflamatoria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822960" y="4937760"/>
            <a:ext cx="4937760" cy="18288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822960" y="50749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Captura la persistencia de actividad inmunológica residual.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400800" y="2240280"/>
            <a:ext cx="5486400" cy="3566160"/>
          </a:xfrm>
          <a:prstGeom prst="roundRect">
            <a:avLst>
              <a:gd fmla="val 307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6675120" y="2468880"/>
            <a:ext cx="164592" cy="320040"/>
          </a:xfrm>
          <a:prstGeom prst="rect">
            <a:avLst/>
          </a:prstGeom>
          <a:solidFill>
            <a:srgbClr val="A84B2F"/>
          </a:solidFill>
          <a:ln cap="flat" cmpd="sng" w="12700">
            <a:solidFill>
              <a:srgbClr val="A84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6903720" y="24231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Remisión estricta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6675120" y="3017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675120" y="32918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(firma reducida)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6675120" y="3931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6675120" y="42062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 +  BAFF  +  C3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6675120" y="4937760"/>
            <a:ext cx="4937760" cy="18288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6675120" y="50749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Menor separabilidad clínica; señal multi-ómica más sutil.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SÍNTESIS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17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Matriz resumen por desenlace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Transcriptoma dominado por el eje IFN; el proteoma aporta la especificidad clínica.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548640" y="2240280"/>
            <a:ext cx="11094415" cy="402336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777240" y="2423160"/>
            <a:ext cx="10637215" cy="594360"/>
          </a:xfrm>
          <a:prstGeom prst="rect">
            <a:avLst/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822960" y="24688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DESENLACE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2743200" y="2468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TRANSCRIPTOMA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12064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PROTEOMA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7680960" y="2468880"/>
            <a:ext cx="3687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822960" y="3044952"/>
            <a:ext cx="10545775" cy="41148"/>
          </a:xfrm>
          <a:prstGeom prst="rect">
            <a:avLst/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868680" y="3108960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SLEDAI-2K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2788920" y="3108960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· eje IFN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5166360" y="310896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C3 · C4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7726680" y="3108960"/>
            <a:ext cx="359633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clásica con consumo de complemento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777240" y="3712464"/>
            <a:ext cx="10637215" cy="603504"/>
          </a:xfrm>
          <a:prstGeom prst="rect">
            <a:avLst/>
          </a:prstGeom>
          <a:solidFill>
            <a:srgbClr val="F2F3F5"/>
          </a:solidFill>
          <a:ln cap="flat" cmpd="sng" w="12700">
            <a:solidFill>
              <a:srgbClr val="F2F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868680" y="3712464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SLE-DAS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2788920" y="3712464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· eje IFN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5166360" y="3712464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Apo A-I · HDL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7726680" y="3712464"/>
            <a:ext cx="359633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con huella metabólica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868680" y="4315968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SLICC-SDI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2788920" y="4315968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· eje IFN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5166360" y="4315968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· creatinina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7726680" y="4315968"/>
            <a:ext cx="359633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Daño acumulado con señal renal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777240" y="4919472"/>
            <a:ext cx="10637215" cy="603504"/>
          </a:xfrm>
          <a:prstGeom prst="rect">
            <a:avLst/>
          </a:prstGeom>
          <a:solidFill>
            <a:srgbClr val="F2F3F5"/>
          </a:solidFill>
          <a:ln cap="flat" cmpd="sng" w="12700">
            <a:solidFill>
              <a:srgbClr val="F2F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868680" y="4919472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DORIS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2788920" y="4919472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· firma reducida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5166360" y="4919472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· BAFF · inflamación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7726680" y="4919472"/>
            <a:ext cx="359633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Actividad inmunológica residual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868680" y="5522976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Remisión estricta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2788920" y="552297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ISGs · firma reducida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5166360" y="5522976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IFN-α · BAFF · C3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7726680" y="5522976"/>
            <a:ext cx="359633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Señal multi-ómica más sutil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DIABLO · RENDIMIENTO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18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DIABLO interpreta mejor de lo que predice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Rendimientos discriminativos modestos; el valor está en la lectura biológica.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548640" y="2240280"/>
            <a:ext cx="4937760" cy="4023360"/>
          </a:xfrm>
          <a:prstGeom prst="roundRect">
            <a:avLst>
              <a:gd fmla="val 272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82296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Rendimiento global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822960" y="28346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822960" y="310896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0,398 – 0,452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822960" y="3794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Balanced Error Rate por desenlace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822960" y="42976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AUROC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822960" y="457200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0,55 – 0,69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822960" y="52578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ningún modelo alcanza AUROC ≥ 0,70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5669280" y="2240280"/>
            <a:ext cx="5973775" cy="4023360"/>
          </a:xfrm>
          <a:prstGeom prst="roundRect">
            <a:avLst>
              <a:gd fmla="val 2727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6035040" y="2423160"/>
            <a:ext cx="52422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Valor principal de DIABLO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6035040" y="2880360"/>
            <a:ext cx="52422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Interpretación biológica integrada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6035040" y="3611880"/>
            <a:ext cx="52422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Revela qué bloque ómico domina cada desenlace.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Identifica firmas multi-ómicas reproducibles entre modelos.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No sustituye un biomarcador único: contextualiza el eje IFN.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Marco interpretativo más que herramienta predictiva.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LASSO · LIMITACIONES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19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LASSO exploratorio y limitaciones del estudio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Selección de variables candidatas, sin validación clínica definitiva.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548640" y="2240280"/>
            <a:ext cx="4937760" cy="4023360"/>
          </a:xfrm>
          <a:prstGeom prst="roundRect">
            <a:avLst>
              <a:gd fmla="val 2727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82296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LASSO penalizado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822960" y="283464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0,554 – 0,663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822960" y="3703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AUC validación cruzada (por desenlace)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822960" y="4251960"/>
            <a:ext cx="43891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Selección de variables candidatas asociadas a actividad.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Rendimiento discriminativo limitado en todos los desenlaces.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Clr>
                <a:srgbClr val="2E31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No constituye una validación clínica definitiva.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5669280" y="2240280"/>
            <a:ext cx="5973775" cy="4023360"/>
          </a:xfrm>
          <a:prstGeom prst="roundRect">
            <a:avLst>
              <a:gd fmla="val 2727" name="adj"/>
            </a:avLst>
          </a:prstGeom>
          <a:solidFill>
            <a:srgbClr val="EEF0F4"/>
          </a:solidFill>
          <a:ln cap="flat" cmpd="sng" w="12700">
            <a:solidFill>
              <a:srgbClr val="EE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5943600" y="2377440"/>
            <a:ext cx="5425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5943600" y="2834640"/>
            <a:ext cx="5425135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Cohorte mayoritariamente con baja actividad clínica.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Desenlaces clínicos complejos y multifactoriales.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Datos séricos faltantes en parte de las variables.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E313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Validación externa en cohorte independiente pendiente.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10911535" y="3200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20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548640" y="658368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548640" y="1691640"/>
            <a:ext cx="5532120" cy="1417320"/>
          </a:xfrm>
          <a:prstGeom prst="roundRect">
            <a:avLst>
              <a:gd fmla="val 7742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0"/>
          <p:cNvSpPr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IFN-score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868680" y="2221992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Eje IFN-I aumentado y validado de forma robusta en la cohorte 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6281928" y="1691640"/>
            <a:ext cx="5532120" cy="1417320"/>
          </a:xfrm>
          <a:prstGeom prst="roundRect">
            <a:avLst>
              <a:gd fmla="val 7742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0"/>
          <p:cNvSpPr/>
          <p:nvPr/>
        </p:nvSpPr>
        <p:spPr>
          <a:xfrm>
            <a:off x="6601968" y="182880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Endotipo IFN-high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6601968" y="2221992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Identifica un fenotipo más desfavorable: mayor actividad y mayor daño.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548640" y="3310128"/>
            <a:ext cx="5532120" cy="1417320"/>
          </a:xfrm>
          <a:prstGeom prst="roundRect">
            <a:avLst>
              <a:gd fmla="val 7742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868680" y="344728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MOFA2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868680" y="384048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Confirma una estructura latente dominante de IFN compartida entre ómicas.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6281928" y="3310128"/>
            <a:ext cx="5532120" cy="1417320"/>
          </a:xfrm>
          <a:prstGeom prst="roundRect">
            <a:avLst>
              <a:gd fmla="val 7742" name="adj"/>
            </a:avLst>
          </a:prstGeom>
          <a:solidFill>
            <a:srgbClr val="E7E9EE"/>
          </a:solidFill>
          <a:ln cap="flat" cmpd="sng" w="12700">
            <a:solidFill>
              <a:srgbClr val="E7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0"/>
          <p:cNvSpPr/>
          <p:nvPr/>
        </p:nvSpPr>
        <p:spPr>
          <a:xfrm>
            <a:off x="6601968" y="344728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B7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F6B78"/>
                </a:solidFill>
                <a:latin typeface="Calibri"/>
                <a:ea typeface="Calibri"/>
                <a:cs typeface="Calibri"/>
                <a:sym typeface="Calibri"/>
              </a:rPr>
              <a:t>DIABLO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6601968" y="384048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1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3138"/>
                </a:solidFill>
                <a:latin typeface="Calibri"/>
                <a:ea typeface="Calibri"/>
                <a:cs typeface="Calibri"/>
                <a:sym typeface="Calibri"/>
              </a:rPr>
              <a:t>Revela especificidad por desenlace y aporta interpretación clínica integrada.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fmla="val 11765" name="adj"/>
            </a:avLst>
          </a:prstGeom>
          <a:solidFill>
            <a:srgbClr val="2E3138"/>
          </a:solidFill>
          <a:ln cap="flat" cmpd="sng" w="12700">
            <a:solidFill>
              <a:srgbClr val="2E3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0"/>
          <p:cNvSpPr/>
          <p:nvPr/>
        </p:nvSpPr>
        <p:spPr>
          <a:xfrm>
            <a:off x="548640" y="498348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IFN-score al endotipo multi-ómico.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D7D9DD"/>
          </a:solidFill>
          <a:ln cap="flat" cmpd="sng" w="127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Fuensanta Gómez Bernal · TFM Bioinformática y Bioestadística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07A"/>
                </a:solidFill>
                <a:latin typeface="Calibri"/>
                <a:ea typeface="Calibri"/>
                <a:cs typeface="Calibri"/>
                <a:sym typeface="Calibri"/>
              </a:rPr>
              <a:t>Integración multi-ómica · IFN-I · 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2026-05-26T12:09:30Z</dcterms:created>
  <dc:creator>Fuensanta Gómez Bernal</dc:creator>
</cp:coreProperties>
</file>