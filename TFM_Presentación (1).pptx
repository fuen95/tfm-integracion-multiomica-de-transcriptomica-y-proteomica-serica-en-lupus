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7uvINjNF5ypPxZDJOmheIPX0f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600"/>
              </a:spcBef>
              <a:spcAft>
                <a:spcPts val="0"/>
              </a:spcAft>
              <a:buSzPts val="1100"/>
              <a:buNone/>
            </a:pPr>
            <a:r>
              <a:rPr lang="en-US" sz="1000">
                <a:solidFill>
                  <a:srgbClr val="27251E"/>
                </a:solidFill>
              </a:rPr>
              <a:t>Diapositiva 1. Portada</a:t>
            </a:r>
            <a:endParaRPr sz="1000">
              <a:solidFill>
                <a:srgbClr val="27251E"/>
              </a:solidFill>
            </a:endParaRPr>
          </a:p>
          <a:p>
            <a:pPr indent="0" lvl="0" marL="0" rtl="0" algn="just">
              <a:lnSpc>
                <a:spcPct val="100000"/>
              </a:lnSpc>
              <a:spcBef>
                <a:spcPts val="600"/>
              </a:spcBef>
              <a:spcAft>
                <a:spcPts val="0"/>
              </a:spcAft>
              <a:buClr>
                <a:schemeClr val="dk1"/>
              </a:buClr>
              <a:buSzPts val="1100"/>
              <a:buFont typeface="Arial"/>
              <a:buNone/>
            </a:pPr>
            <a:r>
              <a:rPr lang="en-US" sz="1000">
                <a:solidFill>
                  <a:srgbClr val="27251E"/>
                </a:solidFill>
              </a:rPr>
              <a:t>Buenos días. Mi Trabajo Fin de Máster se titula “Integración multi-ómica de la firma de interferón tipo I y biomarcadores séricos en lupus eritematoso sistémico”. El objetivo general del estudio es analizar si la combinación de información transcriptómica y proteómica puede ayudar a caracterizar mejor la actividad clínica, el daño acumulado y la remisión en pacientes con LES.</a:t>
            </a:r>
            <a:endParaRPr sz="1000">
              <a:solidFill>
                <a:srgbClr val="27251E"/>
              </a:solidFill>
            </a:endParaRPr>
          </a:p>
          <a:p>
            <a:pPr indent="0" lvl="0" marL="0" rtl="0" algn="just">
              <a:lnSpc>
                <a:spcPct val="100000"/>
              </a:lnSpc>
              <a:spcBef>
                <a:spcPts val="1200"/>
              </a:spcBef>
              <a:spcAft>
                <a:spcPts val="600"/>
              </a:spcAft>
              <a:buSzPts val="1100"/>
              <a:buNone/>
            </a:pPr>
            <a:r>
              <a:rPr lang="en-US" sz="1000">
                <a:solidFill>
                  <a:srgbClr val="27251E"/>
                </a:solidFill>
              </a:rPr>
              <a:t>La idea central de la presentación es pasar de un marcador molecular clásico, el IFN-tipo I, hacia una interpretación más integrada del fenotipo clínico. Es decir, no solo preguntarnos si la vía del interferón está activada, sino cómo se relaciona con proteínas séricas, índices clínicos y distintos desenlaces de la enfermedad.</a:t>
            </a:r>
            <a:endParaRPr sz="1000"/>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2. El problema clínico: LES heterogéneo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El lupus eritematoso sistémico es una enfermedad autoinmune muy heterogénea. Esa heterogeneidad aparece en varios niveles: en la clínica, porque los pacientes pueden presentar manifestaciones muy distintas; en la evolución, porque la actividad fluctúa con el tiempo; es una enfermedad crónica que produce un daño acumulado, porque no todos los pacientes progresan igual; y también a nivel molecular.</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Esto hace que los índices de actividad validados (SLEDAI-2K, SLE-DAS) y las definiciones de remisión (LLDAS, DORIS), basados principalmente en parámetros clínicos y analíticos convencionales, resultan insuficientes para capturar la diversidad molecular subyacente. Por eso, en este trabajo se plantea que integrar biomarcadores moleculares puede aportar una lectura complementaria de la actividad y de los desenlaces clínicos.</a:t>
            </a:r>
            <a:endParaRPr sz="1000"/>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3. El eje IFN-I como hipótesis biológica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Dentro de esta heterogeneidad, una de las vías más relevantes en LES es la vía del interferón tipo I, con la activación sostenida de esta vía (IFN-alpha) y la sobreexpresión de genes estimulados por interferón (ISGs), que configuran la firma de interferón. Esa activación transcriptómica no ocurre de forma aislada, sino que se acompaña de alteraciones en el proteoma sérico, incluyendo citoquinas, complemento y otros marcadores inflamatorios y metabólicos, que en conjunto pueden contribuir a definir distintos fenotipos clínicos de actividad, daño o remisión.</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Por eso, la pregunta que guía este TFM es cómo se relacionan entre sí la capa transcriptómica y la proteómica sérica, y hasta qué punto su integración mejora la comprensión de la actividad clínica del LES medida mediante índices validados como SLEDAI-2K, SLE-DAS, LLDAS y DORIS. Para responderla, no me limité a estudiar asociaciones aisladas, sino que apliqué un enfoque multi-ómico: MOFA2 como método no supervisado para identificar factores latentes compartidos, DIABLO como método supervisado para seleccionar firmas discriminativas entre capas, y finalmente LASSO para construir modelos predictivos parsimoniosos</a:t>
            </a:r>
            <a:endParaRPr sz="1000"/>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4. Cohorte y selección de participantes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De los 400 candidatos iniciales, se excluyeron 87 por no cumplir los criterios ACR, consentimiento incompleto, tratamiento con anifrolumab —que modifica la firma de interferón directamente— o muestras séricas inadecuadas y 61 por no tener datos transcriptómicos. Esto nos dejó 252 pacientes para los análisis clínicos y multi-ómicos.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Tras el control de calidad de los datos transcriptómicos se excluyó una muestra, por lo que el análisis final de expresión génica se realizó en 251 pacientes con LES y 24 controles. </a:t>
            </a:r>
            <a:r>
              <a:rPr lang="en-US" sz="1000"/>
              <a:t>Los controles se utilizaron como referencia basal para calcular el IFN-score, mientras que los análisis clínicos y multi-ómicos se realizaron sobre los pacientes con LES.</a:t>
            </a:r>
            <a:endParaRPr sz="1000"/>
          </a:p>
        </p:txBody>
      </p:sp>
      <p:sp>
        <p:nvSpPr>
          <p:cNvPr id="92" name="Google Shape;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5. Arquitectura analítica del estudio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Esta diapositiva muestra la arquitectura analítica completa del estudio, es decir, el camino que seguimos desde los datos brutos hasta los modelos finales.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Partimos de tres fuentes. La primera son los 72 ISGs, cuantificados mediante NanoString nCounter —una plataforma de hibridación directa multiplexada sin amplificación, robusta y reproducible—. Antes de usarlos, los datos pasaron por un pipeline de control de calidad, normalización técnica con controles positivos, y normalización biológica con 5 genes housekeeping. Solo tras superar ese proceso se calculó el IFN-score. La segunda fuente es el proteoma sérico: IFN-α, IFN-γ, BAFF, complemento y lípidos. Y la tercera son los índices clínicos validados: SLEDAI-2K, SLE-DAS, SLICC-DI, LLDAS y DORIS.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Con esos datos, el primer bloque del análisis consistió en construir el IFN-score, clasificar a los pacientes en IFN-high e IFN-low, y explorar las asociaciones de esa clasificación con la actividad clínica y los biomarcadores séricos.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El segundo bloque fue la integración multi-ómica en dos vertientes: MOFA2, no supervisada, para identificar factores latentes compartidos entre capas sin presuponer ningún fenotipo; y DIABLO, supervisada, para maximizar la covarianza entre transcriptómica y proteómica condicionada a los índices clínicos.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Todo converge en un modelo predictivo LASSO con validación cruzada, cuyo rendimiento evaluamos por AUC y comparamos frente a biomarcadores individuales clásicos como IFN-α sérico, C3 y C4.</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las próximas diapositivas veremos los resultados de cada uno de estos bloques, empezando por el IFN-score.</a:t>
            </a:r>
            <a:endParaRPr sz="1000"/>
          </a:p>
          <a:p>
            <a:pPr indent="0" lvl="0" marL="0" rtl="0" algn="just">
              <a:spcBef>
                <a:spcPts val="0"/>
              </a:spcBef>
              <a:spcAft>
                <a:spcPts val="0"/>
              </a:spcAft>
              <a:buNone/>
            </a:pPr>
            <a:r>
              <a:t/>
            </a:r>
            <a:endParaRPr sz="1000"/>
          </a:p>
        </p:txBody>
      </p:sp>
      <p:sp>
        <p:nvSpPr>
          <p:cNvPr id="147" name="Google Shape;1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6. IFN-score aumentado en LES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El primer resultado del trabajo confirma la hipótesis de partida: el IFN-score está significativamente elevado en los pacientes con LES en comparación con los controles sanos.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el boxplot podéis ver la distribución del IFN-score, calculado como la mediana de la expresión relativa de los 72 ISGs respecto a los controles. Los pacientes con LES tienen una mediana de 0,782 en escala log2, frente a 0,006 en controles —es decir, prácticamente cero activación basal—. La diferencia es estadísticamente significativa con p = 1,05×10⁻⁴ por el test de Wilcoxon, aunque el tamaño del efecto es pequeño (r = 0,23), lo que refleja la gran heterogeneidad del LES: algunos pacientes tienen scores muy bajos, similares a controles, mientras que otros superan ampliamente el corte de 1,26.</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Precisamente esa línea discontinua roja a 1,26 marca el punto de corte que usamos para clasificar a los pacientes en IFN-high e IFN-low, establecido como la mediana más 2 desviaciones estándar del grupo control. Esta clasificación binaria es el eje sobre el que se construyen todos los análisis posteriores.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Este resultado es importante porque valida en esta cohorte la presencia de activación de la vía IFN-I a nivel transcriptómico. Además, establece la base para utilizar el IFN-score como variable molecular central en el resto del análisis.</a:t>
            </a:r>
            <a:endParaRPr sz="1000"/>
          </a:p>
          <a:p>
            <a:pPr indent="0" lvl="0" marL="0" rtl="0" algn="just">
              <a:spcBef>
                <a:spcPts val="0"/>
              </a:spcBef>
              <a:spcAft>
                <a:spcPts val="0"/>
              </a:spcAft>
              <a:buNone/>
            </a:pPr>
            <a:r>
              <a:t/>
            </a:r>
            <a:endParaRPr sz="1000"/>
          </a:p>
        </p:txBody>
      </p:sp>
      <p:sp>
        <p:nvSpPr>
          <p:cNvPr id="190" name="Google Shape;19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7. Validación del score de 72 ISGs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None/>
            </a:pPr>
            <a:r>
              <a:rPr lang="en-US" sz="1000"/>
              <a:t>Una vez construido el IFN-score de 72 ISGs, quisimos comprobar que realmente capturaba la misma señal biológica que el score clásico de interferón descrito en la literatura, basado en 4 genes.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En la gráfica de la izquierda se observa que la correlación entre ambos scores es prácticamente perfecta, con una rho de Spearman de 0,972 y una p extremadamente significativa. Es decir, cuando aumenta el score clásico, también aumenta de forma muy consistente el score ampliado de 72 genes.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Además, no solo coincide la variable continua. Cuando transformamos ambos scores en una clasificación dicotómica IFN-high frente a IFN-low, la concordancia también fue alta, con un kappa de Cohen de 0,779, lo que se interpreta como una concordancia sustancial.</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Por tanto, el score de 72 ISGs no redefine un fenómeno distinto, sino que valida y amplía la señal biológica del score clásico, con la ventaja de ofrecer una visión transcriptómica más completa y potencialmente más informativa para los análisis posteriores.</a:t>
            </a:r>
            <a:endParaRPr sz="1000"/>
          </a:p>
          <a:p>
            <a:pPr indent="0" lvl="0" marL="0" rtl="0" algn="just">
              <a:spcBef>
                <a:spcPts val="0"/>
              </a:spcBef>
              <a:spcAft>
                <a:spcPts val="0"/>
              </a:spcAft>
              <a:buNone/>
            </a:pPr>
            <a:r>
              <a:t/>
            </a:r>
            <a:endParaRPr sz="1000"/>
          </a:p>
          <a:p>
            <a:pPr indent="0" lvl="0" marL="0" rtl="0" algn="just">
              <a:spcBef>
                <a:spcPts val="0"/>
              </a:spcBef>
              <a:spcAft>
                <a:spcPts val="0"/>
              </a:spcAft>
              <a:buClr>
                <a:schemeClr val="dk1"/>
              </a:buClr>
              <a:buSzPts val="1100"/>
              <a:buFont typeface="Arial"/>
              <a:buNone/>
            </a:pPr>
            <a:r>
              <a:rPr lang="en-US" sz="1000"/>
              <a:t>A partir del IFN-score se clasificó a los pacientes en dos subgrupos. El punto de corte se definió como la media más dos desviaciones estándar del IFN-score en controles sanos, y fue de 1,264 unidades logarítmicas.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Con este criterio, 87 pacientes, es decir el 34,7%, fueron clasificados como IFN-high, mientras que 164 pacientes, el 65,3%, fueron IFN-low. Esta estratificación permite pasar de una medida continua de activación molecular a un endotipo clínico-biológico que puede compararse con variables clínicas y séricas.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Esta clasificación binaria es la que utilizamos a continuación para estudiar su asociación con actividad clínica, remisión y biomarcadores séricos.</a:t>
            </a:r>
            <a:endParaRPr sz="1000"/>
          </a:p>
        </p:txBody>
      </p:sp>
      <p:sp>
        <p:nvSpPr>
          <p:cNvPr id="214" name="Google Shape;21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e5a2eb6d59_1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e5a2eb6d59_1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8. IFN-high se asocia a activación transcriptómica coordinada</a:t>
            </a:r>
            <a:endParaRPr sz="1000"/>
          </a:p>
          <a:p>
            <a:pPr indent="0" lvl="0" marL="0" rtl="0" algn="just">
              <a:spcBef>
                <a:spcPts val="0"/>
              </a:spcBef>
              <a:spcAft>
                <a:spcPts val="0"/>
              </a:spcAft>
              <a:buSzPts val="1100"/>
              <a:buNone/>
            </a:pPr>
            <a:r>
              <a:t/>
            </a:r>
            <a:endParaRPr sz="1000"/>
          </a:p>
          <a:p>
            <a:pPr indent="0" lvl="0" marL="0" rtl="0" algn="just">
              <a:spcBef>
                <a:spcPts val="0"/>
              </a:spcBef>
              <a:spcAft>
                <a:spcPts val="0"/>
              </a:spcAft>
              <a:buSzPts val="1100"/>
              <a:buNone/>
            </a:pPr>
            <a:r>
              <a:rPr lang="en-US" sz="1000"/>
              <a:t>Una vez definida la clasificación IFN-high e IFN-low, quisimos comprobar si estos grupos reflejaban realmente una diferencia transcriptómica amplia. Para ello se realizó un análisis de expresión diferencial gen a gen sobre los 72 ISGs, comparando ambos subgrupos mediante Wilcoxon-Mann-Whitney y corrección de Benjamini-Hochberg.”</a:t>
            </a:r>
            <a:endParaRPr sz="1000"/>
          </a:p>
          <a:p>
            <a:pPr indent="0" lvl="0" marL="0" rtl="0" algn="just">
              <a:spcBef>
                <a:spcPts val="0"/>
              </a:spcBef>
              <a:spcAft>
                <a:spcPts val="0"/>
              </a:spcAft>
              <a:buSzPts val="1100"/>
              <a:buNone/>
            </a:pPr>
            <a:r>
              <a:t/>
            </a:r>
            <a:endParaRPr sz="1000"/>
          </a:p>
          <a:p>
            <a:pPr indent="0" lvl="0" marL="0" rtl="0" algn="just">
              <a:spcBef>
                <a:spcPts val="0"/>
              </a:spcBef>
              <a:spcAft>
                <a:spcPts val="0"/>
              </a:spcAft>
              <a:buSzPts val="1100"/>
              <a:buNone/>
            </a:pPr>
            <a:r>
              <a:rPr lang="en-US" sz="1000"/>
              <a:t>El resultado fue muy claro: 65 de los 72 genes, es decir el 90,3% del panel, mostraron expresión diferencial significativa, y todos ellos estaban sobreexpresados en el grupo IFN-high. No hubo genes con sobreexpresión neta en IFN-low, lo que confirma una respuesta muy asimétrica.”</a:t>
            </a:r>
            <a:endParaRPr sz="1000"/>
          </a:p>
          <a:p>
            <a:pPr indent="0" lvl="0" marL="0" rtl="0" algn="just">
              <a:spcBef>
                <a:spcPts val="0"/>
              </a:spcBef>
              <a:spcAft>
                <a:spcPts val="0"/>
              </a:spcAft>
              <a:buSzPts val="1100"/>
              <a:buNone/>
            </a:pPr>
            <a:r>
              <a:t/>
            </a:r>
            <a:endParaRPr sz="1000"/>
          </a:p>
          <a:p>
            <a:pPr indent="0" lvl="0" marL="0" rtl="0" algn="just">
              <a:spcBef>
                <a:spcPts val="0"/>
              </a:spcBef>
              <a:spcAft>
                <a:spcPts val="0"/>
              </a:spcAft>
              <a:buSzPts val="1100"/>
              <a:buNone/>
            </a:pPr>
            <a:r>
              <a:rPr lang="en-US" sz="1000"/>
              <a:t>Los genes con mayor diferencia de expresión fueron IFI27, IFI44L y RSAD2, que son genes clásicos inducidos por interferón y ampliamente descritos en LES. Además, el heatmap mostró una separación clara entre pacientes IFN-high e IFN-low, con una sobreexpresión coordinada de prácticamente todo el panel en el grupo IFN-high.</a:t>
            </a:r>
            <a:endParaRPr sz="1000"/>
          </a:p>
          <a:p>
            <a:pPr indent="0" lvl="0" marL="0" rtl="0" algn="just">
              <a:spcBef>
                <a:spcPts val="0"/>
              </a:spcBef>
              <a:spcAft>
                <a:spcPts val="0"/>
              </a:spcAft>
              <a:buSzPts val="1100"/>
              <a:buNone/>
            </a:pPr>
            <a:r>
              <a:t/>
            </a:r>
            <a:endParaRPr sz="1000"/>
          </a:p>
          <a:p>
            <a:pPr indent="0" lvl="0" marL="0" rtl="0" algn="just">
              <a:spcBef>
                <a:spcPts val="0"/>
              </a:spcBef>
              <a:spcAft>
                <a:spcPts val="0"/>
              </a:spcAft>
              <a:buSzPts val="1100"/>
              <a:buNone/>
            </a:pPr>
            <a:r>
              <a:rPr lang="en-US" sz="1000"/>
              <a:t>Una vez comprobado que el endotipo IFN-high tiene un correlato transcriptómico robusto, el siguiente paso fue evaluar si esta estratificación también se asociaba con mayor actividad clínica y con diferencias en biomarcadores séricos.</a:t>
            </a:r>
            <a:endParaRPr sz="1000"/>
          </a:p>
        </p:txBody>
      </p:sp>
      <p:sp>
        <p:nvSpPr>
          <p:cNvPr id="244" name="Google Shape;244;g3e5a2eb6d59_1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9. IFN-high se asocia con mayor actividad y daño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Una vez comprobado que el endotipo IFN-high tiene un correlato transcriptómico robusto, evaluamos si también se asociaba con diferencias clínicas y séricas relevantes.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Los resultados mostraron que los pacientes IFN-high presentaban mayor actividad global medida por SLEDAI-2K y mayor actividad compuesta medida por SLE-DAS. También tenían un mayor índice de daño acumulado según el SLICC-DI, lo que sugiere un fenotipo más agresivo y con mayor carga de secuelas a largo plazo.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Un hallazgo interesante fue que los pacientes IFN-high eran significativamente más jóvenes —con una edad actual media de 50,25 años frente a 55,15 en IFN-low— y habían sido diagnosticados más precozmente, a los 27 años frente a los 33. Este patrón de debut más temprano es coherente con la literatura, donde la firma IFN elevada se asocia con formas de inicio precoz de la enfermedad.</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A nivel sérico, los pacientes IFN-high mostraron mayores niveles de IFN-α, IFN-γ e IL-2, reforzando la coherencia entre la activación transcriptómica del eje interferón y el entorno inflamatorio sistémico.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Por otro lado, presentaban niveles más bajos de HDL-colesterol y apolipoproteína AI, configurando un perfil lipídico más aterogénico, lo cual es consistente con el papel del interferón tipo I en la disfunción del metabolismo lipídico y el riesgo cardiovascular aumentado en LES.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conjunto, estos resultados muestran que el endotipo IFN-high no solo tiene una base molecular sólida, sino también una traducción clínica muy relevante: más actividad, más daño, debut más precoz, mayor inflamación sistémica y peor perfil metabólico.</a:t>
            </a:r>
            <a:endParaRPr sz="1000"/>
          </a:p>
          <a:p>
            <a:pPr indent="0" lvl="0" marL="0" rtl="0" algn="just">
              <a:spcBef>
                <a:spcPts val="0"/>
              </a:spcBef>
              <a:spcAft>
                <a:spcPts val="0"/>
              </a:spcAft>
              <a:buNone/>
            </a:pPr>
            <a:r>
              <a:t/>
            </a:r>
            <a:endParaRPr sz="1000"/>
          </a:p>
        </p:txBody>
      </p:sp>
      <p:sp>
        <p:nvSpPr>
          <p:cNvPr id="261" name="Google Shape;2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10. IFN-α como biomarcador puente</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La curva ROC muestra que el IFN-α sérico tiene una capacidad excelente para discriminar a los pacientes IFN-high, con un AUC de 0,944. Este rendimiento fue muy superior al de SLEDAI-2K, C3 y C4.</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Este resultado sitúa al IFN-α como un biomarcador puente entre transcriptómica y proteómica. Es decir, confirma la activación IFN capturada por el score de expresión génica, pero desde una medición sérica potencialmente más accesible. Sin embargo, esto no sustituye la integración multi-ómica, porque otros desenlaces clínicos no se explican únicamente por IFN-α.</a:t>
            </a:r>
            <a:endParaRPr sz="1000"/>
          </a:p>
          <a:p>
            <a:pPr indent="0" lvl="0" marL="0" rtl="0" algn="just">
              <a:spcBef>
                <a:spcPts val="0"/>
              </a:spcBef>
              <a:spcAft>
                <a:spcPts val="0"/>
              </a:spcAft>
              <a:buNone/>
            </a:pPr>
            <a:r>
              <a:t/>
            </a:r>
            <a:endParaRPr sz="1000"/>
          </a:p>
        </p:txBody>
      </p:sp>
      <p:sp>
        <p:nvSpPr>
          <p:cNvPr id="304" name="Google Shape;3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10. Coherencia transcriptoma-proteoma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None/>
            </a:pPr>
            <a:r>
              <a:rPr lang="en-US" sz="1000"/>
              <a:t>Hasta aquí hemos visto que la clasificación IFN-high/IFN-low tiene relevancia clínica. Sin embargo, para los análisis de integración multi-ómica no utilizamos solo una clasificación binaria, sino el IFN-score como variable continua, porque conserva mejor la intensidad de la señal biológica.</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Esta diapositiva muestra precisamente por qué. El IFN-score se correlaciona de forma muy intensa con el IFN-α sérico, con una rho de 0,856, y también de forma positiva con IFN-γ e IL-2, lo que demuestra una fuerte coherencia entre la firma transcriptómica y el entorno proteico circulante.</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Además, presenta correlaciones positivas, aunque más moderadas, con la actividad clínica, y correlaciones negativas con HDL y Apo-AI, lo que sugiere que el eje interferón también se relaciona con alteraciones metabólicas.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Estos hallazgos también se sostuvieron en modelos multivariables clásicos: en regresión logística, la edad, el SLICC-DI y el IFN-α sérico emergieron como predictores independientes de la clasificación IFN-high; y en regresión lineal, IFN-α, IL-2, HDL y actividad clínica explicaron de forma parcial la variabilidad del IFN-score, aunque el modelo solo capturó alrededor del 31% de esa variabilidad, lo que justificó el paso a enfoques de integración multi-ómica</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Por tanto, el IFN-score no solo discrimina pacientes, sino que resume una señal biológica continua, cuantificable y transversal a distintas capas de información. Por eso se utilizó como variable de referencia en los análisis posteriores de integración multi-ómica, incluyendo MOFA2 y DIABLO.</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Una vez establecida esta coherencia entre transcriptoma, clínica y proteoma, el siguiente paso fue integrar formalmente ambas capas ómicas para identificar patrones latentes compartidos y combinaciones de biomarcadores con valor predictivo.</a:t>
            </a:r>
            <a:endParaRPr sz="1000"/>
          </a:p>
        </p:txBody>
      </p:sp>
      <p:sp>
        <p:nvSpPr>
          <p:cNvPr id="336" name="Google Shape;33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11. MOFA2 confirma el eje IFN-I</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None/>
            </a:pPr>
            <a:r>
              <a:rPr lang="en-US" sz="1000"/>
              <a:t>Pasamos ahora al análisis de integración multi-ómica no supervisado mediante MOFA2, que identifica factores latentes compartidos entre capas ómicas sin ninguna información clínica previa.</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El resultado principal es que el Factor 1, el factor que explica más variabilidad, captura el eje IFN-I de forma espontánea: explica el 85% de la varianza transcriptómica y el 7,7% de la proteómica en ese mismo factor. La diferencia entre porcentajes refleja la mayor dimensionalidad del transcriptoma frente al proteoma sérico.</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En el lado positivo del Factor 1 encontramos exactamente lo que esperaríamos: los ISGs canónicos —IFI27, IFI44, IFI44L, IFIT1, RSAD2—, las citocinas IFN-α e IFN-γ, y BAFF, que se co-regula con el eje IFN-I.</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En el lado negativo, aparecen HDL, Apo-AI, C3 y C4, variables que se asocian inversamente al eje interferón, un patrón que ya habíamos observado en las correlaciones del IFN-score.</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Lo más relevante es que MOFA2 recapitula, sin supervisión, la misma estructura biológica que hemos identificado a lo largo del análisis: el eje IFN-I como organizador central de la variabilidad multi-ómica en esta cohorte.</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Una vez confirmada esta estructura de forma no supervisada, el siguiente paso fue abordar la integración de forma supervisada mediante DIABLO, para identificar combinaciones de biomarcadores con capacidad predictiva de la actividad clínica.</a:t>
            </a:r>
            <a:endParaRPr sz="1000"/>
          </a:p>
        </p:txBody>
      </p:sp>
      <p:sp>
        <p:nvSpPr>
          <p:cNvPr id="362" name="Google Shape;36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12. DIABLO: arquitectura de integración</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Después de MOFA2, se aplicó DIABLO como método de integración supervisada. Aquí se integraron dos bloques medidos en las mismas muestras: el transcriptoma, formado por 72 ISGs, y el proteoma sérico, formado por 18 variables tras el filtrado.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Se ajustaron cinco modelos independientes, cada uno supervisado por un desenlace clínico binario: remisión por SLEDAI-2K, remisión por SLE-DAS, daño acumulado por SLICC-SDI, remisión DORIS y remisión estricta compuesta. El objetivo no era solo clasificar pacientes, sino identificar qué combinación de señales multi-ómicas caracteriza cada desenlace.</a:t>
            </a:r>
            <a:endParaRPr sz="1000"/>
          </a:p>
          <a:p>
            <a:pPr indent="0" lvl="0" marL="0" rtl="0" algn="just">
              <a:spcBef>
                <a:spcPts val="0"/>
              </a:spcBef>
              <a:spcAft>
                <a:spcPts val="0"/>
              </a:spcAft>
              <a:buNone/>
            </a:pPr>
            <a:r>
              <a:t/>
            </a:r>
            <a:endParaRPr sz="1000"/>
          </a:p>
        </p:txBody>
      </p:sp>
      <p:sp>
        <p:nvSpPr>
          <p:cNvPr id="409" name="Google Shape;40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13. DIABLO en actividad clínica: SLEDAI-2K y SLE-DAS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Esta diapositiva muestra los resultados de DIABLO para los dos índices de actividad clínica que hemos utilizado en el estudio: el SLEDAI-2K y el SLE-DAS.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DIABLO es un método de integración multi-ómica supervisado: en lugar de buscar estructura latente libre como MOFA2, aquí le decimos al modelo que intente encontrar las variables de transcriptoma y proteoma que mejor correlacionan entre sí y, al mismo tiempo, mejor explican la variable clínica de interés.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El primer hallazgo es que el bloque transcriptómico es prácticamente el mismo en los dos modelos: en ambos casos, los componentes C1 y C2 explican en torno al 75% de la varianza transcriptómica, y los genes con más peso son ISGs canónicos del eje IFN-I —IFITM1, TRIM38, EIFAK2 en SLEDAI-2K; IFI27, USP18 y SP100 en SLE-DAS.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La diferencia aparece en el bloque proteómico, y es biológicamente relevante. Para el SLEDAI-2K, los biomarcadores séricos más informativos son C3 y C4, las proteínas del complemento; mientras que para el SLE-DAS aparecen Apo A-I y HDL, marcadores del perfil lipídico.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Esta divergencia no es un artefacto: refleja que los dos índices miden dimensiones distintas de la actividad. El SLEDAI-2K es sensible al consumo de complemento, que es un componente clásico de actividad en LES; mientras que el SLE-DAS, al ser un índice de actividad más compuesto y sensible, capta también la huella metabólica e inflamatoria que caracteriza a los pacientes con firma IFN activa.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resumen: el eje IFN transcriptómico es estable, pero la firma sérica varía según qué dimensión de la actividad clínica se esté midiendo.</a:t>
            </a:r>
            <a:endParaRPr sz="1000"/>
          </a:p>
          <a:p>
            <a:pPr indent="0" lvl="0" marL="0" rtl="0" algn="just">
              <a:spcBef>
                <a:spcPts val="0"/>
              </a:spcBef>
              <a:spcAft>
                <a:spcPts val="0"/>
              </a:spcAft>
              <a:buNone/>
            </a:pPr>
            <a:r>
              <a:t/>
            </a:r>
            <a:endParaRPr sz="1000"/>
          </a:p>
        </p:txBody>
      </p:sp>
      <p:sp>
        <p:nvSpPr>
          <p:cNvPr id="448" name="Google Shape;44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14. DIABLO en daño acumulado: SLICC-SDI</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el tercer modelo supervisado de DIABLO, la variable de referencia es el SLICC-DI, que mide el daño orgánico acumulado en pacientes con LES —no la actividad inflamatoria puntual, sino las secuelas que la enfermedad ha dejado a lo largo del tiempo.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El bloque transcriptómico vuelve a mostrar el eje IFN como señal dominante: TRIM38, PARP9 y TAP1 son genes directamente regulados por la activación de la vía interferón, y el modelo explica el 77,3% de la varianza transcriptómica con los dos primeros componentes.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Pero la novedad está en el bloque proteómico: ahora, junto con IFN-α, aparece la creatinina como variable relevante. Esto no ocurría en los modelos de actividad clínica. Y tiene sentido: la creatinina es un marcador de función renal, y la afectación renal —la nefritis lúpica— es precisamente una de las principales fuentes de daño acumulado en el SLICC-DI.</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Por tanto, lo que DIABLO nos está diciendo es que para predecir el daño acumulado no basta con la firma transcriptómica del eje IFN: el modelo necesita incorporar una dimensión adicional de carácter renal, que queda reflejada en el proteoma.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Este resultado diferencia cualitativamente el modelo de daño del modelo de actividad, y tiene implicaciones clínicas directas</a:t>
            </a:r>
            <a:endParaRPr sz="1000"/>
          </a:p>
          <a:p>
            <a:pPr indent="0" lvl="0" marL="0" rtl="0" algn="just">
              <a:spcBef>
                <a:spcPts val="0"/>
              </a:spcBef>
              <a:spcAft>
                <a:spcPts val="0"/>
              </a:spcAft>
              <a:buNone/>
            </a:pPr>
            <a:r>
              <a:t/>
            </a:r>
            <a:endParaRPr sz="1000"/>
          </a:p>
        </p:txBody>
      </p:sp>
      <p:sp>
        <p:nvSpPr>
          <p:cNvPr id="479" name="Google Shape;47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15. DIABLO en remisión: DORIS y remisión estricta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Los dos últimos modelos DIABLO utilizan como variables de respuesta los criterios de remisión: DORIS, que define remisión basada en actividad y tratamiento, y la remisión estricta, que añade la ausencia de glucocorticoides.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Estos modelos son los más complejos de interpretar, porque la remisión no es simplemente lo opuesto de la actividad: es un estado multidimensional que incorpora criterios clínicos, de tratamiento y de ausencia de daño.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El bloque transcriptómico vuelve a estar dominado por el eje IFN, con porcentajes de varianza similares a los modelos anteriores: 76,3% en DORIS y 77,1% en remisión estricta. Esto confirma de nuevo que el eje IFN es una señal estructural que aparece independientemente del desenlace clínico utilizado.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La diferencia está en el bloque proteómico. En DORIS, el modelo incorpora IFN-α, BAFF y otras señales de inmunoactivación residual, lo que sugiere que los pacientes que no alcanzan DORIS mantienen no solo actividad IFN, sino también una activación sostenida de células B.</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remisión estricta, al exigir un umbral más estricto, la separabilidad biológica entre grupos es menor: solo el 16% de varianza proteómica en los dos primeros componentes. Esto es coherente: en remisión estricta, los grupos son más similares molecularmente y la señal multi-ómica que los diferencia es más sutil.</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definitiva, estos resultados muestran que la remisión no equivale a silencio inmunológico: hay señales séricas persistentes, especialmente de BAFF y del eje IFN, que distinguen a quienes alcanzan la remisión de quienes no.</a:t>
            </a:r>
            <a:endParaRPr sz="1000"/>
          </a:p>
          <a:p>
            <a:pPr indent="0" lvl="0" marL="0" rtl="0" algn="just">
              <a:spcBef>
                <a:spcPts val="0"/>
              </a:spcBef>
              <a:spcAft>
                <a:spcPts val="0"/>
              </a:spcAft>
              <a:buNone/>
            </a:pPr>
            <a:r>
              <a:t/>
            </a:r>
            <a:endParaRPr sz="1000"/>
          </a:p>
        </p:txBody>
      </p:sp>
      <p:sp>
        <p:nvSpPr>
          <p:cNvPr id="504" name="Google Shape;50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16. Matriz resumen DIABLO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Esta matriz es uno de los resultados principales del trabajo y condensa el mensaje global de los cinco modelos DIABLO.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Fijémonos primero en la columna de transcriptoma: en los cinco desenlaces, el bloque transcriptómico está dominado por ISGs del eje IFN-I. No cambia con el índice clínico, no cambia entre actividad y remisión ni entre actividad y daño. El eje IFN es una señal estable, estructural, presente en toda la cohorte de LES.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Ahora fijémonos en la columna de proteoma: aquí sí hay diferencias. Para SLEDAI-2K, el modelo selecciona proteínas de complemento. Para SLE-DAS, lipoproteínas inflamatorias. Para el SLICC-DI, aparece la creatinina. Y para DORIS y remisión estricta, una combinación de IFN-α, BAFF y complemento.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Esto nos dice algo muy importante: la especificidad clínica de cada desenlace no reside en el transcriptoma, sino en el proteoma sérico. El suero añade una dimensión que los ISGs no pueden capturar por sí solos.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otras palabras: si solo hubiéramos hecho transcriptómica, habríamos visto siempre el mismo eje IFN. Es la integración multi-ómica con DIABLO lo que permite identificar qué biología sérica caracteriza específicamente a cada desenlace clínico.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Pregunta 1: "¿Por qué la columna de transcriptoma es siempre la misma? ¿Es un resultado interesante o es simplemente que el panel de 72 genes ISG que usáis no tiene capacidad de discriminar entre desenlaces?"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 una pregunta muy pertinente. Efectivamente, el panel nCounter está diseñado para capturar el eje IFN, así que hay un sesgo de diseño. Sin embargo, el resultado es coherente con la literatura, que muestra que la firma ISG en LES es robusta y estable independientemente del fenotipo clínico. Lo que añade valor en nuestro caso es precisamente que al integrar el proteoma sérico, sin restricciones de panel, DIABLO selecciona variables que sí discriminan entre desenlaces. Eso es el complemento del resultado, no su limitación."</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Pregunta 2: "¿Existe una jerarquía entre estos cinco desenlaces? ¿Cuál os parece el más relevante clínicamente?"</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nuestra opinión, SLEDAI-2K y SLE-DAS son los más directamente aplicables porque miden actividad, que es el parámetro que se monitoriza en consulta de forma rutinaria. El SLICC-DI es el más interesante desde el punto de vista pronóstico porque el daño acumulado es el principal predictor de morbimortalidad en LES. Los modelos de remisión son los más complejos y los que tienen menor separabilidad biológica en nuestra cohorte."</a:t>
            </a:r>
            <a:endParaRPr sz="1000"/>
          </a:p>
          <a:p>
            <a:pPr indent="0" lvl="0" marL="0" rtl="0" algn="just">
              <a:spcBef>
                <a:spcPts val="0"/>
              </a:spcBef>
              <a:spcAft>
                <a:spcPts val="0"/>
              </a:spcAft>
              <a:buNone/>
            </a:pPr>
            <a:r>
              <a:t/>
            </a:r>
            <a:endParaRPr sz="1000"/>
          </a:p>
        </p:txBody>
      </p:sp>
      <p:sp>
        <p:nvSpPr>
          <p:cNvPr id="535" name="Google Shape;53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17. DIABLO interpreta mejor de lo que predice</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Esta diapositiva presenta los resultados de rendimiento discriminativo de los modelos DIABLO.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El BER —Balanced Error Rate, que mide el error de clasificación de forma equilibrada entre clases— se situó entre 0,398 y 0,452 según el desenlace. Para contextualizar: un BER de 0,5 equivale a clasificación aleatoria. Por tanto, los modelos están por encima del azar, pero el margen es modesto.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Los AUROC se situaron entre 0,55 y 0,69, y ningún modelo alcanzó el umbral convencional de 0,70 para considerar una discriminación aceptable en contexto clínico.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Sin embargo, esto no invalida los resultados anteriores. El objetivo de DIABLO en este trabajo no era construir un clasificador clínico, sino descomponer la arquitectura multi-ómica de cada desenlace. DIABLO identifica qué variables de transcriptoma y proteoma se correlacionan entre sí y con el desenlace —y eso tiene valor biológico e interpretativo incluso cuando el rendimiento predictivo es modesto.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otras palabras: estos modelos son generadores de hipótesis biológicas, no biomarcadores clínicos listos para traslación. Eso es coherente con el diseño exploratorio del trabajo.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Esto significa que DIABLO no debe interpretarse como un clasificador clínico de alta precisión en esta cohorte. Su valor principal es interpretativo: permite descomponer la contribución relativa del transcriptoma y del proteoma, y entender qué señales biológicas se asocian con cada definición clínica de actividad, daño o remisión.</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Pregunta 1 (casi segura): "¿Cómo justificáis publicar o presentar modelos con AUROCs de 0,55–0,69?"</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"Porque el objetivo no era obtener modelos predictivos, sino entender qué biología multi-ómica subyace a cada definición clínica. DIABLO no está pensado para sustituir un biomarcador clínico; está diseñado para identificar patrones de co-variación entre capas ómicas en relación con una variable de respuesta supervisada. En ese sentido, los resultados son informativos aunque el rendimiento discriminativo sea modesto. Además, la literatura en integración multiómica supervisada frecuentemente reporta AUROCs en este rango en cohortes de tamaño similar a la nuestra."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Pregunta 2: "¿Habríais obtenido mejor rendimiento con un clasificador supervisado más estándar, como Random Forest o regresión logística?"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"Probablemente sí en términos de AUROC, pero a costa de perder la lectura biológica integrada. Un clasificador de caja negra habría seleccionado variables predictoras, no variables co-variantes entre ómicas. El valor diferencial de DIABLO es precisamente que construye componentes latentes que maximizan simultáneamente la correlación entre bloques ómicos y la separación entre grupos clínicos, lo que permite interpretación biológica cruzada."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None/>
            </a:pPr>
            <a:r>
              <a:t/>
            </a:r>
            <a:endParaRPr sz="1000"/>
          </a:p>
        </p:txBody>
      </p:sp>
      <p:sp>
        <p:nvSpPr>
          <p:cNvPr id="577" name="Google Shape;57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e5a2eb6d59_1_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g3e5a2eb6d59_1_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18. LASSO exploratorio. Variables seleccionadas convergen con señales identificadas por DIABLO → consistencia metodológica cruzada</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None/>
            </a:pPr>
            <a:r>
              <a:rPr lang="en-US" sz="1000"/>
              <a:t>Como análisis final del pipeline, aplicamos LASSO penalizado sobre la matriz combinada de 72 ISGs y 18 proteínas séricas, con el objetivo de seleccionar el subconjunto mínimo de biomarcadores con mayor capacidad discriminativa para cada desenlace.</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El parámetro de regularización λ se seleccionó por el criterio de parsimonia —lambda.1se— y el rendimiento se estimó mediante validación cruzada 10-fold, que es la métrica más robusta en este contexto.</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Los AUC en validación cruzada oscilaron entre 0,554 para DORIS y 0,663 para remisión estricta. Lo más relevante no es el valor absoluto del AUC, sino qué variables selecciona el modelo en cada desenlace: C3 y C4 para SLEDAI-2K, Apo A-I para SLE-DAS, creatinina para SLICC-DI.</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Estas variables coinciden con las identificadas por DIABLO, lo que refuerza la consistencia biológica de los hallazgos a través de dos métodos completamente distintos.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En conjunto, LASSO cumple una función exploratoria: prioriza candidatos biológicos, no genera un panel diagnóstico validado.</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"¿Por qué el AUC de validación cruzada es mayor que el AUC aparente? Eso es inusual."</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"Es un resultado aparentemente paradójico pero estadísticamente esperable en escenarios de alta dimensionalidad con tamaño muestral moderado. El AUC aparente se calcula evaluando el modelo sobre los mismos datos con los que fue entrenado, lo que normalmente sobreestima el rendimiento. Sin embargo, en nuestro caso, la penalización LASSO introduce una regularización tan fuerte —especialmente con λ.1se— que el modelo resultante es muy parsimonioso y tiende a subestimar en la muestra de entrenamiento. La validación cruzada con remuestreo produce estimaciones más estables porque evalúa en datos no vistos."</a:t>
            </a:r>
            <a:endParaRPr sz="1000"/>
          </a:p>
        </p:txBody>
      </p:sp>
      <p:sp>
        <p:nvSpPr>
          <p:cNvPr id="602" name="Google Shape;602;g3e5a2eb6d59_1_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3" name="Google Shape;64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19. Limitaciones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None/>
            </a:pPr>
            <a:r>
              <a:rPr lang="en-US" sz="1000"/>
              <a:t>Antes de presentar las conclusiones, quiero contextualizar los resultados con las principales limitaciones del estudio, que agrupo en dos bloques.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En cuanto al diseño, el corte transversal impide inferir causalidad — las asociaciones que observamos, como la relación entre firma IFN-high y daño SLICC, son correlaciones, no efectos causales. Además, todos los pacientes estaban bajo tratamiento activo — antipalúdicos, glucocorticoides e inmunosupresores —, fármacos que suprimen la firma interferón, por lo que el IFN-score podría estar infraestimado en los pacientes con mayor carga terapéutica. Por último, la cohorte es mayoritariamente española y caucásica, lo que limita la generalización étnica de los puntos de corte.</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En el plano analítico, el escenario es de alta dimensionalidad: aproximadamente 90 predictores para unas 250 muestras. Esto introduce riesgo de sobreajuste en LASSO, incluso con validación cruzada interna, por lo que los AUC obtenidos deben considerarse estimaciones optimistas hasta que se disponga de validación externa. La proporción de datos faltantes en algunas proteínas séricas — especialmente en citocinas — también reduce la robustez de los modelos comparativos. Finalmente, el panel NanoString cubre la firma IFN canónica de 72 genes, pero no el transcriptoma completo, por lo que podrían existir módulos transcripcionales relevantes no capturados, que sería posible identificar con RNA-seq de transcriptoma total en trabajos futuros.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En conjunto, todos los resultados tienen carácter exploratorio y su traslación clínica requeriría validación en cohortes independientes.</a:t>
            </a:r>
            <a:endParaRPr sz="1000"/>
          </a:p>
          <a:p>
            <a:pPr indent="0" lvl="0" marL="0" rtl="0" algn="just">
              <a:spcBef>
                <a:spcPts val="0"/>
              </a:spcBef>
              <a:spcAft>
                <a:spcPts val="0"/>
              </a:spcAft>
              <a:buNone/>
            </a:pPr>
            <a:r>
              <a:t/>
            </a:r>
            <a:endParaRPr sz="1000"/>
          </a:p>
          <a:p>
            <a:pPr indent="0" lvl="0" marL="0" rtl="0" algn="just">
              <a:spcBef>
                <a:spcPts val="0"/>
              </a:spcBef>
              <a:spcAft>
                <a:spcPts val="0"/>
              </a:spcAft>
              <a:buNone/>
            </a:pPr>
            <a:r>
              <a:rPr lang="en-US" sz="1000"/>
              <a:t>"¿cómo podría mejorarse el estudio?" Diseño longitudinal para evaluar la dinámica de la firma IFN-I, Cohorte étnica más diversa, RNA-seq en lugar de panel dirigido, Validación externa multicéntrica</a:t>
            </a:r>
            <a:endParaRPr sz="1000"/>
          </a:p>
        </p:txBody>
      </p:sp>
      <p:sp>
        <p:nvSpPr>
          <p:cNvPr id="644" name="Google Shape;64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SzPts val="1100"/>
              <a:buNone/>
            </a:pPr>
            <a:r>
              <a:rPr lang="en-US" sz="1000"/>
              <a:t>Diapositiva 20. Conclusiones finales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Para cerrar, las conclusiones del trabajo se articulan en cuatro ejes.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IFN-score. La firma de interferón tipo I está significativamente sobreactivada en LES — mediana 0,78 frente a 0,01 en controles. El panel de 72 genes es concordante con el score clásico de 4 genes, con ρ = 0,972 y κ de Cohen de 0,779. Y el IFN-α sérico ultrasensible correlaciona con el score con ρ = 0,856 — lo que lo convierte en un sustituto pragmático del IFN-score en contextos donde no hay acceso a transcriptómica, con una AUC de clasificación de 0,944.</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Fenotipo IFN-high. El subgrupo IFN-high — un 35% de la cohorte — muestra un perfil más desfavorable: mayor actividad clínica, mayor daño acumulado medido por SLICC-DI, diagnóstico más precoz —27 frente a 33 años— y un perfil lipídico más aterogénico con HDL y ApoA-I descendidos. Esto tiene implicaciones directas para el manejo cardiovascular del paciente lúpico.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MOFA2. La integración no supervisada confirma que el eje IFN-I es la estructura multi-ómica dominante — el Factor 1 explica el 85% de la varianza transcriptómica, y está definido por ISGs e IFN-α/BAFF frente a HDL, C3 y C4. Su correlación significativa con SLEDAI-2K y SLE-DAS confirma su relevancia clínica en un marco estrictamente no supervisado.</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DIABLO. Los modelos supervisados son biológicamente coherentes aunque con rendimiento discriminativo moderado. El hallazgo más interesante es la especificidad proteómica por desenlace: complemento para actividad, lipoproteínas para SLE-DAS y creatinina para daño acumulado. Cada índice clínico lee una dimensión biológica diferente del LES.</a:t>
            </a:r>
            <a:endParaRPr sz="1000"/>
          </a:p>
          <a:p>
            <a:pPr indent="0" lvl="0" marL="0" rtl="0" algn="just">
              <a:spcBef>
                <a:spcPts val="0"/>
              </a:spcBef>
              <a:spcAft>
                <a:spcPts val="0"/>
              </a:spcAft>
              <a:buClr>
                <a:schemeClr val="dk1"/>
              </a:buClr>
              <a:buSzPts val="1100"/>
              <a:buFont typeface="Arial"/>
              <a:buNone/>
            </a:pPr>
            <a:r>
              <a:t/>
            </a:r>
            <a:endParaRPr sz="1000"/>
          </a:p>
          <a:p>
            <a:pPr indent="0" lvl="0" marL="0" rtl="0" algn="just">
              <a:spcBef>
                <a:spcPts val="0"/>
              </a:spcBef>
              <a:spcAft>
                <a:spcPts val="0"/>
              </a:spcAft>
              <a:buClr>
                <a:schemeClr val="dk1"/>
              </a:buClr>
              <a:buSzPts val="1100"/>
              <a:buFont typeface="Arial"/>
              <a:buNone/>
            </a:pPr>
            <a:r>
              <a:rPr lang="en-US" sz="1000"/>
              <a:t>En conjunto, la firma interferón conecta transcriptoma y proteoma en el LES. Si tuviera que resumir el trabajo en una idea, diría que el IFN-score identifica un eje molecular central en LES, pero la integración con proteómica sérica permite interpretar mejor cómo ese eje se expresa de forma diferente según actividad, daño y remisión.</a:t>
            </a:r>
            <a:endParaRPr sz="1000"/>
          </a:p>
          <a:p>
            <a:pPr indent="0" lvl="0" marL="0" rtl="0" algn="just">
              <a:spcBef>
                <a:spcPts val="0"/>
              </a:spcBef>
              <a:spcAft>
                <a:spcPts val="0"/>
              </a:spcAft>
              <a:buNone/>
            </a:pPr>
            <a:r>
              <a:t/>
            </a:r>
            <a:endParaRPr sz="1000"/>
          </a:p>
        </p:txBody>
      </p:sp>
      <p:sp>
        <p:nvSpPr>
          <p:cNvPr id="660" name="Google Shape;66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5" name="Shape 15"/>
        <p:cNvGrpSpPr/>
        <p:nvPr/>
      </p:nvGrpSpPr>
      <p:grpSpPr>
        <a:xfrm>
          <a:off x="0" y="0"/>
          <a:ext cx="0" cy="0"/>
          <a:chOff x="0" y="0"/>
          <a:chExt cx="0" cy="0"/>
        </a:xfrm>
      </p:grpSpPr>
      <p:sp>
        <p:nvSpPr>
          <p:cNvPr id="16" name="Google Shape;16;p1"/>
          <p:cNvSpPr/>
          <p:nvPr/>
        </p:nvSpPr>
        <p:spPr>
          <a:xfrm>
            <a:off x="731520" y="1097280"/>
            <a:ext cx="5943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100"/>
              <a:buFont typeface="Calibri"/>
              <a:buNone/>
            </a:pPr>
            <a:r>
              <a:rPr b="1" i="0" lang="en-US" sz="1100" u="none" cap="none" strike="noStrike">
                <a:solidFill>
                  <a:srgbClr val="0F6B78"/>
                </a:solidFill>
                <a:latin typeface="Calibri"/>
                <a:ea typeface="Calibri"/>
                <a:cs typeface="Calibri"/>
                <a:sym typeface="Calibri"/>
              </a:rPr>
              <a:t>TRABAJO FIN DE MÁSTER</a:t>
            </a:r>
            <a:endParaRPr b="0" i="0" sz="1100" u="none" cap="none" strike="noStrike">
              <a:solidFill>
                <a:schemeClr val="dk1"/>
              </a:solidFill>
              <a:latin typeface="Calibri"/>
              <a:ea typeface="Calibri"/>
              <a:cs typeface="Calibri"/>
              <a:sym typeface="Calibri"/>
            </a:endParaRPr>
          </a:p>
        </p:txBody>
      </p:sp>
      <p:sp>
        <p:nvSpPr>
          <p:cNvPr id="17" name="Google Shape;17;p1"/>
          <p:cNvSpPr/>
          <p:nvPr/>
        </p:nvSpPr>
        <p:spPr>
          <a:xfrm>
            <a:off x="731520" y="1554480"/>
            <a:ext cx="6400800" cy="27432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2E3138"/>
              </a:buClr>
              <a:buSzPts val="3400"/>
              <a:buFont typeface="Calibri"/>
              <a:buNone/>
            </a:pPr>
            <a:r>
              <a:rPr b="1" i="0" lang="en-US" sz="3400" u="none" cap="none" strike="noStrike">
                <a:solidFill>
                  <a:srgbClr val="2E3138"/>
                </a:solidFill>
                <a:latin typeface="Calibri"/>
                <a:ea typeface="Calibri"/>
                <a:cs typeface="Calibri"/>
                <a:sym typeface="Calibri"/>
              </a:rPr>
              <a:t>Integración multi-ómica de la firma de interferón tipo I y biomarcadores séricos en LES</a:t>
            </a:r>
            <a:endParaRPr b="0" i="0" sz="3400" u="none" cap="none" strike="noStrike">
              <a:solidFill>
                <a:schemeClr val="dk1"/>
              </a:solidFill>
              <a:latin typeface="Calibri"/>
              <a:ea typeface="Calibri"/>
              <a:cs typeface="Calibri"/>
              <a:sym typeface="Calibri"/>
            </a:endParaRPr>
          </a:p>
        </p:txBody>
      </p:sp>
      <p:sp>
        <p:nvSpPr>
          <p:cNvPr id="18" name="Google Shape;18;p1"/>
          <p:cNvSpPr/>
          <p:nvPr/>
        </p:nvSpPr>
        <p:spPr>
          <a:xfrm>
            <a:off x="731520" y="4434840"/>
            <a:ext cx="6400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1600" u="none" cap="none" strike="noStrike">
                <a:solidFill>
                  <a:srgbClr val="6B707A"/>
                </a:solidFill>
                <a:latin typeface="Calibri"/>
                <a:ea typeface="Calibri"/>
                <a:cs typeface="Calibri"/>
                <a:sym typeface="Calibri"/>
              </a:rPr>
              <a:t>Máster en Bioinformática y Bioestadística</a:t>
            </a:r>
            <a:endParaRPr b="0" i="0" sz="1600" u="none" cap="none" strike="noStrike">
              <a:solidFill>
                <a:schemeClr val="dk1"/>
              </a:solidFill>
              <a:latin typeface="Calibri"/>
              <a:ea typeface="Calibri"/>
              <a:cs typeface="Calibri"/>
              <a:sym typeface="Calibri"/>
            </a:endParaRPr>
          </a:p>
        </p:txBody>
      </p:sp>
      <p:sp>
        <p:nvSpPr>
          <p:cNvPr id="19" name="Google Shape;19;p1"/>
          <p:cNvSpPr/>
          <p:nvPr/>
        </p:nvSpPr>
        <p:spPr>
          <a:xfrm>
            <a:off x="731520" y="5029200"/>
            <a:ext cx="548640" cy="36576"/>
          </a:xfrm>
          <a:prstGeom prst="rect">
            <a:avLst/>
          </a:prstGeom>
          <a:solidFill>
            <a:srgbClr val="0F6B78"/>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731520" y="5166360"/>
            <a:ext cx="64008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2000"/>
              <a:buFont typeface="Calibri"/>
              <a:buNone/>
            </a:pPr>
            <a:r>
              <a:rPr b="1" i="0" lang="en-US" sz="2000" u="none" cap="none" strike="noStrike">
                <a:solidFill>
                  <a:srgbClr val="2E3138"/>
                </a:solidFill>
                <a:latin typeface="Calibri"/>
                <a:ea typeface="Calibri"/>
                <a:cs typeface="Calibri"/>
                <a:sym typeface="Calibri"/>
              </a:rPr>
              <a:t>Fuensanta Bernal </a:t>
            </a:r>
            <a:r>
              <a:rPr b="1" lang="en-US" sz="2000">
                <a:solidFill>
                  <a:srgbClr val="2E3138"/>
                </a:solidFill>
                <a:latin typeface="Calibri"/>
                <a:ea typeface="Calibri"/>
                <a:cs typeface="Calibri"/>
                <a:sym typeface="Calibri"/>
              </a:rPr>
              <a:t>Gómez</a:t>
            </a:r>
            <a:endParaRPr b="0" i="0" sz="2000" u="none" cap="none" strike="noStrike">
              <a:solidFill>
                <a:schemeClr val="dk1"/>
              </a:solidFill>
              <a:latin typeface="Calibri"/>
              <a:ea typeface="Calibri"/>
              <a:cs typeface="Calibri"/>
              <a:sym typeface="Calibri"/>
            </a:endParaRPr>
          </a:p>
        </p:txBody>
      </p:sp>
      <p:sp>
        <p:nvSpPr>
          <p:cNvPr id="21" name="Google Shape;21;p1"/>
          <p:cNvSpPr/>
          <p:nvPr/>
        </p:nvSpPr>
        <p:spPr>
          <a:xfrm>
            <a:off x="731520" y="5623560"/>
            <a:ext cx="64008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300"/>
              <a:buFont typeface="Calibri"/>
              <a:buNone/>
            </a:pPr>
            <a:r>
              <a:rPr b="0" i="0" lang="en-US" sz="1300" u="none" cap="none" strike="noStrike">
                <a:solidFill>
                  <a:srgbClr val="6B707A"/>
                </a:solidFill>
                <a:latin typeface="Calibri"/>
                <a:ea typeface="Calibri"/>
                <a:cs typeface="Calibri"/>
                <a:sym typeface="Calibri"/>
              </a:rPr>
              <a:t>Defensa oral · Junio 202</a:t>
            </a:r>
            <a:r>
              <a:rPr lang="en-US" sz="1300">
                <a:solidFill>
                  <a:srgbClr val="6B707A"/>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7498080" y="868680"/>
            <a:ext cx="4206240" cy="5440680"/>
          </a:xfrm>
          <a:prstGeom prst="roundRect">
            <a:avLst>
              <a:gd fmla="val 2609"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8138160" y="1325880"/>
            <a:ext cx="1234440" cy="1234440"/>
          </a:xfrm>
          <a:prstGeom prst="ellipse">
            <a:avLst/>
          </a:prstGeom>
          <a:solidFill>
            <a:srgbClr val="C7DCDF"/>
          </a:solidFill>
          <a:ln cap="flat" cmpd="sng" w="1905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8138160" y="1325880"/>
            <a:ext cx="12344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050"/>
              <a:buFont typeface="Calibri"/>
              <a:buNone/>
            </a:pPr>
            <a:r>
              <a:rPr b="1" i="0" lang="en-US" sz="1050" u="none" cap="none" strike="noStrike">
                <a:solidFill>
                  <a:srgbClr val="2E3138"/>
                </a:solidFill>
                <a:latin typeface="Calibri"/>
                <a:ea typeface="Calibri"/>
                <a:cs typeface="Calibri"/>
                <a:sym typeface="Calibri"/>
              </a:rPr>
              <a:t>Transcriptoma</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3138"/>
              </a:buClr>
              <a:buSzPts val="1050"/>
              <a:buFont typeface="Calibri"/>
              <a:buNone/>
            </a:pPr>
            <a:r>
              <a:rPr b="1" i="0" lang="en-US" sz="1050" u="none" cap="none" strike="noStrike">
                <a:solidFill>
                  <a:srgbClr val="2E3138"/>
                </a:solidFill>
                <a:latin typeface="Calibri"/>
                <a:ea typeface="Calibri"/>
                <a:cs typeface="Calibri"/>
                <a:sym typeface="Calibri"/>
              </a:rPr>
              <a:t>72 ISGs</a:t>
            </a:r>
            <a:endParaRPr b="0" i="0" sz="1050" u="none" cap="none" strike="noStrike">
              <a:solidFill>
                <a:schemeClr val="dk1"/>
              </a:solidFill>
              <a:latin typeface="Calibri"/>
              <a:ea typeface="Calibri"/>
              <a:cs typeface="Calibri"/>
              <a:sym typeface="Calibri"/>
            </a:endParaRPr>
          </a:p>
        </p:txBody>
      </p:sp>
      <p:sp>
        <p:nvSpPr>
          <p:cNvPr id="25" name="Google Shape;25;p1"/>
          <p:cNvSpPr/>
          <p:nvPr/>
        </p:nvSpPr>
        <p:spPr>
          <a:xfrm>
            <a:off x="9829800" y="1325880"/>
            <a:ext cx="1234440" cy="1234440"/>
          </a:xfrm>
          <a:prstGeom prst="ellipse">
            <a:avLst/>
          </a:prstGeom>
          <a:solidFill>
            <a:srgbClr val="E8DCD2"/>
          </a:solidFill>
          <a:ln cap="flat" cmpd="sng" w="1905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9829800" y="1325880"/>
            <a:ext cx="1234440" cy="12344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050"/>
              <a:buFont typeface="Calibri"/>
              <a:buNone/>
            </a:pPr>
            <a:r>
              <a:rPr b="1" i="0" lang="en-US" sz="1050" u="none" cap="none" strike="noStrike">
                <a:solidFill>
                  <a:srgbClr val="2E3138"/>
                </a:solidFill>
                <a:latin typeface="Calibri"/>
                <a:ea typeface="Calibri"/>
                <a:cs typeface="Calibri"/>
                <a:sym typeface="Calibri"/>
              </a:rPr>
              <a:t>Proteoma</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3138"/>
              </a:buClr>
              <a:buSzPts val="1050"/>
              <a:buFont typeface="Calibri"/>
              <a:buNone/>
            </a:pPr>
            <a:r>
              <a:rPr b="1" i="0" lang="en-US" sz="1050" u="none" cap="none" strike="noStrike">
                <a:solidFill>
                  <a:srgbClr val="2E3138"/>
                </a:solidFill>
                <a:latin typeface="Calibri"/>
                <a:ea typeface="Calibri"/>
                <a:cs typeface="Calibri"/>
                <a:sym typeface="Calibri"/>
              </a:rPr>
              <a:t>sérico</a:t>
            </a:r>
            <a:endParaRPr b="0" i="0" sz="1050" u="none" cap="none" strike="noStrike">
              <a:solidFill>
                <a:schemeClr val="dk1"/>
              </a:solidFill>
              <a:latin typeface="Calibri"/>
              <a:ea typeface="Calibri"/>
              <a:cs typeface="Calibri"/>
              <a:sym typeface="Calibri"/>
            </a:endParaRPr>
          </a:p>
        </p:txBody>
      </p:sp>
      <p:sp>
        <p:nvSpPr>
          <p:cNvPr id="27" name="Google Shape;27;p1"/>
          <p:cNvSpPr/>
          <p:nvPr/>
        </p:nvSpPr>
        <p:spPr>
          <a:xfrm>
            <a:off x="7909560" y="3063240"/>
            <a:ext cx="3383280" cy="777240"/>
          </a:xfrm>
          <a:prstGeom prst="roundRect">
            <a:avLst>
              <a:gd fmla="val 11765" name="adj"/>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7909560" y="3063240"/>
            <a:ext cx="3383280" cy="7772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Integración</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MOFA2 · DIABLO</a:t>
            </a:r>
            <a:endParaRPr b="0" i="0" sz="1200" u="none" cap="none" strike="noStrike">
              <a:solidFill>
                <a:schemeClr val="dk1"/>
              </a:solidFill>
              <a:latin typeface="Calibri"/>
              <a:ea typeface="Calibri"/>
              <a:cs typeface="Calibri"/>
              <a:sym typeface="Calibri"/>
            </a:endParaRPr>
          </a:p>
        </p:txBody>
      </p:sp>
      <p:cxnSp>
        <p:nvCxnSpPr>
          <p:cNvPr id="29" name="Google Shape;29;p1"/>
          <p:cNvCxnSpPr/>
          <p:nvPr/>
        </p:nvCxnSpPr>
        <p:spPr>
          <a:xfrm>
            <a:off x="8755380" y="2578608"/>
            <a:ext cx="0" cy="457200"/>
          </a:xfrm>
          <a:prstGeom prst="straightConnector1">
            <a:avLst/>
          </a:prstGeom>
          <a:noFill/>
          <a:ln cap="flat" cmpd="sng" w="19050">
            <a:solidFill>
              <a:srgbClr val="2E3138"/>
            </a:solidFill>
            <a:prstDash val="solid"/>
            <a:round/>
            <a:headEnd len="sm" w="sm" type="none"/>
            <a:tailEnd len="med" w="med" type="triangle"/>
          </a:ln>
        </p:spPr>
      </p:cxnSp>
      <p:cxnSp>
        <p:nvCxnSpPr>
          <p:cNvPr id="30" name="Google Shape;30;p1"/>
          <p:cNvCxnSpPr/>
          <p:nvPr/>
        </p:nvCxnSpPr>
        <p:spPr>
          <a:xfrm>
            <a:off x="10447020" y="2578608"/>
            <a:ext cx="0" cy="457200"/>
          </a:xfrm>
          <a:prstGeom prst="straightConnector1">
            <a:avLst/>
          </a:prstGeom>
          <a:noFill/>
          <a:ln cap="flat" cmpd="sng" w="19050">
            <a:solidFill>
              <a:srgbClr val="2E3138"/>
            </a:solidFill>
            <a:prstDash val="solid"/>
            <a:round/>
            <a:headEnd len="sm" w="sm" type="none"/>
            <a:tailEnd len="med" w="med" type="triangle"/>
          </a:ln>
        </p:spPr>
      </p:cxnSp>
      <p:cxnSp>
        <p:nvCxnSpPr>
          <p:cNvPr id="31" name="Google Shape;31;p1"/>
          <p:cNvCxnSpPr/>
          <p:nvPr/>
        </p:nvCxnSpPr>
        <p:spPr>
          <a:xfrm>
            <a:off x="9601200" y="3858768"/>
            <a:ext cx="0" cy="457200"/>
          </a:xfrm>
          <a:prstGeom prst="straightConnector1">
            <a:avLst/>
          </a:prstGeom>
          <a:noFill/>
          <a:ln cap="flat" cmpd="sng" w="19050">
            <a:solidFill>
              <a:srgbClr val="2E3138"/>
            </a:solidFill>
            <a:prstDash val="solid"/>
            <a:round/>
            <a:headEnd len="sm" w="sm" type="none"/>
            <a:tailEnd len="med" w="med" type="triangle"/>
          </a:ln>
        </p:spPr>
      </p:cxnSp>
      <p:sp>
        <p:nvSpPr>
          <p:cNvPr id="32" name="Google Shape;32;p1"/>
          <p:cNvSpPr/>
          <p:nvPr/>
        </p:nvSpPr>
        <p:spPr>
          <a:xfrm>
            <a:off x="7909560" y="4343400"/>
            <a:ext cx="3383280" cy="914400"/>
          </a:xfrm>
          <a:prstGeom prst="roundRect">
            <a:avLst>
              <a:gd fmla="val 10000" name="adj"/>
            </a:avLst>
          </a:prstGeom>
          <a:solidFill>
            <a:srgbClr val="FFFFFF"/>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7909560" y="4343400"/>
            <a:ext cx="338328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200"/>
              <a:buFont typeface="Calibri"/>
              <a:buNone/>
            </a:pPr>
            <a:r>
              <a:rPr b="1" i="0" lang="en-US" sz="1200" u="none" cap="none" strike="noStrike">
                <a:solidFill>
                  <a:srgbClr val="2E3138"/>
                </a:solidFill>
                <a:latin typeface="Calibri"/>
                <a:ea typeface="Calibri"/>
                <a:cs typeface="Calibri"/>
                <a:sym typeface="Calibri"/>
              </a:rPr>
              <a:t>Desenlaces clínicos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2E3138"/>
              </a:buClr>
              <a:buSzPts val="1200"/>
              <a:buFont typeface="Calibri"/>
              <a:buNone/>
            </a:pPr>
            <a:r>
              <a:rPr b="1" i="0" lang="en-US" sz="1200" u="none" cap="none" strike="noStrike">
                <a:solidFill>
                  <a:srgbClr val="2E3138"/>
                </a:solidFill>
                <a:latin typeface="Calibri"/>
                <a:ea typeface="Calibri"/>
                <a:cs typeface="Calibri"/>
                <a:sym typeface="Calibri"/>
              </a:rPr>
              <a:t>actividad · daño · remisión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38" name="Shape 38"/>
        <p:cNvGrpSpPr/>
        <p:nvPr/>
      </p:nvGrpSpPr>
      <p:grpSpPr>
        <a:xfrm>
          <a:off x="0" y="0"/>
          <a:ext cx="0" cy="0"/>
          <a:chOff x="0" y="0"/>
          <a:chExt cx="0" cy="0"/>
        </a:xfrm>
      </p:grpSpPr>
      <p:sp>
        <p:nvSpPr>
          <p:cNvPr id="39" name="Google Shape;39;p2"/>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CONTEXTO</a:t>
            </a:r>
            <a:endParaRPr b="0" i="0" sz="1000" u="none" cap="none" strike="noStrike">
              <a:solidFill>
                <a:schemeClr val="dk1"/>
              </a:solidFill>
              <a:latin typeface="Calibri"/>
              <a:ea typeface="Calibri"/>
              <a:cs typeface="Calibri"/>
              <a:sym typeface="Calibri"/>
            </a:endParaRPr>
          </a:p>
        </p:txBody>
      </p:sp>
      <p:sp>
        <p:nvSpPr>
          <p:cNvPr id="40" name="Google Shape;40;p2"/>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02 / 20</a:t>
            </a:r>
            <a:endParaRPr b="0" i="0" sz="1000" u="none" cap="none" strike="noStrike">
              <a:solidFill>
                <a:schemeClr val="dk1"/>
              </a:solidFill>
              <a:latin typeface="Calibri"/>
              <a:ea typeface="Calibri"/>
              <a:cs typeface="Calibri"/>
              <a:sym typeface="Calibri"/>
            </a:endParaRPr>
          </a:p>
        </p:txBody>
      </p:sp>
      <p:sp>
        <p:nvSpPr>
          <p:cNvPr id="41" name="Google Shape;41;p2"/>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48650" y="868673"/>
            <a:ext cx="11094300" cy="1185900"/>
          </a:xfrm>
          <a:prstGeom prst="rect">
            <a:avLst/>
          </a:prstGeom>
          <a:noFill/>
          <a:ln>
            <a:noFill/>
          </a:ln>
        </p:spPr>
        <p:txBody>
          <a:bodyPr anchorCtr="0" anchor="ctr" bIns="45700" lIns="91425" spcFirstLastPara="1" rIns="91425" wrap="square" tIns="45700">
            <a:noAutofit/>
          </a:bodyPr>
          <a:lstStyle/>
          <a:p>
            <a:pPr indent="0" lvl="0" marL="0" marR="0" rtl="0" algn="just">
              <a:lnSpc>
                <a:spcPct val="115000"/>
              </a:lnSpc>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El LES es una enfermedad heterogénea </a:t>
            </a:r>
            <a:r>
              <a:rPr b="1" lang="en-US" sz="3200">
                <a:solidFill>
                  <a:srgbClr val="2E3138"/>
                </a:solidFill>
                <a:latin typeface="Calibri"/>
                <a:ea typeface="Calibri"/>
                <a:cs typeface="Calibri"/>
                <a:sym typeface="Calibri"/>
              </a:rPr>
              <a:t>→ Índices clínicos + biomarcadores moleculares. </a:t>
            </a:r>
            <a:endParaRPr b="1" sz="3200">
              <a:solidFill>
                <a:srgbClr val="2E3138"/>
              </a:solidFill>
              <a:latin typeface="Calibri"/>
              <a:ea typeface="Calibri"/>
              <a:cs typeface="Calibri"/>
              <a:sym typeface="Calibri"/>
            </a:endParaRPr>
          </a:p>
        </p:txBody>
      </p:sp>
      <p:sp>
        <p:nvSpPr>
          <p:cNvPr id="43" name="Google Shape;43;p2"/>
          <p:cNvSpPr/>
          <p:nvPr/>
        </p:nvSpPr>
        <p:spPr>
          <a:xfrm>
            <a:off x="548640" y="2331720"/>
            <a:ext cx="5486400" cy="1691640"/>
          </a:xfrm>
          <a:prstGeom prst="roundRect">
            <a:avLst>
              <a:gd fmla="val 6486"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68680" y="251460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1800" u="none" cap="none" strike="noStrike">
                <a:solidFill>
                  <a:srgbClr val="2E3138"/>
                </a:solidFill>
                <a:latin typeface="Calibri"/>
                <a:ea typeface="Calibri"/>
                <a:cs typeface="Calibri"/>
                <a:sym typeface="Calibri"/>
              </a:rPr>
              <a:t>Clínica variable (</a:t>
            </a:r>
            <a:r>
              <a:rPr b="1" lang="en-US" sz="1800">
                <a:solidFill>
                  <a:srgbClr val="2E3138"/>
                </a:solidFill>
                <a:latin typeface="Calibri"/>
                <a:ea typeface="Calibri"/>
                <a:cs typeface="Calibri"/>
                <a:sym typeface="Calibri"/>
              </a:rPr>
              <a:t>afectación multisistémica</a:t>
            </a:r>
            <a:r>
              <a:rPr b="1" i="0" lang="en-US" sz="1800" u="none" cap="none" strike="noStrike">
                <a:solidFill>
                  <a:srgbClr val="2E3138"/>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5" name="Google Shape;45;p2"/>
          <p:cNvSpPr/>
          <p:nvPr/>
        </p:nvSpPr>
        <p:spPr>
          <a:xfrm>
            <a:off x="868680" y="2971800"/>
            <a:ext cx="484632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6B707A"/>
              </a:buClr>
              <a:buSzPts val="1300"/>
              <a:buFont typeface="Calibri"/>
              <a:buNone/>
            </a:pPr>
            <a:r>
              <a:rPr b="0" i="0" lang="en-US" sz="1800" u="none" cap="none" strike="noStrike">
                <a:solidFill>
                  <a:srgbClr val="6B707A"/>
                </a:solidFill>
                <a:latin typeface="Calibri"/>
                <a:ea typeface="Calibri"/>
                <a:cs typeface="Calibri"/>
                <a:sym typeface="Calibri"/>
              </a:rPr>
              <a:t>Manifestaciones cutáneas, articulares, renales, hematológicas y neurológicas.</a:t>
            </a:r>
            <a:endParaRPr b="0" i="0" sz="1800" u="none" cap="none" strike="noStrike">
              <a:solidFill>
                <a:schemeClr val="dk1"/>
              </a:solidFill>
              <a:latin typeface="Calibri"/>
              <a:ea typeface="Calibri"/>
              <a:cs typeface="Calibri"/>
              <a:sym typeface="Calibri"/>
            </a:endParaRPr>
          </a:p>
        </p:txBody>
      </p:sp>
      <p:sp>
        <p:nvSpPr>
          <p:cNvPr id="46" name="Google Shape;46;p2"/>
          <p:cNvSpPr/>
          <p:nvPr/>
        </p:nvSpPr>
        <p:spPr>
          <a:xfrm>
            <a:off x="6263640" y="2331720"/>
            <a:ext cx="5486400" cy="1691640"/>
          </a:xfrm>
          <a:prstGeom prst="roundRect">
            <a:avLst>
              <a:gd fmla="val 6486"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583680" y="251460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1800" u="none" cap="none" strike="noStrike">
                <a:solidFill>
                  <a:srgbClr val="2E3138"/>
                </a:solidFill>
                <a:latin typeface="Calibri"/>
                <a:ea typeface="Calibri"/>
                <a:cs typeface="Calibri"/>
                <a:sym typeface="Calibri"/>
              </a:rPr>
              <a:t>Actividad fluctuante</a:t>
            </a:r>
            <a:endParaRPr b="0" i="0" sz="1800" u="none" cap="none" strike="noStrike">
              <a:solidFill>
                <a:schemeClr val="dk1"/>
              </a:solidFill>
              <a:latin typeface="Calibri"/>
              <a:ea typeface="Calibri"/>
              <a:cs typeface="Calibri"/>
              <a:sym typeface="Calibri"/>
            </a:endParaRPr>
          </a:p>
        </p:txBody>
      </p:sp>
      <p:sp>
        <p:nvSpPr>
          <p:cNvPr id="48" name="Google Shape;48;p2"/>
          <p:cNvSpPr/>
          <p:nvPr/>
        </p:nvSpPr>
        <p:spPr>
          <a:xfrm>
            <a:off x="6583680" y="2971800"/>
            <a:ext cx="484632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6B707A"/>
              </a:buClr>
              <a:buSzPts val="1300"/>
              <a:buFont typeface="Calibri"/>
              <a:buNone/>
            </a:pPr>
            <a:r>
              <a:rPr b="0" i="0" lang="en-US" sz="1800" u="none" cap="none" strike="noStrike">
                <a:solidFill>
                  <a:srgbClr val="6B707A"/>
                </a:solidFill>
                <a:latin typeface="Calibri"/>
                <a:ea typeface="Calibri"/>
                <a:cs typeface="Calibri"/>
                <a:sym typeface="Calibri"/>
              </a:rPr>
              <a:t>Brotes y periodos de remisión que se alternan en el tiempo.</a:t>
            </a:r>
            <a:endParaRPr b="0" i="0" sz="1800" u="none" cap="none" strike="noStrike">
              <a:solidFill>
                <a:schemeClr val="dk1"/>
              </a:solidFill>
              <a:latin typeface="Calibri"/>
              <a:ea typeface="Calibri"/>
              <a:cs typeface="Calibri"/>
              <a:sym typeface="Calibri"/>
            </a:endParaRPr>
          </a:p>
        </p:txBody>
      </p:sp>
      <p:sp>
        <p:nvSpPr>
          <p:cNvPr id="49" name="Google Shape;49;p2"/>
          <p:cNvSpPr/>
          <p:nvPr/>
        </p:nvSpPr>
        <p:spPr>
          <a:xfrm>
            <a:off x="548640" y="4251960"/>
            <a:ext cx="5486400" cy="1691640"/>
          </a:xfrm>
          <a:prstGeom prst="roundRect">
            <a:avLst>
              <a:gd fmla="val 6486"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868680" y="443484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1800" u="none" cap="none" strike="noStrike">
                <a:solidFill>
                  <a:srgbClr val="2E3138"/>
                </a:solidFill>
                <a:latin typeface="Calibri"/>
                <a:ea typeface="Calibri"/>
                <a:cs typeface="Calibri"/>
                <a:sym typeface="Calibri"/>
              </a:rPr>
              <a:t>Daño acumulado</a:t>
            </a:r>
            <a:endParaRPr b="0" i="0" sz="1800" u="none" cap="none" strike="noStrike">
              <a:solidFill>
                <a:schemeClr val="dk1"/>
              </a:solidFill>
              <a:latin typeface="Calibri"/>
              <a:ea typeface="Calibri"/>
              <a:cs typeface="Calibri"/>
              <a:sym typeface="Calibri"/>
            </a:endParaRPr>
          </a:p>
        </p:txBody>
      </p:sp>
      <p:sp>
        <p:nvSpPr>
          <p:cNvPr id="51" name="Google Shape;51;p2"/>
          <p:cNvSpPr/>
          <p:nvPr/>
        </p:nvSpPr>
        <p:spPr>
          <a:xfrm>
            <a:off x="868680" y="4892040"/>
            <a:ext cx="484632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6B707A"/>
              </a:buClr>
              <a:buSzPts val="1300"/>
              <a:buFont typeface="Calibri"/>
              <a:buNone/>
            </a:pPr>
            <a:r>
              <a:rPr b="0" i="0" lang="en-US" sz="1800" u="none" cap="none" strike="noStrike">
                <a:solidFill>
                  <a:srgbClr val="6B707A"/>
                </a:solidFill>
                <a:latin typeface="Calibri"/>
                <a:ea typeface="Calibri"/>
                <a:cs typeface="Calibri"/>
                <a:sym typeface="Calibri"/>
              </a:rPr>
              <a:t>Lesión orgánica irreversible que se incrementa con cada brote.</a:t>
            </a:r>
            <a:endParaRPr b="0" i="0" sz="1800" u="none" cap="none" strike="noStrike">
              <a:solidFill>
                <a:schemeClr val="dk1"/>
              </a:solidFill>
              <a:latin typeface="Calibri"/>
              <a:ea typeface="Calibri"/>
              <a:cs typeface="Calibri"/>
              <a:sym typeface="Calibri"/>
            </a:endParaRPr>
          </a:p>
        </p:txBody>
      </p:sp>
      <p:sp>
        <p:nvSpPr>
          <p:cNvPr id="52" name="Google Shape;52;p2"/>
          <p:cNvSpPr/>
          <p:nvPr/>
        </p:nvSpPr>
        <p:spPr>
          <a:xfrm>
            <a:off x="6263640" y="4251960"/>
            <a:ext cx="5486400" cy="1691640"/>
          </a:xfrm>
          <a:prstGeom prst="roundRect">
            <a:avLst>
              <a:gd fmla="val 6486"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583680" y="4434840"/>
            <a:ext cx="4846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1800" u="none" cap="none" strike="noStrike">
                <a:solidFill>
                  <a:srgbClr val="2E3138"/>
                </a:solidFill>
                <a:latin typeface="Calibri"/>
                <a:ea typeface="Calibri"/>
                <a:cs typeface="Calibri"/>
                <a:sym typeface="Calibri"/>
              </a:rPr>
              <a:t>Biología diversa</a:t>
            </a:r>
            <a:endParaRPr b="0" i="0" sz="1800" u="none" cap="none" strike="noStrike">
              <a:solidFill>
                <a:schemeClr val="dk1"/>
              </a:solidFill>
              <a:latin typeface="Calibri"/>
              <a:ea typeface="Calibri"/>
              <a:cs typeface="Calibri"/>
              <a:sym typeface="Calibri"/>
            </a:endParaRPr>
          </a:p>
        </p:txBody>
      </p:sp>
      <p:sp>
        <p:nvSpPr>
          <p:cNvPr id="54" name="Google Shape;54;p2"/>
          <p:cNvSpPr/>
          <p:nvPr/>
        </p:nvSpPr>
        <p:spPr>
          <a:xfrm>
            <a:off x="6583680" y="4892040"/>
            <a:ext cx="484632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5000"/>
              </a:lnSpc>
              <a:spcBef>
                <a:spcPts val="0"/>
              </a:spcBef>
              <a:spcAft>
                <a:spcPts val="0"/>
              </a:spcAft>
              <a:buClr>
                <a:srgbClr val="6B707A"/>
              </a:buClr>
              <a:buSzPts val="1300"/>
              <a:buFont typeface="Calibri"/>
              <a:buNone/>
            </a:pPr>
            <a:r>
              <a:rPr b="0" i="0" lang="en-US" sz="1800" u="none" cap="none" strike="noStrike">
                <a:solidFill>
                  <a:srgbClr val="6B707A"/>
                </a:solidFill>
                <a:latin typeface="Calibri"/>
                <a:ea typeface="Calibri"/>
                <a:cs typeface="Calibri"/>
                <a:sym typeface="Calibri"/>
              </a:rPr>
              <a:t>Mecanismos moleculares heterogéneos detrás del mismo diagnóstico.</a:t>
            </a:r>
            <a:endParaRPr b="0" i="0" sz="1800" u="none" cap="none" strike="noStrike">
              <a:solidFill>
                <a:schemeClr val="dk1"/>
              </a:solidFill>
              <a:latin typeface="Calibri"/>
              <a:ea typeface="Calibri"/>
              <a:cs typeface="Calibri"/>
              <a:sym typeface="Calibri"/>
            </a:endParaRPr>
          </a:p>
        </p:txBody>
      </p:sp>
      <p:sp>
        <p:nvSpPr>
          <p:cNvPr id="55" name="Google Shape;55;p2"/>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57" name="Google Shape;57;p2"/>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62" name="Shape 62"/>
        <p:cNvGrpSpPr/>
        <p:nvPr/>
      </p:nvGrpSpPr>
      <p:grpSpPr>
        <a:xfrm>
          <a:off x="0" y="0"/>
          <a:ext cx="0" cy="0"/>
          <a:chOff x="0" y="0"/>
          <a:chExt cx="0" cy="0"/>
        </a:xfrm>
      </p:grpSpPr>
      <p:sp>
        <p:nvSpPr>
          <p:cNvPr id="63" name="Google Shape;63;p3"/>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HIPÓTESIS BIOLÓGICA</a:t>
            </a:r>
            <a:endParaRPr b="0" i="0" sz="1000" u="none" cap="none" strike="noStrike">
              <a:solidFill>
                <a:schemeClr val="dk1"/>
              </a:solidFill>
              <a:latin typeface="Calibri"/>
              <a:ea typeface="Calibri"/>
              <a:cs typeface="Calibri"/>
              <a:sym typeface="Calibri"/>
            </a:endParaRPr>
          </a:p>
        </p:txBody>
      </p:sp>
      <p:sp>
        <p:nvSpPr>
          <p:cNvPr id="64" name="Google Shape;64;p3"/>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03 / 20</a:t>
            </a:r>
            <a:endParaRPr b="0" i="0" sz="1000" u="none" cap="none" strike="noStrike">
              <a:solidFill>
                <a:schemeClr val="dk1"/>
              </a:solidFill>
              <a:latin typeface="Calibri"/>
              <a:ea typeface="Calibri"/>
              <a:cs typeface="Calibri"/>
              <a:sym typeface="Calibri"/>
            </a:endParaRPr>
          </a:p>
        </p:txBody>
      </p:sp>
      <p:sp>
        <p:nvSpPr>
          <p:cNvPr id="65" name="Google Shape;65;p3"/>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El eje IFN-I como motor molecular</a:t>
            </a:r>
            <a:endParaRPr b="0" i="0" sz="3200" u="none" cap="none" strike="noStrike">
              <a:solidFill>
                <a:schemeClr val="dk1"/>
              </a:solidFill>
              <a:latin typeface="Calibri"/>
              <a:ea typeface="Calibri"/>
              <a:cs typeface="Calibri"/>
              <a:sym typeface="Calibri"/>
            </a:endParaRPr>
          </a:p>
        </p:txBody>
      </p:sp>
      <p:sp>
        <p:nvSpPr>
          <p:cNvPr id="67" name="Google Shape;67;p3"/>
          <p:cNvSpPr/>
          <p:nvPr/>
        </p:nvSpPr>
        <p:spPr>
          <a:xfrm>
            <a:off x="731550" y="1925600"/>
            <a:ext cx="1506300" cy="1554600"/>
          </a:xfrm>
          <a:prstGeom prst="roundRect">
            <a:avLst>
              <a:gd fmla="val 7059" name="adj"/>
            </a:avLst>
          </a:prstGeom>
          <a:solidFill>
            <a:srgbClr val="C7DCDF"/>
          </a:solidFill>
          <a:ln cap="flat" cmpd="sng" w="12700">
            <a:solidFill>
              <a:srgbClr val="C7DC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851020" y="2198090"/>
            <a:ext cx="1267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2200"/>
              <a:buFont typeface="Calibri"/>
              <a:buNone/>
            </a:pPr>
            <a:r>
              <a:rPr b="1" i="0" lang="en-US" sz="2400" u="none" cap="none" strike="noStrike">
                <a:solidFill>
                  <a:srgbClr val="2E3138"/>
                </a:solidFill>
                <a:latin typeface="Calibri"/>
                <a:ea typeface="Calibri"/>
                <a:cs typeface="Calibri"/>
                <a:sym typeface="Calibri"/>
              </a:rPr>
              <a:t>IFN-α</a:t>
            </a:r>
            <a:endParaRPr b="0" i="0" sz="2400" u="none" cap="none" strike="noStrike">
              <a:solidFill>
                <a:schemeClr val="dk1"/>
              </a:solidFill>
              <a:latin typeface="Calibri"/>
              <a:ea typeface="Calibri"/>
              <a:cs typeface="Calibri"/>
              <a:sym typeface="Calibri"/>
            </a:endParaRPr>
          </a:p>
        </p:txBody>
      </p:sp>
      <p:sp>
        <p:nvSpPr>
          <p:cNvPr id="69" name="Google Shape;69;p3"/>
          <p:cNvSpPr/>
          <p:nvPr/>
        </p:nvSpPr>
        <p:spPr>
          <a:xfrm>
            <a:off x="851052" y="2794280"/>
            <a:ext cx="1267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1200"/>
              <a:buFont typeface="Calibri"/>
              <a:buNone/>
            </a:pPr>
            <a:r>
              <a:rPr b="0" i="0" lang="en-US" sz="1600" u="none" cap="none" strike="noStrike">
                <a:solidFill>
                  <a:srgbClr val="6B707A"/>
                </a:solidFill>
                <a:latin typeface="Calibri"/>
                <a:ea typeface="Calibri"/>
                <a:cs typeface="Calibri"/>
                <a:sym typeface="Calibri"/>
              </a:rPr>
              <a:t>citoquina circulante</a:t>
            </a:r>
            <a:endParaRPr b="0" i="0" sz="1600" u="none" cap="none" strike="noStrike">
              <a:solidFill>
                <a:schemeClr val="dk1"/>
              </a:solidFill>
              <a:latin typeface="Calibri"/>
              <a:ea typeface="Calibri"/>
              <a:cs typeface="Calibri"/>
              <a:sym typeface="Calibri"/>
            </a:endParaRPr>
          </a:p>
        </p:txBody>
      </p:sp>
      <p:cxnSp>
        <p:nvCxnSpPr>
          <p:cNvPr id="70" name="Google Shape;70;p3"/>
          <p:cNvCxnSpPr/>
          <p:nvPr/>
        </p:nvCxnSpPr>
        <p:spPr>
          <a:xfrm>
            <a:off x="2306650" y="2668240"/>
            <a:ext cx="466200" cy="0"/>
          </a:xfrm>
          <a:prstGeom prst="straightConnector1">
            <a:avLst/>
          </a:prstGeom>
          <a:noFill/>
          <a:ln cap="flat" cmpd="sng" w="25400">
            <a:solidFill>
              <a:srgbClr val="2E3138"/>
            </a:solidFill>
            <a:prstDash val="solid"/>
            <a:round/>
            <a:headEnd len="sm" w="sm" type="none"/>
            <a:tailEnd len="med" w="med" type="triangle"/>
          </a:ln>
        </p:spPr>
      </p:cxnSp>
      <p:sp>
        <p:nvSpPr>
          <p:cNvPr id="71" name="Google Shape;71;p3"/>
          <p:cNvSpPr/>
          <p:nvPr/>
        </p:nvSpPr>
        <p:spPr>
          <a:xfrm>
            <a:off x="2813996" y="1936675"/>
            <a:ext cx="2610900" cy="1554600"/>
          </a:xfrm>
          <a:prstGeom prst="roundRect">
            <a:avLst>
              <a:gd fmla="val 7059"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5933213" y="1925588"/>
            <a:ext cx="2718900" cy="1554600"/>
          </a:xfrm>
          <a:prstGeom prst="roundRect">
            <a:avLst>
              <a:gd fmla="val 7059"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3021130" y="2209165"/>
            <a:ext cx="21969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2200"/>
              <a:buFont typeface="Calibri"/>
              <a:buNone/>
            </a:pPr>
            <a:r>
              <a:rPr b="1" i="0" lang="en-US" sz="2400" u="none" cap="none" strike="noStrike">
                <a:solidFill>
                  <a:srgbClr val="2E3138"/>
                </a:solidFill>
                <a:latin typeface="Calibri"/>
                <a:ea typeface="Calibri"/>
                <a:cs typeface="Calibri"/>
                <a:sym typeface="Calibri"/>
              </a:rPr>
              <a:t>ISGs (Firma Interfer</a:t>
            </a:r>
            <a:r>
              <a:rPr b="1" lang="en-US" sz="2400">
                <a:solidFill>
                  <a:srgbClr val="2E3138"/>
                </a:solidFill>
                <a:latin typeface="Calibri"/>
                <a:ea typeface="Calibri"/>
                <a:cs typeface="Calibri"/>
                <a:sym typeface="Calibri"/>
              </a:rPr>
              <a:t>ón)</a:t>
            </a:r>
            <a:endParaRPr b="0" i="0" sz="2400" u="none" cap="none" strike="noStrike">
              <a:solidFill>
                <a:schemeClr val="dk1"/>
              </a:solidFill>
              <a:latin typeface="Calibri"/>
              <a:ea typeface="Calibri"/>
              <a:cs typeface="Calibri"/>
              <a:sym typeface="Calibri"/>
            </a:endParaRPr>
          </a:p>
        </p:txBody>
      </p:sp>
      <p:sp>
        <p:nvSpPr>
          <p:cNvPr id="74" name="Google Shape;74;p3"/>
          <p:cNvSpPr/>
          <p:nvPr/>
        </p:nvSpPr>
        <p:spPr>
          <a:xfrm>
            <a:off x="3033747" y="2884605"/>
            <a:ext cx="21969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1200"/>
              <a:buFont typeface="Calibri"/>
              <a:buNone/>
            </a:pPr>
            <a:r>
              <a:rPr b="0" i="0" lang="en-US" sz="1600" u="none" cap="none" strike="noStrike">
                <a:solidFill>
                  <a:srgbClr val="6B707A"/>
                </a:solidFill>
                <a:latin typeface="Calibri"/>
                <a:ea typeface="Calibri"/>
                <a:cs typeface="Calibri"/>
                <a:sym typeface="Calibri"/>
              </a:rPr>
              <a:t>genes inducidos por IFN</a:t>
            </a:r>
            <a:endParaRPr b="0" i="0" sz="1600" u="none" cap="none" strike="noStrike">
              <a:solidFill>
                <a:schemeClr val="dk1"/>
              </a:solidFill>
              <a:latin typeface="Calibri"/>
              <a:ea typeface="Calibri"/>
              <a:cs typeface="Calibri"/>
              <a:sym typeface="Calibri"/>
            </a:endParaRPr>
          </a:p>
        </p:txBody>
      </p:sp>
      <p:cxnSp>
        <p:nvCxnSpPr>
          <p:cNvPr id="75" name="Google Shape;75;p3"/>
          <p:cNvCxnSpPr/>
          <p:nvPr/>
        </p:nvCxnSpPr>
        <p:spPr>
          <a:xfrm>
            <a:off x="8698039" y="2702823"/>
            <a:ext cx="411600" cy="0"/>
          </a:xfrm>
          <a:prstGeom prst="straightConnector1">
            <a:avLst/>
          </a:prstGeom>
          <a:noFill/>
          <a:ln cap="flat" cmpd="sng" w="25400">
            <a:solidFill>
              <a:srgbClr val="2E3138"/>
            </a:solidFill>
            <a:prstDash val="solid"/>
            <a:round/>
            <a:headEnd len="sm" w="sm" type="none"/>
            <a:tailEnd len="med" w="med" type="triangle"/>
          </a:ln>
        </p:spPr>
      </p:cxnSp>
      <p:sp>
        <p:nvSpPr>
          <p:cNvPr id="76" name="Google Shape;76;p3"/>
          <p:cNvSpPr/>
          <p:nvPr/>
        </p:nvSpPr>
        <p:spPr>
          <a:xfrm>
            <a:off x="9155239" y="1925583"/>
            <a:ext cx="2304900" cy="1554600"/>
          </a:xfrm>
          <a:prstGeom prst="roundRect">
            <a:avLst>
              <a:gd fmla="val 7059" name="adj"/>
            </a:avLst>
          </a:prstGeom>
          <a:solidFill>
            <a:srgbClr val="E8DCD2"/>
          </a:solidFill>
          <a:ln cap="flat" cmpd="sng" w="12700">
            <a:solidFill>
              <a:srgbClr val="E8DC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9338094" y="2235573"/>
            <a:ext cx="19392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2200"/>
              <a:buFont typeface="Calibri"/>
              <a:buNone/>
            </a:pPr>
            <a:r>
              <a:rPr b="1" i="0" lang="en-US" sz="2400" u="none" cap="none" strike="noStrike">
                <a:solidFill>
                  <a:srgbClr val="2E3138"/>
                </a:solidFill>
                <a:latin typeface="Calibri"/>
                <a:ea typeface="Calibri"/>
                <a:cs typeface="Calibri"/>
                <a:sym typeface="Calibri"/>
              </a:rPr>
              <a:t>Fenotipo</a:t>
            </a:r>
            <a:endParaRPr b="0" i="0" sz="2400" u="none" cap="none" strike="noStrike">
              <a:solidFill>
                <a:schemeClr val="dk1"/>
              </a:solidFill>
              <a:latin typeface="Calibri"/>
              <a:ea typeface="Calibri"/>
              <a:cs typeface="Calibri"/>
              <a:sym typeface="Calibri"/>
            </a:endParaRPr>
          </a:p>
        </p:txBody>
      </p:sp>
      <p:sp>
        <p:nvSpPr>
          <p:cNvPr id="78" name="Google Shape;78;p3"/>
          <p:cNvSpPr/>
          <p:nvPr/>
        </p:nvSpPr>
        <p:spPr>
          <a:xfrm>
            <a:off x="9338119" y="2794263"/>
            <a:ext cx="19392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1200"/>
              <a:buFont typeface="Calibri"/>
              <a:buNone/>
            </a:pPr>
            <a:r>
              <a:rPr b="0" i="0" lang="en-US" sz="1600" u="none" cap="none" strike="noStrike">
                <a:solidFill>
                  <a:srgbClr val="6B707A"/>
                </a:solidFill>
                <a:latin typeface="Calibri"/>
                <a:ea typeface="Calibri"/>
                <a:cs typeface="Calibri"/>
                <a:sym typeface="Calibri"/>
              </a:rPr>
              <a:t>actividad · daño</a:t>
            </a:r>
            <a:endParaRPr b="0" i="0" sz="1600" u="none" cap="none" strike="noStrike">
              <a:solidFill>
                <a:schemeClr val="dk1"/>
              </a:solidFill>
              <a:latin typeface="Calibri"/>
              <a:ea typeface="Calibri"/>
              <a:cs typeface="Calibri"/>
              <a:sym typeface="Calibri"/>
            </a:endParaRPr>
          </a:p>
        </p:txBody>
      </p:sp>
      <p:sp>
        <p:nvSpPr>
          <p:cNvPr id="79" name="Google Shape;79;p3"/>
          <p:cNvSpPr/>
          <p:nvPr/>
        </p:nvSpPr>
        <p:spPr>
          <a:xfrm>
            <a:off x="731550" y="3740225"/>
            <a:ext cx="10728600" cy="1024200"/>
          </a:xfrm>
          <a:prstGeom prst="rect">
            <a:avLst/>
          </a:prstGeom>
          <a:noFill/>
          <a:ln>
            <a:noFill/>
          </a:ln>
        </p:spPr>
        <p:txBody>
          <a:bodyPr anchorCtr="0" anchor="ctr" bIns="45700" lIns="91425" spcFirstLastPara="1" rIns="91425" wrap="square" tIns="45700">
            <a:noAutofit/>
          </a:bodyPr>
          <a:lstStyle/>
          <a:p>
            <a:pPr indent="0" lvl="0" marL="0" marR="0" rtl="0" algn="just">
              <a:lnSpc>
                <a:spcPct val="115000"/>
              </a:lnSpc>
              <a:spcBef>
                <a:spcPts val="0"/>
              </a:spcBef>
              <a:spcAft>
                <a:spcPts val="0"/>
              </a:spcAft>
              <a:buClr>
                <a:srgbClr val="2E3138"/>
              </a:buClr>
              <a:buSzPts val="1400"/>
              <a:buFont typeface="Calibri"/>
              <a:buNone/>
            </a:pPr>
            <a:r>
              <a:rPr b="1" lang="en-US" sz="2100">
                <a:solidFill>
                  <a:srgbClr val="2E3138"/>
                </a:solidFill>
                <a:latin typeface="Calibri"/>
                <a:ea typeface="Calibri"/>
                <a:cs typeface="Calibri"/>
                <a:sym typeface="Calibri"/>
              </a:rPr>
              <a:t>¿Cómo se relacionan los niveles transcriptómico y proteómico sérico entre sí y con la actividad clínica del LES medida mediante índices validados (SLEDAI-2K, SLE-DAS, LLDAS, DORIS)?</a:t>
            </a:r>
            <a:endParaRPr b="1" sz="2100" u="none" cap="none" strike="noStrike">
              <a:solidFill>
                <a:schemeClr val="dk1"/>
              </a:solidFill>
              <a:latin typeface="Calibri"/>
              <a:ea typeface="Calibri"/>
              <a:cs typeface="Calibri"/>
              <a:sym typeface="Calibri"/>
            </a:endParaRPr>
          </a:p>
        </p:txBody>
      </p:sp>
      <p:sp>
        <p:nvSpPr>
          <p:cNvPr id="80" name="Google Shape;80;p3"/>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82" name="Google Shape;82;p3"/>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cxnSp>
        <p:nvCxnSpPr>
          <p:cNvPr id="83" name="Google Shape;83;p3"/>
          <p:cNvCxnSpPr/>
          <p:nvPr/>
        </p:nvCxnSpPr>
        <p:spPr>
          <a:xfrm rot="5400000">
            <a:off x="5694550" y="2550925"/>
            <a:ext cx="3900" cy="303900"/>
          </a:xfrm>
          <a:prstGeom prst="straightConnector1">
            <a:avLst/>
          </a:prstGeom>
          <a:noFill/>
          <a:ln cap="flat" cmpd="sng" w="38100">
            <a:solidFill>
              <a:schemeClr val="dk2"/>
            </a:solidFill>
            <a:prstDash val="solid"/>
            <a:round/>
            <a:headEnd len="med" w="med" type="none"/>
            <a:tailEnd len="med" w="med" type="none"/>
          </a:ln>
        </p:spPr>
      </p:cxnSp>
      <p:cxnSp>
        <p:nvCxnSpPr>
          <p:cNvPr id="84" name="Google Shape;84;p3"/>
          <p:cNvCxnSpPr/>
          <p:nvPr/>
        </p:nvCxnSpPr>
        <p:spPr>
          <a:xfrm rot="10800000">
            <a:off x="5694550" y="2550925"/>
            <a:ext cx="3900" cy="303900"/>
          </a:xfrm>
          <a:prstGeom prst="straightConnector1">
            <a:avLst/>
          </a:prstGeom>
          <a:noFill/>
          <a:ln cap="flat" cmpd="sng" w="38100">
            <a:solidFill>
              <a:schemeClr val="dk2"/>
            </a:solidFill>
            <a:prstDash val="solid"/>
            <a:round/>
            <a:headEnd len="med" w="med" type="none"/>
            <a:tailEnd len="med" w="med" type="none"/>
          </a:ln>
        </p:spPr>
      </p:cxnSp>
      <p:sp>
        <p:nvSpPr>
          <p:cNvPr id="85" name="Google Shape;85;p3"/>
          <p:cNvSpPr/>
          <p:nvPr/>
        </p:nvSpPr>
        <p:spPr>
          <a:xfrm>
            <a:off x="6091875" y="2143738"/>
            <a:ext cx="24396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2200"/>
              <a:buFont typeface="Calibri"/>
              <a:buNone/>
            </a:pPr>
            <a:r>
              <a:rPr b="1" lang="en-US" sz="2400">
                <a:solidFill>
                  <a:srgbClr val="2E3138"/>
                </a:solidFill>
                <a:latin typeface="Calibri"/>
                <a:ea typeface="Calibri"/>
                <a:cs typeface="Calibri"/>
                <a:sym typeface="Calibri"/>
              </a:rPr>
              <a:t>Panel proteómico </a:t>
            </a:r>
            <a:endParaRPr b="0" i="0" sz="2400" u="none" cap="none" strike="noStrike">
              <a:solidFill>
                <a:schemeClr val="dk1"/>
              </a:solidFill>
              <a:latin typeface="Calibri"/>
              <a:ea typeface="Calibri"/>
              <a:cs typeface="Calibri"/>
              <a:sym typeface="Calibri"/>
            </a:endParaRPr>
          </a:p>
        </p:txBody>
      </p:sp>
      <p:sp>
        <p:nvSpPr>
          <p:cNvPr id="86" name="Google Shape;86;p3"/>
          <p:cNvSpPr/>
          <p:nvPr/>
        </p:nvSpPr>
        <p:spPr>
          <a:xfrm>
            <a:off x="6056663" y="2769525"/>
            <a:ext cx="2501700" cy="594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1200"/>
              <a:buFont typeface="Calibri"/>
              <a:buNone/>
            </a:pPr>
            <a:r>
              <a:rPr lang="en-US" sz="1600">
                <a:solidFill>
                  <a:srgbClr val="6B707A"/>
                </a:solidFill>
                <a:latin typeface="Calibri"/>
                <a:ea typeface="Calibri"/>
                <a:cs typeface="Calibri"/>
                <a:sym typeface="Calibri"/>
              </a:rPr>
              <a:t>Complemento, marcadores metabólicos e inflamatorios</a:t>
            </a:r>
            <a:endParaRPr b="0" i="0" sz="1600" u="none" cap="none" strike="noStrike">
              <a:solidFill>
                <a:schemeClr val="dk1"/>
              </a:solidFill>
              <a:latin typeface="Calibri"/>
              <a:ea typeface="Calibri"/>
              <a:cs typeface="Calibri"/>
              <a:sym typeface="Calibri"/>
            </a:endParaRPr>
          </a:p>
        </p:txBody>
      </p:sp>
      <p:sp>
        <p:nvSpPr>
          <p:cNvPr id="87" name="Google Shape;87;p3"/>
          <p:cNvSpPr/>
          <p:nvPr/>
        </p:nvSpPr>
        <p:spPr>
          <a:xfrm>
            <a:off x="731700" y="5424488"/>
            <a:ext cx="10728600" cy="594300"/>
          </a:xfrm>
          <a:prstGeom prst="rect">
            <a:avLst/>
          </a:prstGeom>
          <a:noFill/>
          <a:ln>
            <a:noFill/>
          </a:ln>
        </p:spPr>
        <p:txBody>
          <a:bodyPr anchorCtr="0" anchor="ctr" bIns="45700" lIns="91425" spcFirstLastPara="1" rIns="91425" wrap="square" tIns="45700">
            <a:noAutofit/>
          </a:bodyPr>
          <a:lstStyle/>
          <a:p>
            <a:pPr indent="0" lvl="0" marL="0" marR="0" rtl="0" algn="just">
              <a:lnSpc>
                <a:spcPct val="115000"/>
              </a:lnSpc>
              <a:spcBef>
                <a:spcPts val="0"/>
              </a:spcBef>
              <a:spcAft>
                <a:spcPts val="0"/>
              </a:spcAft>
              <a:buClr>
                <a:srgbClr val="2E3138"/>
              </a:buClr>
              <a:buSzPts val="1400"/>
              <a:buFont typeface="Calibri"/>
              <a:buNone/>
            </a:pPr>
            <a:r>
              <a:rPr b="1" lang="en-US" sz="2300">
                <a:solidFill>
                  <a:srgbClr val="2E3138"/>
                </a:solidFill>
                <a:latin typeface="Calibri"/>
                <a:ea typeface="Calibri"/>
                <a:cs typeface="Calibri"/>
                <a:sym typeface="Calibri"/>
              </a:rPr>
              <a:t>INTEGRACIÓN MULTI</a:t>
            </a:r>
            <a:r>
              <a:rPr b="1" lang="en-US" sz="2300">
                <a:solidFill>
                  <a:srgbClr val="2E3138"/>
                </a:solidFill>
                <a:latin typeface="Calibri"/>
                <a:ea typeface="Calibri"/>
                <a:cs typeface="Calibri"/>
                <a:sym typeface="Calibri"/>
              </a:rPr>
              <a:t>-</a:t>
            </a:r>
            <a:r>
              <a:rPr b="1" lang="en-US" sz="2300">
                <a:solidFill>
                  <a:srgbClr val="2E3138"/>
                </a:solidFill>
                <a:latin typeface="Calibri"/>
                <a:ea typeface="Calibri"/>
                <a:cs typeface="Calibri"/>
                <a:sym typeface="Calibri"/>
              </a:rPr>
              <a:t>ÓMICA (MOFA2 + DIABLO) + PREDICTIVOS PENALIZADOS (LASSO)</a:t>
            </a:r>
            <a:endParaRPr b="1" sz="2300" u="none" cap="none" strike="noStrike">
              <a:solidFill>
                <a:schemeClr val="dk1"/>
              </a:solidFill>
              <a:latin typeface="Calibri"/>
              <a:ea typeface="Calibri"/>
              <a:cs typeface="Calibri"/>
              <a:sym typeface="Calibri"/>
            </a:endParaRPr>
          </a:p>
        </p:txBody>
      </p:sp>
      <p:cxnSp>
        <p:nvCxnSpPr>
          <p:cNvPr id="88" name="Google Shape;88;p3"/>
          <p:cNvCxnSpPr>
            <a:stCxn id="79" idx="2"/>
            <a:endCxn id="87" idx="0"/>
          </p:cNvCxnSpPr>
          <p:nvPr/>
        </p:nvCxnSpPr>
        <p:spPr>
          <a:xfrm>
            <a:off x="6095850" y="4764425"/>
            <a:ext cx="300" cy="660000"/>
          </a:xfrm>
          <a:prstGeom prst="straightConnector1">
            <a:avLst/>
          </a:prstGeom>
          <a:noFill/>
          <a:ln cap="flat" cmpd="sng" w="25400">
            <a:solidFill>
              <a:srgbClr val="2E3138"/>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93" name="Shape 93"/>
        <p:cNvGrpSpPr/>
        <p:nvPr/>
      </p:nvGrpSpPr>
      <p:grpSpPr>
        <a:xfrm>
          <a:off x="0" y="0"/>
          <a:ext cx="0" cy="0"/>
          <a:chOff x="0" y="0"/>
          <a:chExt cx="0" cy="0"/>
        </a:xfrm>
      </p:grpSpPr>
      <p:sp>
        <p:nvSpPr>
          <p:cNvPr id="94" name="Google Shape;94;p4"/>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MÉTODOS · COHORTE</a:t>
            </a:r>
            <a:endParaRPr b="0" i="0" sz="1000" u="none" cap="none" strike="noStrike">
              <a:solidFill>
                <a:schemeClr val="dk1"/>
              </a:solidFill>
              <a:latin typeface="Calibri"/>
              <a:ea typeface="Calibri"/>
              <a:cs typeface="Calibri"/>
              <a:sym typeface="Calibri"/>
            </a:endParaRPr>
          </a:p>
        </p:txBody>
      </p:sp>
      <p:sp>
        <p:nvSpPr>
          <p:cNvPr id="95" name="Google Shape;95;p4"/>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04 / 20</a:t>
            </a:r>
            <a:endParaRPr b="0" i="0" sz="1000" u="none" cap="none" strike="noStrike">
              <a:solidFill>
                <a:schemeClr val="dk1"/>
              </a:solidFill>
              <a:latin typeface="Calibri"/>
              <a:ea typeface="Calibri"/>
              <a:cs typeface="Calibri"/>
              <a:sym typeface="Calibri"/>
            </a:endParaRPr>
          </a:p>
        </p:txBody>
      </p:sp>
      <p:sp>
        <p:nvSpPr>
          <p:cNvPr id="96" name="Google Shape;96;p4"/>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548690" y="754405"/>
            <a:ext cx="110943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Cohorte y selección de participantes</a:t>
            </a:r>
            <a:endParaRPr b="0" i="0" sz="3200" u="none" cap="none" strike="noStrike">
              <a:solidFill>
                <a:schemeClr val="dk1"/>
              </a:solidFill>
              <a:latin typeface="Calibri"/>
              <a:ea typeface="Calibri"/>
              <a:cs typeface="Calibri"/>
              <a:sym typeface="Calibri"/>
            </a:endParaRPr>
          </a:p>
        </p:txBody>
      </p:sp>
      <p:sp>
        <p:nvSpPr>
          <p:cNvPr id="98" name="Google Shape;98;p4"/>
          <p:cNvSpPr/>
          <p:nvPr/>
        </p:nvSpPr>
        <p:spPr>
          <a:xfrm>
            <a:off x="548690" y="1531640"/>
            <a:ext cx="11094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1800" u="none" cap="none" strike="noStrike">
                <a:solidFill>
                  <a:srgbClr val="6B707A"/>
                </a:solidFill>
                <a:latin typeface="Calibri"/>
                <a:ea typeface="Calibri"/>
                <a:cs typeface="Calibri"/>
                <a:sym typeface="Calibri"/>
              </a:rPr>
              <a:t>252 pacientes LES · 24 controles sanos · 251 LES + 24 controles en el análisis transcriptómico.</a:t>
            </a:r>
            <a:endParaRPr b="0" i="0" sz="1800" u="none" cap="none" strike="noStrike">
              <a:solidFill>
                <a:schemeClr val="dk1"/>
              </a:solidFill>
              <a:latin typeface="Calibri"/>
              <a:ea typeface="Calibri"/>
              <a:cs typeface="Calibri"/>
              <a:sym typeface="Calibri"/>
            </a:endParaRPr>
          </a:p>
        </p:txBody>
      </p:sp>
      <p:sp>
        <p:nvSpPr>
          <p:cNvPr id="99" name="Google Shape;99;p4"/>
          <p:cNvSpPr/>
          <p:nvPr/>
        </p:nvSpPr>
        <p:spPr>
          <a:xfrm>
            <a:off x="548650" y="2057400"/>
            <a:ext cx="7315200" cy="4131300"/>
          </a:xfrm>
          <a:prstGeom prst="roundRect">
            <a:avLst>
              <a:gd fmla="val 2963"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 name="Google Shape;100;p4"/>
          <p:cNvCxnSpPr/>
          <p:nvPr/>
        </p:nvCxnSpPr>
        <p:spPr>
          <a:xfrm>
            <a:off x="2514600" y="3063240"/>
            <a:ext cx="0" cy="237744"/>
          </a:xfrm>
          <a:prstGeom prst="straightConnector1">
            <a:avLst/>
          </a:prstGeom>
          <a:noFill/>
          <a:ln cap="flat" cmpd="sng" w="19050">
            <a:solidFill>
              <a:srgbClr val="0F6B78"/>
            </a:solidFill>
            <a:prstDash val="solid"/>
            <a:round/>
            <a:headEnd len="sm" w="sm" type="none"/>
            <a:tailEnd len="med" w="med" type="triangle"/>
          </a:ln>
        </p:spPr>
      </p:cxnSp>
      <p:cxnSp>
        <p:nvCxnSpPr>
          <p:cNvPr id="101" name="Google Shape;101;p4"/>
          <p:cNvCxnSpPr/>
          <p:nvPr/>
        </p:nvCxnSpPr>
        <p:spPr>
          <a:xfrm>
            <a:off x="2514600" y="3941064"/>
            <a:ext cx="0" cy="237744"/>
          </a:xfrm>
          <a:prstGeom prst="straightConnector1">
            <a:avLst/>
          </a:prstGeom>
          <a:noFill/>
          <a:ln cap="flat" cmpd="sng" w="19050">
            <a:solidFill>
              <a:srgbClr val="0F6B78"/>
            </a:solidFill>
            <a:prstDash val="solid"/>
            <a:round/>
            <a:headEnd len="sm" w="sm" type="none"/>
            <a:tailEnd len="med" w="med" type="triangle"/>
          </a:ln>
        </p:spPr>
      </p:cxnSp>
      <p:cxnSp>
        <p:nvCxnSpPr>
          <p:cNvPr id="102" name="Google Shape;102;p4"/>
          <p:cNvCxnSpPr/>
          <p:nvPr/>
        </p:nvCxnSpPr>
        <p:spPr>
          <a:xfrm>
            <a:off x="2514600" y="4818888"/>
            <a:ext cx="0" cy="237744"/>
          </a:xfrm>
          <a:prstGeom prst="straightConnector1">
            <a:avLst/>
          </a:prstGeom>
          <a:noFill/>
          <a:ln cap="flat" cmpd="sng" w="19050">
            <a:solidFill>
              <a:srgbClr val="0F6B78"/>
            </a:solidFill>
            <a:prstDash val="solid"/>
            <a:round/>
            <a:headEnd len="sm" w="sm" type="none"/>
            <a:tailEnd len="med" w="med" type="triangle"/>
          </a:ln>
        </p:spPr>
      </p:cxnSp>
      <p:sp>
        <p:nvSpPr>
          <p:cNvPr id="103" name="Google Shape;103;p4"/>
          <p:cNvSpPr/>
          <p:nvPr/>
        </p:nvSpPr>
        <p:spPr>
          <a:xfrm>
            <a:off x="868680" y="2441448"/>
            <a:ext cx="3291840" cy="621792"/>
          </a:xfrm>
          <a:prstGeom prst="roundRect">
            <a:avLst>
              <a:gd fmla="val 8824" name="adj"/>
            </a:avLst>
          </a:prstGeom>
          <a:solidFill>
            <a:srgbClr val="EAF1F2"/>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1005840" y="2478024"/>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100"/>
              <a:buFont typeface="Calibri"/>
              <a:buNone/>
            </a:pPr>
            <a:r>
              <a:rPr b="1" i="0" lang="en-US" sz="1100" u="none" cap="none" strike="noStrike">
                <a:solidFill>
                  <a:srgbClr val="2E3138"/>
                </a:solidFill>
                <a:latin typeface="Calibri"/>
                <a:ea typeface="Calibri"/>
                <a:cs typeface="Calibri"/>
                <a:sym typeface="Calibri"/>
              </a:rPr>
              <a:t>Pacientes preseleccionados</a:t>
            </a:r>
            <a:endParaRPr b="0" i="0" sz="1100" u="none" cap="none" strike="noStrike">
              <a:solidFill>
                <a:schemeClr val="dk1"/>
              </a:solidFill>
              <a:latin typeface="Calibri"/>
              <a:ea typeface="Calibri"/>
              <a:cs typeface="Calibri"/>
              <a:sym typeface="Calibri"/>
            </a:endParaRPr>
          </a:p>
        </p:txBody>
      </p:sp>
      <p:sp>
        <p:nvSpPr>
          <p:cNvPr id="105" name="Google Shape;105;p4"/>
          <p:cNvSpPr/>
          <p:nvPr/>
        </p:nvSpPr>
        <p:spPr>
          <a:xfrm>
            <a:off x="1005840" y="2688336"/>
            <a:ext cx="301752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diagnóstico clínico de LES</a:t>
            </a:r>
            <a:endParaRPr b="0" i="0" sz="900" u="none" cap="none" strike="noStrike">
              <a:solidFill>
                <a:schemeClr val="dk1"/>
              </a:solidFill>
              <a:latin typeface="Calibri"/>
              <a:ea typeface="Calibri"/>
              <a:cs typeface="Calibri"/>
              <a:sym typeface="Calibri"/>
            </a:endParaRPr>
          </a:p>
        </p:txBody>
      </p:sp>
      <p:sp>
        <p:nvSpPr>
          <p:cNvPr id="106" name="Google Shape;106;p4"/>
          <p:cNvSpPr/>
          <p:nvPr/>
        </p:nvSpPr>
        <p:spPr>
          <a:xfrm>
            <a:off x="1005840" y="2788920"/>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6B78"/>
              </a:buClr>
              <a:buSzPts val="1050"/>
              <a:buFont typeface="Calibri"/>
              <a:buNone/>
            </a:pPr>
            <a:r>
              <a:rPr b="1" i="0" lang="en-US" sz="1050" u="none" cap="none" strike="noStrike">
                <a:solidFill>
                  <a:srgbClr val="0F6B78"/>
                </a:solidFill>
                <a:latin typeface="Calibri"/>
                <a:ea typeface="Calibri"/>
                <a:cs typeface="Calibri"/>
                <a:sym typeface="Calibri"/>
              </a:rPr>
              <a:t>n = 400</a:t>
            </a:r>
            <a:endParaRPr b="0" i="0" sz="1050" u="none" cap="none" strike="noStrike">
              <a:solidFill>
                <a:schemeClr val="dk1"/>
              </a:solidFill>
              <a:latin typeface="Calibri"/>
              <a:ea typeface="Calibri"/>
              <a:cs typeface="Calibri"/>
              <a:sym typeface="Calibri"/>
            </a:endParaRPr>
          </a:p>
        </p:txBody>
      </p:sp>
      <p:sp>
        <p:nvSpPr>
          <p:cNvPr id="107" name="Google Shape;107;p4"/>
          <p:cNvSpPr/>
          <p:nvPr/>
        </p:nvSpPr>
        <p:spPr>
          <a:xfrm>
            <a:off x="868680" y="3319272"/>
            <a:ext cx="3291840" cy="621792"/>
          </a:xfrm>
          <a:prstGeom prst="roundRect">
            <a:avLst>
              <a:gd fmla="val 8824" name="adj"/>
            </a:avLst>
          </a:prstGeom>
          <a:solidFill>
            <a:srgbClr val="EAF1F2"/>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1005840" y="3355848"/>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100"/>
              <a:buFont typeface="Calibri"/>
              <a:buNone/>
            </a:pPr>
            <a:r>
              <a:rPr b="1" i="0" lang="en-US" sz="1100" u="none" cap="none" strike="noStrike">
                <a:solidFill>
                  <a:srgbClr val="2E3138"/>
                </a:solidFill>
                <a:latin typeface="Calibri"/>
                <a:ea typeface="Calibri"/>
                <a:cs typeface="Calibri"/>
                <a:sym typeface="Calibri"/>
              </a:rPr>
              <a:t>Pacientes elegibles</a:t>
            </a:r>
            <a:endParaRPr b="0" i="0" sz="1100" u="none" cap="none" strike="noStrike">
              <a:solidFill>
                <a:schemeClr val="dk1"/>
              </a:solidFill>
              <a:latin typeface="Calibri"/>
              <a:ea typeface="Calibri"/>
              <a:cs typeface="Calibri"/>
              <a:sym typeface="Calibri"/>
            </a:endParaRPr>
          </a:p>
        </p:txBody>
      </p:sp>
      <p:sp>
        <p:nvSpPr>
          <p:cNvPr id="109" name="Google Shape;109;p4"/>
          <p:cNvSpPr/>
          <p:nvPr/>
        </p:nvSpPr>
        <p:spPr>
          <a:xfrm>
            <a:off x="1005840" y="3566160"/>
            <a:ext cx="301752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criterios de inclusión / exclusión</a:t>
            </a:r>
            <a:endParaRPr b="0" i="0" sz="900" u="none" cap="none" strike="noStrike">
              <a:solidFill>
                <a:schemeClr val="dk1"/>
              </a:solidFill>
              <a:latin typeface="Calibri"/>
              <a:ea typeface="Calibri"/>
              <a:cs typeface="Calibri"/>
              <a:sym typeface="Calibri"/>
            </a:endParaRPr>
          </a:p>
        </p:txBody>
      </p:sp>
      <p:sp>
        <p:nvSpPr>
          <p:cNvPr id="110" name="Google Shape;110;p4"/>
          <p:cNvSpPr/>
          <p:nvPr/>
        </p:nvSpPr>
        <p:spPr>
          <a:xfrm>
            <a:off x="1005840" y="3666744"/>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6B78"/>
              </a:buClr>
              <a:buSzPts val="1050"/>
              <a:buFont typeface="Calibri"/>
              <a:buNone/>
            </a:pPr>
            <a:r>
              <a:rPr b="1" i="0" lang="en-US" sz="1050" u="none" cap="none" strike="noStrike">
                <a:solidFill>
                  <a:srgbClr val="0F6B78"/>
                </a:solidFill>
                <a:latin typeface="Calibri"/>
                <a:ea typeface="Calibri"/>
                <a:cs typeface="Calibri"/>
                <a:sym typeface="Calibri"/>
              </a:rPr>
              <a:t>n = 313</a:t>
            </a:r>
            <a:endParaRPr b="0" i="0" sz="1050" u="none" cap="none" strike="noStrike">
              <a:solidFill>
                <a:schemeClr val="dk1"/>
              </a:solidFill>
              <a:latin typeface="Calibri"/>
              <a:ea typeface="Calibri"/>
              <a:cs typeface="Calibri"/>
              <a:sym typeface="Calibri"/>
            </a:endParaRPr>
          </a:p>
        </p:txBody>
      </p:sp>
      <p:sp>
        <p:nvSpPr>
          <p:cNvPr id="111" name="Google Shape;111;p4"/>
          <p:cNvSpPr/>
          <p:nvPr/>
        </p:nvSpPr>
        <p:spPr>
          <a:xfrm>
            <a:off x="868680" y="4197096"/>
            <a:ext cx="3291840" cy="621792"/>
          </a:xfrm>
          <a:prstGeom prst="roundRect">
            <a:avLst>
              <a:gd fmla="val 8824" name="adj"/>
            </a:avLst>
          </a:prstGeom>
          <a:solidFill>
            <a:srgbClr val="EAF1F2"/>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1005840" y="4233672"/>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100"/>
              <a:buFont typeface="Calibri"/>
              <a:buNone/>
            </a:pPr>
            <a:r>
              <a:rPr b="1" i="0" lang="en-US" sz="1100" u="none" cap="none" strike="noStrike">
                <a:solidFill>
                  <a:srgbClr val="2E3138"/>
                </a:solidFill>
                <a:latin typeface="Calibri"/>
                <a:ea typeface="Calibri"/>
                <a:cs typeface="Calibri"/>
                <a:sym typeface="Calibri"/>
              </a:rPr>
              <a:t>Muestra analítica final</a:t>
            </a:r>
            <a:endParaRPr b="0" i="0" sz="1100" u="none" cap="none" strike="noStrike">
              <a:solidFill>
                <a:schemeClr val="dk1"/>
              </a:solidFill>
              <a:latin typeface="Calibri"/>
              <a:ea typeface="Calibri"/>
              <a:cs typeface="Calibri"/>
              <a:sym typeface="Calibri"/>
            </a:endParaRPr>
          </a:p>
        </p:txBody>
      </p:sp>
      <p:sp>
        <p:nvSpPr>
          <p:cNvPr id="113" name="Google Shape;113;p4"/>
          <p:cNvSpPr/>
          <p:nvPr/>
        </p:nvSpPr>
        <p:spPr>
          <a:xfrm>
            <a:off x="1005840" y="4443984"/>
            <a:ext cx="301752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datos clínicos + biomarcadores séricos</a:t>
            </a:r>
            <a:endParaRPr b="0" i="0" sz="900" u="none" cap="none" strike="noStrike">
              <a:solidFill>
                <a:schemeClr val="dk1"/>
              </a:solidFill>
              <a:latin typeface="Calibri"/>
              <a:ea typeface="Calibri"/>
              <a:cs typeface="Calibri"/>
              <a:sym typeface="Calibri"/>
            </a:endParaRPr>
          </a:p>
        </p:txBody>
      </p:sp>
      <p:sp>
        <p:nvSpPr>
          <p:cNvPr id="114" name="Google Shape;114;p4"/>
          <p:cNvSpPr/>
          <p:nvPr/>
        </p:nvSpPr>
        <p:spPr>
          <a:xfrm>
            <a:off x="1005840" y="4544568"/>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6B78"/>
              </a:buClr>
              <a:buSzPts val="1050"/>
              <a:buFont typeface="Calibri"/>
              <a:buNone/>
            </a:pPr>
            <a:r>
              <a:rPr b="1" i="0" lang="en-US" sz="1050" u="none" cap="none" strike="noStrike">
                <a:solidFill>
                  <a:srgbClr val="0F6B78"/>
                </a:solidFill>
                <a:latin typeface="Calibri"/>
                <a:ea typeface="Calibri"/>
                <a:cs typeface="Calibri"/>
                <a:sym typeface="Calibri"/>
              </a:rPr>
              <a:t>n = 252 LES</a:t>
            </a:r>
            <a:endParaRPr b="0" i="0" sz="1050" u="none" cap="none" strike="noStrike">
              <a:solidFill>
                <a:schemeClr val="dk1"/>
              </a:solidFill>
              <a:latin typeface="Calibri"/>
              <a:ea typeface="Calibri"/>
              <a:cs typeface="Calibri"/>
              <a:sym typeface="Calibri"/>
            </a:endParaRPr>
          </a:p>
        </p:txBody>
      </p:sp>
      <p:sp>
        <p:nvSpPr>
          <p:cNvPr id="115" name="Google Shape;115;p4"/>
          <p:cNvSpPr/>
          <p:nvPr/>
        </p:nvSpPr>
        <p:spPr>
          <a:xfrm>
            <a:off x="868680" y="5074920"/>
            <a:ext cx="3291840" cy="822960"/>
          </a:xfrm>
          <a:prstGeom prst="roundRect">
            <a:avLst>
              <a:gd fmla="val 6667" name="adj"/>
            </a:avLst>
          </a:prstGeom>
          <a:solidFill>
            <a:srgbClr val="C7DCDF"/>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1005840" y="5111496"/>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100"/>
              <a:buFont typeface="Calibri"/>
              <a:buNone/>
            </a:pPr>
            <a:r>
              <a:rPr b="1" i="0" lang="en-US" sz="1100" u="none" cap="none" strike="noStrike">
                <a:solidFill>
                  <a:srgbClr val="2E3138"/>
                </a:solidFill>
                <a:latin typeface="Calibri"/>
                <a:ea typeface="Calibri"/>
                <a:cs typeface="Calibri"/>
                <a:sym typeface="Calibri"/>
              </a:rPr>
              <a:t>Cohorte transcriptómica final</a:t>
            </a:r>
            <a:endParaRPr b="0" i="0" sz="1100" u="none" cap="none" strike="noStrike">
              <a:solidFill>
                <a:schemeClr val="dk1"/>
              </a:solidFill>
              <a:latin typeface="Calibri"/>
              <a:ea typeface="Calibri"/>
              <a:cs typeface="Calibri"/>
              <a:sym typeface="Calibri"/>
            </a:endParaRPr>
          </a:p>
        </p:txBody>
      </p:sp>
      <p:sp>
        <p:nvSpPr>
          <p:cNvPr id="117" name="Google Shape;117;p4"/>
          <p:cNvSpPr/>
          <p:nvPr/>
        </p:nvSpPr>
        <p:spPr>
          <a:xfrm>
            <a:off x="1005840" y="5321808"/>
            <a:ext cx="301752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IFN-score · 72 ISGs · NanoString</a:t>
            </a:r>
            <a:endParaRPr b="0" i="0" sz="900" u="none" cap="none" strike="noStrike">
              <a:solidFill>
                <a:schemeClr val="dk1"/>
              </a:solidFill>
              <a:latin typeface="Calibri"/>
              <a:ea typeface="Calibri"/>
              <a:cs typeface="Calibri"/>
              <a:sym typeface="Calibri"/>
            </a:endParaRPr>
          </a:p>
        </p:txBody>
      </p:sp>
      <p:sp>
        <p:nvSpPr>
          <p:cNvPr id="118" name="Google Shape;118;p4"/>
          <p:cNvSpPr/>
          <p:nvPr/>
        </p:nvSpPr>
        <p:spPr>
          <a:xfrm>
            <a:off x="1005840" y="5623560"/>
            <a:ext cx="3017520" cy="23774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6B78"/>
              </a:buClr>
              <a:buSzPts val="1050"/>
              <a:buFont typeface="Calibri"/>
              <a:buNone/>
            </a:pPr>
            <a:r>
              <a:rPr b="1" i="0" lang="en-US" sz="1050" u="none" cap="none" strike="noStrike">
                <a:solidFill>
                  <a:srgbClr val="0F6B78"/>
                </a:solidFill>
                <a:latin typeface="Calibri"/>
                <a:ea typeface="Calibri"/>
                <a:cs typeface="Calibri"/>
                <a:sym typeface="Calibri"/>
              </a:rPr>
              <a:t>n = 251 LES  +  24 controles</a:t>
            </a:r>
            <a:endParaRPr b="0" i="0" sz="1050" u="none" cap="none" strike="noStrike">
              <a:solidFill>
                <a:schemeClr val="dk1"/>
              </a:solidFill>
              <a:latin typeface="Calibri"/>
              <a:ea typeface="Calibri"/>
              <a:cs typeface="Calibri"/>
              <a:sym typeface="Calibri"/>
            </a:endParaRPr>
          </a:p>
        </p:txBody>
      </p:sp>
      <p:cxnSp>
        <p:nvCxnSpPr>
          <p:cNvPr id="119" name="Google Shape;119;p4"/>
          <p:cNvCxnSpPr/>
          <p:nvPr/>
        </p:nvCxnSpPr>
        <p:spPr>
          <a:xfrm>
            <a:off x="4160520" y="2752344"/>
            <a:ext cx="502920" cy="0"/>
          </a:xfrm>
          <a:prstGeom prst="straightConnector1">
            <a:avLst/>
          </a:prstGeom>
          <a:noFill/>
          <a:ln cap="flat" cmpd="sng" w="12700">
            <a:solidFill>
              <a:srgbClr val="A84B2F"/>
            </a:solidFill>
            <a:prstDash val="dash"/>
            <a:round/>
            <a:headEnd len="sm" w="sm" type="none"/>
            <a:tailEnd len="sm" w="sm" type="none"/>
          </a:ln>
        </p:spPr>
      </p:cxnSp>
      <p:sp>
        <p:nvSpPr>
          <p:cNvPr id="120" name="Google Shape;120;p4"/>
          <p:cNvSpPr/>
          <p:nvPr/>
        </p:nvSpPr>
        <p:spPr>
          <a:xfrm>
            <a:off x="4663550" y="2134050"/>
            <a:ext cx="2880300" cy="1122300"/>
          </a:xfrm>
          <a:prstGeom prst="roundRect">
            <a:avLst>
              <a:gd fmla="val 5310" name="adj"/>
            </a:avLst>
          </a:prstGeom>
          <a:solidFill>
            <a:srgbClr val="FBEEE7"/>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823438" y="2192851"/>
            <a:ext cx="2606100" cy="10047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A84B2F"/>
              </a:buClr>
              <a:buSzPts val="1050"/>
              <a:buFont typeface="Calibri"/>
              <a:buNone/>
            </a:pPr>
            <a:r>
              <a:rPr b="1" i="0" lang="en-US" sz="1050" u="none" cap="none" strike="noStrike">
                <a:solidFill>
                  <a:srgbClr val="A84B2F"/>
                </a:solidFill>
                <a:latin typeface="Calibri"/>
                <a:ea typeface="Calibri"/>
                <a:cs typeface="Calibri"/>
                <a:sym typeface="Calibri"/>
              </a:rPr>
              <a:t>Excluidos  (n = 87)</a:t>
            </a:r>
            <a:endParaRPr b="0" i="0" sz="10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3138"/>
              </a:buClr>
              <a:buSzPts val="950"/>
              <a:buFont typeface="Calibri"/>
              <a:buNone/>
            </a:pPr>
            <a:r>
              <a:rPr b="0" i="0" lang="en-US" sz="950" u="none" cap="none" strike="noStrike">
                <a:solidFill>
                  <a:srgbClr val="2E3138"/>
                </a:solidFill>
                <a:latin typeface="Calibri"/>
                <a:ea typeface="Calibri"/>
                <a:cs typeface="Calibri"/>
                <a:sym typeface="Calibri"/>
              </a:rPr>
              <a:t>· No cumplen ≥4 criterios ACR: 45</a:t>
            </a:r>
            <a:endParaRPr b="0" i="0" sz="10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3138"/>
              </a:buClr>
              <a:buSzPts val="950"/>
              <a:buFont typeface="Calibri"/>
              <a:buNone/>
            </a:pPr>
            <a:r>
              <a:rPr b="0" i="0" lang="en-US" sz="950" u="none" cap="none" strike="noStrike">
                <a:solidFill>
                  <a:srgbClr val="2E3138"/>
                </a:solidFill>
                <a:latin typeface="Calibri"/>
                <a:ea typeface="Calibri"/>
                <a:cs typeface="Calibri"/>
                <a:sym typeface="Calibri"/>
              </a:rPr>
              <a:t>· Consentimiento incompleto: 20</a:t>
            </a:r>
            <a:endParaRPr b="0" i="0" sz="10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3138"/>
              </a:buClr>
              <a:buSzPts val="950"/>
              <a:buFont typeface="Calibri"/>
              <a:buNone/>
            </a:pPr>
            <a:r>
              <a:rPr b="0" i="0" lang="en-US" sz="950" u="none" cap="none" strike="noStrike">
                <a:solidFill>
                  <a:srgbClr val="2E3138"/>
                </a:solidFill>
                <a:latin typeface="Calibri"/>
                <a:ea typeface="Calibri"/>
                <a:cs typeface="Calibri"/>
                <a:sym typeface="Calibri"/>
              </a:rPr>
              <a:t>· Tratamiento con anifrolumab: 12</a:t>
            </a:r>
            <a:endParaRPr b="0" i="0" sz="10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3138"/>
              </a:buClr>
              <a:buSzPts val="950"/>
              <a:buFont typeface="Calibri"/>
              <a:buNone/>
            </a:pPr>
            <a:r>
              <a:rPr b="0" i="0" lang="en-US" sz="950" u="none" cap="none" strike="noStrike">
                <a:solidFill>
                  <a:srgbClr val="2E3138"/>
                </a:solidFill>
                <a:latin typeface="Calibri"/>
                <a:ea typeface="Calibri"/>
                <a:cs typeface="Calibri"/>
                <a:sym typeface="Calibri"/>
              </a:rPr>
              <a:t>· Muestras séricas inadecuadas: 10</a:t>
            </a:r>
            <a:endParaRPr b="0" i="0" sz="1050" u="none" cap="none" strike="noStrike">
              <a:solidFill>
                <a:schemeClr val="dk1"/>
              </a:solidFill>
              <a:latin typeface="Calibri"/>
              <a:ea typeface="Calibri"/>
              <a:cs typeface="Calibri"/>
              <a:sym typeface="Calibri"/>
            </a:endParaRPr>
          </a:p>
        </p:txBody>
      </p:sp>
      <p:cxnSp>
        <p:nvCxnSpPr>
          <p:cNvPr id="122" name="Google Shape;122;p4"/>
          <p:cNvCxnSpPr/>
          <p:nvPr/>
        </p:nvCxnSpPr>
        <p:spPr>
          <a:xfrm>
            <a:off x="4160520" y="3630168"/>
            <a:ext cx="502920" cy="0"/>
          </a:xfrm>
          <a:prstGeom prst="straightConnector1">
            <a:avLst/>
          </a:prstGeom>
          <a:noFill/>
          <a:ln cap="flat" cmpd="sng" w="12700">
            <a:solidFill>
              <a:srgbClr val="A84B2F"/>
            </a:solidFill>
            <a:prstDash val="dash"/>
            <a:round/>
            <a:headEnd len="sm" w="sm" type="none"/>
            <a:tailEnd len="sm" w="sm" type="none"/>
          </a:ln>
        </p:spPr>
      </p:cxnSp>
      <p:sp>
        <p:nvSpPr>
          <p:cNvPr id="123" name="Google Shape;123;p4"/>
          <p:cNvSpPr/>
          <p:nvPr/>
        </p:nvSpPr>
        <p:spPr>
          <a:xfrm>
            <a:off x="4663450" y="3333001"/>
            <a:ext cx="2880300" cy="777900"/>
          </a:xfrm>
          <a:prstGeom prst="roundRect">
            <a:avLst>
              <a:gd fmla="val 8000" name="adj"/>
            </a:avLst>
          </a:prstGeom>
          <a:solidFill>
            <a:srgbClr val="FBEEE7"/>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4823425" y="3447365"/>
            <a:ext cx="2606100" cy="539400"/>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A84B2F"/>
              </a:buClr>
              <a:buSzPts val="1050"/>
              <a:buFont typeface="Calibri"/>
              <a:buNone/>
            </a:pPr>
            <a:r>
              <a:rPr b="1" i="0" lang="en-US" sz="1050" u="none" cap="none" strike="noStrike">
                <a:solidFill>
                  <a:srgbClr val="A84B2F"/>
                </a:solidFill>
                <a:latin typeface="Calibri"/>
                <a:ea typeface="Calibri"/>
                <a:cs typeface="Calibri"/>
                <a:sym typeface="Calibri"/>
              </a:rPr>
              <a:t>Excluidos del transcriptómico  (n = 61)</a:t>
            </a:r>
            <a:endParaRPr b="0" i="0" sz="10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3138"/>
              </a:buClr>
              <a:buSzPts val="950"/>
              <a:buFont typeface="Calibri"/>
              <a:buNone/>
            </a:pPr>
            <a:r>
              <a:rPr b="0" i="0" lang="en-US" sz="950" u="none" cap="none" strike="noStrike">
                <a:solidFill>
                  <a:srgbClr val="2E3138"/>
                </a:solidFill>
                <a:latin typeface="Calibri"/>
                <a:ea typeface="Calibri"/>
                <a:cs typeface="Calibri"/>
                <a:sym typeface="Calibri"/>
              </a:rPr>
              <a:t>· Sin datos NanoString completos</a:t>
            </a:r>
            <a:endParaRPr b="0" i="0" sz="10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3138"/>
              </a:buClr>
              <a:buSzPts val="950"/>
              <a:buFont typeface="Calibri"/>
              <a:buNone/>
            </a:pPr>
            <a:r>
              <a:rPr b="0" i="0" lang="en-US" sz="950" u="none" cap="none" strike="noStrike">
                <a:solidFill>
                  <a:srgbClr val="2E3138"/>
                </a:solidFill>
                <a:latin typeface="Calibri"/>
                <a:ea typeface="Calibri"/>
                <a:cs typeface="Calibri"/>
                <a:sym typeface="Calibri"/>
              </a:rPr>
              <a:t>· Fallo en control de calidad (QC)</a:t>
            </a:r>
            <a:endParaRPr b="0" i="0" sz="1050" u="none" cap="none" strike="noStrike">
              <a:solidFill>
                <a:schemeClr val="dk1"/>
              </a:solidFill>
              <a:latin typeface="Calibri"/>
              <a:ea typeface="Calibri"/>
              <a:cs typeface="Calibri"/>
              <a:sym typeface="Calibri"/>
            </a:endParaRPr>
          </a:p>
        </p:txBody>
      </p:sp>
      <p:cxnSp>
        <p:nvCxnSpPr>
          <p:cNvPr id="125" name="Google Shape;125;p4"/>
          <p:cNvCxnSpPr/>
          <p:nvPr/>
        </p:nvCxnSpPr>
        <p:spPr>
          <a:xfrm>
            <a:off x="4160520" y="4507992"/>
            <a:ext cx="502920" cy="0"/>
          </a:xfrm>
          <a:prstGeom prst="straightConnector1">
            <a:avLst/>
          </a:prstGeom>
          <a:noFill/>
          <a:ln cap="flat" cmpd="sng" w="12700">
            <a:solidFill>
              <a:srgbClr val="A84B2F"/>
            </a:solidFill>
            <a:prstDash val="dash"/>
            <a:round/>
            <a:headEnd len="sm" w="sm" type="none"/>
            <a:tailEnd len="sm" w="sm" type="none"/>
          </a:ln>
        </p:spPr>
      </p:cxnSp>
      <p:sp>
        <p:nvSpPr>
          <p:cNvPr id="126" name="Google Shape;126;p4"/>
          <p:cNvSpPr/>
          <p:nvPr/>
        </p:nvSpPr>
        <p:spPr>
          <a:xfrm>
            <a:off x="4663440" y="4279392"/>
            <a:ext cx="2880360" cy="548640"/>
          </a:xfrm>
          <a:prstGeom prst="roundRect">
            <a:avLst>
              <a:gd fmla="val 10000" name="adj"/>
            </a:avLst>
          </a:prstGeom>
          <a:solidFill>
            <a:srgbClr val="FBEEE7"/>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4800600" y="4352544"/>
            <a:ext cx="2606040" cy="402336"/>
          </a:xfrm>
          <a:prstGeom prst="rect">
            <a:avLst/>
          </a:prstGeom>
          <a:noFill/>
          <a:ln>
            <a:noFill/>
          </a:ln>
        </p:spPr>
        <p:txBody>
          <a:bodyPr anchorCtr="0" anchor="t" bIns="45700" lIns="91425" spcFirstLastPara="1" rIns="91425" wrap="square" tIns="45700">
            <a:noAutofit/>
          </a:bodyPr>
          <a:lstStyle/>
          <a:p>
            <a:pPr indent="0" lvl="0" marL="0" marR="0" rtl="0" algn="l">
              <a:lnSpc>
                <a:spcPct val="120000"/>
              </a:lnSpc>
              <a:spcBef>
                <a:spcPts val="0"/>
              </a:spcBef>
              <a:spcAft>
                <a:spcPts val="0"/>
              </a:spcAft>
              <a:buClr>
                <a:srgbClr val="A84B2F"/>
              </a:buClr>
              <a:buSzPts val="1050"/>
              <a:buFont typeface="Calibri"/>
              <a:buNone/>
            </a:pPr>
            <a:r>
              <a:rPr b="1" i="0" lang="en-US" sz="1050" u="none" cap="none" strike="noStrike">
                <a:solidFill>
                  <a:srgbClr val="A84B2F"/>
                </a:solidFill>
                <a:latin typeface="Calibri"/>
                <a:ea typeface="Calibri"/>
                <a:cs typeface="Calibri"/>
                <a:sym typeface="Calibri"/>
              </a:rPr>
              <a:t>Excluido  (n = 1)</a:t>
            </a:r>
            <a:endParaRPr b="0" i="0" sz="10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2E3138"/>
              </a:buClr>
              <a:buSzPts val="950"/>
              <a:buFont typeface="Calibri"/>
              <a:buNone/>
            </a:pPr>
            <a:r>
              <a:rPr b="0" i="0" lang="en-US" sz="950" u="none" cap="none" strike="noStrike">
                <a:solidFill>
                  <a:srgbClr val="2E3138"/>
                </a:solidFill>
                <a:latin typeface="Calibri"/>
                <a:ea typeface="Calibri"/>
                <a:cs typeface="Calibri"/>
                <a:sym typeface="Calibri"/>
              </a:rPr>
              <a:t>· Fallo en normalización NanoString</a:t>
            </a:r>
            <a:endParaRPr b="0" i="0" sz="1050" u="none" cap="none" strike="noStrike">
              <a:solidFill>
                <a:schemeClr val="dk1"/>
              </a:solidFill>
              <a:latin typeface="Calibri"/>
              <a:ea typeface="Calibri"/>
              <a:cs typeface="Calibri"/>
              <a:sym typeface="Calibri"/>
            </a:endParaRPr>
          </a:p>
        </p:txBody>
      </p:sp>
      <p:cxnSp>
        <p:nvCxnSpPr>
          <p:cNvPr id="128" name="Google Shape;128;p4"/>
          <p:cNvCxnSpPr/>
          <p:nvPr/>
        </p:nvCxnSpPr>
        <p:spPr>
          <a:xfrm>
            <a:off x="4160520" y="5486400"/>
            <a:ext cx="502920" cy="0"/>
          </a:xfrm>
          <a:prstGeom prst="straightConnector1">
            <a:avLst/>
          </a:prstGeom>
          <a:noFill/>
          <a:ln cap="flat" cmpd="sng" w="12700">
            <a:solidFill>
              <a:srgbClr val="6B707A"/>
            </a:solidFill>
            <a:prstDash val="dash"/>
            <a:round/>
            <a:headEnd len="sm" w="sm" type="none"/>
            <a:tailEnd len="sm" w="sm" type="none"/>
          </a:ln>
        </p:spPr>
      </p:cxnSp>
      <p:sp>
        <p:nvSpPr>
          <p:cNvPr id="129" name="Google Shape;129;p4"/>
          <p:cNvSpPr/>
          <p:nvPr/>
        </p:nvSpPr>
        <p:spPr>
          <a:xfrm>
            <a:off x="4663440" y="5074920"/>
            <a:ext cx="2880360" cy="822960"/>
          </a:xfrm>
          <a:prstGeom prst="roundRect">
            <a:avLst>
              <a:gd fmla="val 6667" name="adj"/>
            </a:avLst>
          </a:prstGeom>
          <a:solidFill>
            <a:srgbClr val="EEF0F4"/>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
          <p:cNvSpPr/>
          <p:nvPr/>
        </p:nvSpPr>
        <p:spPr>
          <a:xfrm>
            <a:off x="4800600" y="5120640"/>
            <a:ext cx="2606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50"/>
              <a:buFont typeface="Calibri"/>
              <a:buNone/>
            </a:pPr>
            <a:r>
              <a:rPr b="1" i="0" lang="en-US" sz="1050" u="none" cap="none" strike="noStrike">
                <a:solidFill>
                  <a:srgbClr val="2E3138"/>
                </a:solidFill>
                <a:latin typeface="Calibri"/>
                <a:ea typeface="Calibri"/>
                <a:cs typeface="Calibri"/>
                <a:sym typeface="Calibri"/>
              </a:rPr>
              <a:t>Controles sanos</a:t>
            </a:r>
            <a:endParaRPr b="0" i="0" sz="1050" u="none" cap="none" strike="noStrike">
              <a:solidFill>
                <a:schemeClr val="dk1"/>
              </a:solidFill>
              <a:latin typeface="Calibri"/>
              <a:ea typeface="Calibri"/>
              <a:cs typeface="Calibri"/>
              <a:sym typeface="Calibri"/>
            </a:endParaRPr>
          </a:p>
        </p:txBody>
      </p:sp>
      <p:sp>
        <p:nvSpPr>
          <p:cNvPr id="131" name="Google Shape;131;p4"/>
          <p:cNvSpPr/>
          <p:nvPr/>
        </p:nvSpPr>
        <p:spPr>
          <a:xfrm>
            <a:off x="4800600" y="5394960"/>
            <a:ext cx="2606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950" u="none" cap="none" strike="noStrike">
                <a:solidFill>
                  <a:srgbClr val="6B707A"/>
                </a:solidFill>
                <a:latin typeface="Calibri"/>
                <a:ea typeface="Calibri"/>
                <a:cs typeface="Calibri"/>
                <a:sym typeface="Calibri"/>
              </a:rPr>
              <a:t>frecuencia-pareados por edad y sexo  ·  n = 24</a:t>
            </a:r>
            <a:endParaRPr b="0" i="0" sz="950" u="none" cap="none" strike="noStrike">
              <a:solidFill>
                <a:schemeClr val="dk1"/>
              </a:solidFill>
              <a:latin typeface="Calibri"/>
              <a:ea typeface="Calibri"/>
              <a:cs typeface="Calibri"/>
              <a:sym typeface="Calibri"/>
            </a:endParaRPr>
          </a:p>
        </p:txBody>
      </p:sp>
      <p:sp>
        <p:nvSpPr>
          <p:cNvPr id="132" name="Google Shape;132;p4"/>
          <p:cNvSpPr/>
          <p:nvPr/>
        </p:nvSpPr>
        <p:spPr>
          <a:xfrm>
            <a:off x="8046875" y="2125975"/>
            <a:ext cx="3566100" cy="1004700"/>
          </a:xfrm>
          <a:prstGeom prst="roundRect">
            <a:avLst>
              <a:gd fmla="val 9231"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8321195" y="2203275"/>
            <a:ext cx="3017400" cy="541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3400"/>
              <a:buFont typeface="Calibri"/>
              <a:buNone/>
            </a:pPr>
            <a:r>
              <a:rPr b="1" i="0" lang="en-US" sz="3400" u="none" cap="none" strike="noStrike">
                <a:solidFill>
                  <a:srgbClr val="0F6B78"/>
                </a:solidFill>
                <a:latin typeface="Calibri"/>
                <a:ea typeface="Calibri"/>
                <a:cs typeface="Calibri"/>
                <a:sym typeface="Calibri"/>
              </a:rPr>
              <a:t>252</a:t>
            </a:r>
            <a:endParaRPr b="0" i="0" sz="3400" u="none" cap="none" strike="noStrike">
              <a:solidFill>
                <a:schemeClr val="dk1"/>
              </a:solidFill>
              <a:latin typeface="Calibri"/>
              <a:ea typeface="Calibri"/>
              <a:cs typeface="Calibri"/>
              <a:sym typeface="Calibri"/>
            </a:endParaRPr>
          </a:p>
        </p:txBody>
      </p:sp>
      <p:sp>
        <p:nvSpPr>
          <p:cNvPr id="134" name="Google Shape;134;p4"/>
          <p:cNvSpPr/>
          <p:nvPr/>
        </p:nvSpPr>
        <p:spPr>
          <a:xfrm>
            <a:off x="8321195" y="2703304"/>
            <a:ext cx="3017400" cy="386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1800" u="none" cap="none" strike="noStrike">
                <a:solidFill>
                  <a:srgbClr val="6B707A"/>
                </a:solidFill>
                <a:latin typeface="Calibri"/>
                <a:ea typeface="Calibri"/>
                <a:cs typeface="Calibri"/>
                <a:sym typeface="Calibri"/>
              </a:rPr>
              <a:t>pacientes LES</a:t>
            </a:r>
            <a:endParaRPr b="0" i="0" sz="1800" u="none" cap="none" strike="noStrike">
              <a:solidFill>
                <a:schemeClr val="dk1"/>
              </a:solidFill>
              <a:latin typeface="Calibri"/>
              <a:ea typeface="Calibri"/>
              <a:cs typeface="Calibri"/>
              <a:sym typeface="Calibri"/>
            </a:endParaRPr>
          </a:p>
        </p:txBody>
      </p:sp>
      <p:sp>
        <p:nvSpPr>
          <p:cNvPr id="135" name="Google Shape;135;p4"/>
          <p:cNvSpPr/>
          <p:nvPr/>
        </p:nvSpPr>
        <p:spPr>
          <a:xfrm>
            <a:off x="8046725" y="3335525"/>
            <a:ext cx="3566100" cy="1004700"/>
          </a:xfrm>
          <a:prstGeom prst="roundRect">
            <a:avLst>
              <a:gd fmla="val 9231"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8321045" y="3412825"/>
            <a:ext cx="3017400" cy="541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3400"/>
              <a:buFont typeface="Calibri"/>
              <a:buNone/>
            </a:pPr>
            <a:r>
              <a:rPr b="1" i="0" lang="en-US" sz="3400" u="none" cap="none" strike="noStrike">
                <a:solidFill>
                  <a:srgbClr val="0F6B78"/>
                </a:solidFill>
                <a:latin typeface="Calibri"/>
                <a:ea typeface="Calibri"/>
                <a:cs typeface="Calibri"/>
                <a:sym typeface="Calibri"/>
              </a:rPr>
              <a:t>24</a:t>
            </a:r>
            <a:endParaRPr b="0" i="0" sz="3400" u="none" cap="none" strike="noStrike">
              <a:solidFill>
                <a:schemeClr val="dk1"/>
              </a:solidFill>
              <a:latin typeface="Calibri"/>
              <a:ea typeface="Calibri"/>
              <a:cs typeface="Calibri"/>
              <a:sym typeface="Calibri"/>
            </a:endParaRPr>
          </a:p>
        </p:txBody>
      </p:sp>
      <p:sp>
        <p:nvSpPr>
          <p:cNvPr id="137" name="Google Shape;137;p4"/>
          <p:cNvSpPr/>
          <p:nvPr/>
        </p:nvSpPr>
        <p:spPr>
          <a:xfrm>
            <a:off x="8321045" y="3938465"/>
            <a:ext cx="3017400" cy="386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1800" u="none" cap="none" strike="noStrike">
                <a:solidFill>
                  <a:srgbClr val="6B707A"/>
                </a:solidFill>
                <a:latin typeface="Calibri"/>
                <a:ea typeface="Calibri"/>
                <a:cs typeface="Calibri"/>
                <a:sym typeface="Calibri"/>
              </a:rPr>
              <a:t>controles sanos</a:t>
            </a:r>
            <a:endParaRPr b="0" i="0" sz="1800" u="none" cap="none" strike="noStrike">
              <a:solidFill>
                <a:schemeClr val="dk1"/>
              </a:solidFill>
              <a:latin typeface="Calibri"/>
              <a:ea typeface="Calibri"/>
              <a:cs typeface="Calibri"/>
              <a:sym typeface="Calibri"/>
            </a:endParaRPr>
          </a:p>
        </p:txBody>
      </p:sp>
      <p:sp>
        <p:nvSpPr>
          <p:cNvPr id="138" name="Google Shape;138;p4"/>
          <p:cNvSpPr/>
          <p:nvPr/>
        </p:nvSpPr>
        <p:spPr>
          <a:xfrm>
            <a:off x="8046725" y="4525899"/>
            <a:ext cx="3566100" cy="1662900"/>
          </a:xfrm>
          <a:prstGeom prst="roundRect">
            <a:avLst>
              <a:gd fmla="val 9231"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8321225" y="4586051"/>
            <a:ext cx="3017400" cy="777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400"/>
              <a:buFont typeface="Calibri"/>
              <a:buNone/>
            </a:pPr>
            <a:r>
              <a:rPr b="1" i="0" lang="en-US" sz="3400" u="none" cap="none" strike="noStrike">
                <a:solidFill>
                  <a:srgbClr val="2E3138"/>
                </a:solidFill>
                <a:latin typeface="Calibri"/>
                <a:ea typeface="Calibri"/>
                <a:cs typeface="Calibri"/>
                <a:sym typeface="Calibri"/>
              </a:rPr>
              <a:t>251 + 24</a:t>
            </a:r>
            <a:endParaRPr b="0" i="0" sz="3400" u="none" cap="none" strike="noStrike">
              <a:solidFill>
                <a:schemeClr val="dk1"/>
              </a:solidFill>
              <a:latin typeface="Calibri"/>
              <a:ea typeface="Calibri"/>
              <a:cs typeface="Calibri"/>
              <a:sym typeface="Calibri"/>
            </a:endParaRPr>
          </a:p>
        </p:txBody>
      </p:sp>
      <p:sp>
        <p:nvSpPr>
          <p:cNvPr id="140" name="Google Shape;140;p4"/>
          <p:cNvSpPr/>
          <p:nvPr/>
        </p:nvSpPr>
        <p:spPr>
          <a:xfrm>
            <a:off x="8321220" y="5349252"/>
            <a:ext cx="3017400" cy="63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1800" u="none" cap="none" strike="noStrike">
                <a:solidFill>
                  <a:srgbClr val="6B707A"/>
                </a:solidFill>
                <a:latin typeface="Calibri"/>
                <a:ea typeface="Calibri"/>
                <a:cs typeface="Calibri"/>
                <a:sym typeface="Calibri"/>
              </a:rPr>
              <a:t>análisis transcriptómico final</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07A"/>
              </a:buClr>
              <a:buSzPts val="1200"/>
              <a:buFont typeface="Calibri"/>
              <a:buNone/>
            </a:pPr>
            <a:r>
              <a:rPr b="0" i="0" lang="en-US" sz="1800" u="none" cap="none" strike="noStrike">
                <a:solidFill>
                  <a:srgbClr val="6B707A"/>
                </a:solidFill>
                <a:latin typeface="Calibri"/>
                <a:ea typeface="Calibri"/>
                <a:cs typeface="Calibri"/>
                <a:sym typeface="Calibri"/>
              </a:rPr>
              <a:t>tras exclusión de 1 muestra</a:t>
            </a:r>
            <a:endParaRPr b="0" i="0" sz="1800" u="none" cap="none" strike="noStrike">
              <a:solidFill>
                <a:schemeClr val="dk1"/>
              </a:solidFill>
              <a:latin typeface="Calibri"/>
              <a:ea typeface="Calibri"/>
              <a:cs typeface="Calibri"/>
              <a:sym typeface="Calibri"/>
            </a:endParaRPr>
          </a:p>
        </p:txBody>
      </p:sp>
      <p:sp>
        <p:nvSpPr>
          <p:cNvPr id="141" name="Google Shape;141;p4"/>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143" name="Google Shape;143;p4"/>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48" name="Shape 148"/>
        <p:cNvGrpSpPr/>
        <p:nvPr/>
      </p:nvGrpSpPr>
      <p:grpSpPr>
        <a:xfrm>
          <a:off x="0" y="0"/>
          <a:ext cx="0" cy="0"/>
          <a:chOff x="0" y="0"/>
          <a:chExt cx="0" cy="0"/>
        </a:xfrm>
      </p:grpSpPr>
      <p:sp>
        <p:nvSpPr>
          <p:cNvPr id="149" name="Google Shape;149;p5"/>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MÉTODOS · PIPELINE</a:t>
            </a:r>
            <a:endParaRPr b="0" i="0" sz="1000" u="none" cap="none" strike="noStrike">
              <a:solidFill>
                <a:schemeClr val="dk1"/>
              </a:solidFill>
              <a:latin typeface="Calibri"/>
              <a:ea typeface="Calibri"/>
              <a:cs typeface="Calibri"/>
              <a:sym typeface="Calibri"/>
            </a:endParaRPr>
          </a:p>
        </p:txBody>
      </p:sp>
      <p:sp>
        <p:nvSpPr>
          <p:cNvPr id="150" name="Google Shape;150;p5"/>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05 / 20</a:t>
            </a:r>
            <a:endParaRPr b="0" i="0" sz="1000" u="none" cap="none" strike="noStrike">
              <a:solidFill>
                <a:schemeClr val="dk1"/>
              </a:solidFill>
              <a:latin typeface="Calibri"/>
              <a:ea typeface="Calibri"/>
              <a:cs typeface="Calibri"/>
              <a:sym typeface="Calibri"/>
            </a:endParaRPr>
          </a:p>
        </p:txBody>
      </p:sp>
      <p:sp>
        <p:nvSpPr>
          <p:cNvPr id="151" name="Google Shape;151;p5"/>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Arquitectura analítica del estudio</a:t>
            </a:r>
            <a:endParaRPr b="0" i="0" sz="3200" u="none" cap="none" strike="noStrike">
              <a:solidFill>
                <a:schemeClr val="dk1"/>
              </a:solidFill>
              <a:latin typeface="Calibri"/>
              <a:ea typeface="Calibri"/>
              <a:cs typeface="Calibri"/>
              <a:sym typeface="Calibri"/>
            </a:endParaRPr>
          </a:p>
        </p:txBody>
      </p:sp>
      <p:sp>
        <p:nvSpPr>
          <p:cNvPr id="153" name="Google Shape;153;p5"/>
          <p:cNvSpPr/>
          <p:nvPr/>
        </p:nvSpPr>
        <p:spPr>
          <a:xfrm>
            <a:off x="556475" y="1737350"/>
            <a:ext cx="11094300" cy="4513800"/>
          </a:xfrm>
          <a:prstGeom prst="roundRect">
            <a:avLst>
              <a:gd fmla="val 279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822950" y="2005272"/>
            <a:ext cx="2331600" cy="1185600"/>
          </a:xfrm>
          <a:prstGeom prst="roundRect">
            <a:avLst>
              <a:gd fmla="val 8421"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55" name="Google Shape;155;p5"/>
          <p:cNvSpPr/>
          <p:nvPr/>
        </p:nvSpPr>
        <p:spPr>
          <a:xfrm>
            <a:off x="987542" y="2155032"/>
            <a:ext cx="2002500" cy="399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300"/>
              <a:buFont typeface="Calibri"/>
              <a:buNone/>
            </a:pPr>
            <a:r>
              <a:rPr b="1" i="0" lang="en-US" sz="1700" u="none" cap="none" strike="noStrike">
                <a:solidFill>
                  <a:srgbClr val="0F6B78"/>
                </a:solidFill>
                <a:latin typeface="Calibri"/>
                <a:ea typeface="Calibri"/>
                <a:cs typeface="Calibri"/>
                <a:sym typeface="Calibri"/>
              </a:rPr>
              <a:t>72 ISGs</a:t>
            </a:r>
            <a:endParaRPr b="0" i="0" sz="1700" u="none" cap="none" strike="noStrike">
              <a:solidFill>
                <a:schemeClr val="dk1"/>
              </a:solidFill>
              <a:latin typeface="Calibri"/>
              <a:ea typeface="Calibri"/>
              <a:cs typeface="Calibri"/>
              <a:sym typeface="Calibri"/>
            </a:endParaRPr>
          </a:p>
        </p:txBody>
      </p:sp>
      <p:sp>
        <p:nvSpPr>
          <p:cNvPr id="156" name="Google Shape;156;p5"/>
          <p:cNvSpPr/>
          <p:nvPr/>
        </p:nvSpPr>
        <p:spPr>
          <a:xfrm>
            <a:off x="987542" y="2566874"/>
            <a:ext cx="2002500" cy="5619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6B707A"/>
              </a:buClr>
              <a:buSzPts val="1050"/>
              <a:buFont typeface="Calibri"/>
              <a:buNone/>
            </a:pPr>
            <a:r>
              <a:rPr b="0" i="0" lang="en-US" sz="1450" u="none" cap="none" strike="noStrike">
                <a:solidFill>
                  <a:srgbClr val="6B707A"/>
                </a:solidFill>
                <a:latin typeface="Calibri"/>
                <a:ea typeface="Calibri"/>
                <a:cs typeface="Calibri"/>
                <a:sym typeface="Calibri"/>
              </a:rPr>
              <a:t>NanoString nCounter</a:t>
            </a:r>
            <a:endParaRPr b="0" i="0" sz="1450" u="none" cap="none" strike="noStrike">
              <a:solidFill>
                <a:schemeClr val="dk1"/>
              </a:solidFill>
              <a:latin typeface="Calibri"/>
              <a:ea typeface="Calibri"/>
              <a:cs typeface="Calibri"/>
              <a:sym typeface="Calibri"/>
            </a:endParaRPr>
          </a:p>
        </p:txBody>
      </p:sp>
      <p:sp>
        <p:nvSpPr>
          <p:cNvPr id="157" name="Google Shape;157;p5"/>
          <p:cNvSpPr/>
          <p:nvPr/>
        </p:nvSpPr>
        <p:spPr>
          <a:xfrm>
            <a:off x="822950" y="3415517"/>
            <a:ext cx="2331600" cy="1185600"/>
          </a:xfrm>
          <a:prstGeom prst="roundRect">
            <a:avLst>
              <a:gd fmla="val 8421"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58" name="Google Shape;158;p5"/>
          <p:cNvSpPr/>
          <p:nvPr/>
        </p:nvSpPr>
        <p:spPr>
          <a:xfrm>
            <a:off x="987542" y="3565278"/>
            <a:ext cx="2002500" cy="399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300"/>
              <a:buFont typeface="Calibri"/>
              <a:buNone/>
            </a:pPr>
            <a:r>
              <a:rPr b="1" i="0" lang="en-US" sz="1700" u="none" cap="none" strike="noStrike">
                <a:solidFill>
                  <a:srgbClr val="0F6B78"/>
                </a:solidFill>
                <a:latin typeface="Calibri"/>
                <a:ea typeface="Calibri"/>
                <a:cs typeface="Calibri"/>
                <a:sym typeface="Calibri"/>
              </a:rPr>
              <a:t>Proteoma sérico</a:t>
            </a:r>
            <a:endParaRPr b="0" i="0" sz="1700" u="none" cap="none" strike="noStrike">
              <a:solidFill>
                <a:schemeClr val="dk1"/>
              </a:solidFill>
              <a:latin typeface="Calibri"/>
              <a:ea typeface="Calibri"/>
              <a:cs typeface="Calibri"/>
              <a:sym typeface="Calibri"/>
            </a:endParaRPr>
          </a:p>
        </p:txBody>
      </p:sp>
      <p:sp>
        <p:nvSpPr>
          <p:cNvPr id="159" name="Google Shape;159;p5"/>
          <p:cNvSpPr/>
          <p:nvPr/>
        </p:nvSpPr>
        <p:spPr>
          <a:xfrm>
            <a:off x="987542" y="3977120"/>
            <a:ext cx="2002500" cy="5619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6B707A"/>
              </a:buClr>
              <a:buSzPts val="1050"/>
              <a:buFont typeface="Calibri"/>
              <a:buNone/>
            </a:pPr>
            <a:r>
              <a:rPr b="0" i="0" lang="en-US" sz="1450" u="none" cap="none" strike="noStrike">
                <a:solidFill>
                  <a:srgbClr val="6B707A"/>
                </a:solidFill>
                <a:latin typeface="Calibri"/>
                <a:ea typeface="Calibri"/>
                <a:cs typeface="Calibri"/>
                <a:sym typeface="Calibri"/>
              </a:rPr>
              <a:t>IFN-α · IFN-γ · BAFF · complemento · lípidos</a:t>
            </a:r>
            <a:endParaRPr b="0" i="0" sz="1450" u="none" cap="none" strike="noStrike">
              <a:solidFill>
                <a:schemeClr val="dk1"/>
              </a:solidFill>
              <a:latin typeface="Calibri"/>
              <a:ea typeface="Calibri"/>
              <a:cs typeface="Calibri"/>
              <a:sym typeface="Calibri"/>
            </a:endParaRPr>
          </a:p>
        </p:txBody>
      </p:sp>
      <p:sp>
        <p:nvSpPr>
          <p:cNvPr id="160" name="Google Shape;160;p5"/>
          <p:cNvSpPr/>
          <p:nvPr/>
        </p:nvSpPr>
        <p:spPr>
          <a:xfrm>
            <a:off x="822950" y="4825763"/>
            <a:ext cx="2331600" cy="1185600"/>
          </a:xfrm>
          <a:prstGeom prst="roundRect">
            <a:avLst>
              <a:gd fmla="val 8421"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61" name="Google Shape;161;p5"/>
          <p:cNvSpPr/>
          <p:nvPr/>
        </p:nvSpPr>
        <p:spPr>
          <a:xfrm>
            <a:off x="987542" y="4975523"/>
            <a:ext cx="2002500" cy="399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300"/>
              <a:buFont typeface="Calibri"/>
              <a:buNone/>
            </a:pPr>
            <a:r>
              <a:rPr b="1" i="0" lang="en-US" sz="1700" u="none" cap="none" strike="noStrike">
                <a:solidFill>
                  <a:srgbClr val="0F6B78"/>
                </a:solidFill>
                <a:latin typeface="Calibri"/>
                <a:ea typeface="Calibri"/>
                <a:cs typeface="Calibri"/>
                <a:sym typeface="Calibri"/>
              </a:rPr>
              <a:t>Índices clínicos</a:t>
            </a:r>
            <a:endParaRPr b="0" i="0" sz="1700" u="none" cap="none" strike="noStrike">
              <a:solidFill>
                <a:schemeClr val="dk1"/>
              </a:solidFill>
              <a:latin typeface="Calibri"/>
              <a:ea typeface="Calibri"/>
              <a:cs typeface="Calibri"/>
              <a:sym typeface="Calibri"/>
            </a:endParaRPr>
          </a:p>
        </p:txBody>
      </p:sp>
      <p:sp>
        <p:nvSpPr>
          <p:cNvPr id="162" name="Google Shape;162;p5"/>
          <p:cNvSpPr/>
          <p:nvPr/>
        </p:nvSpPr>
        <p:spPr>
          <a:xfrm>
            <a:off x="987542" y="5387365"/>
            <a:ext cx="2002500" cy="5619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6B707A"/>
              </a:buClr>
              <a:buSzPts val="1050"/>
              <a:buFont typeface="Calibri"/>
              <a:buNone/>
            </a:pPr>
            <a:r>
              <a:rPr b="0" i="0" lang="en-US" sz="1450" u="none" cap="none" strike="noStrike">
                <a:solidFill>
                  <a:srgbClr val="6B707A"/>
                </a:solidFill>
                <a:latin typeface="Calibri"/>
                <a:ea typeface="Calibri"/>
                <a:cs typeface="Calibri"/>
                <a:sym typeface="Calibri"/>
              </a:rPr>
              <a:t>SLEDAI-2K · SLE-DAS · SLICC-DI · LLDAS · DORIS</a:t>
            </a:r>
            <a:endParaRPr b="0" i="0" sz="1450" u="none" cap="none" strike="noStrike">
              <a:solidFill>
                <a:schemeClr val="dk1"/>
              </a:solidFill>
              <a:latin typeface="Calibri"/>
              <a:ea typeface="Calibri"/>
              <a:cs typeface="Calibri"/>
              <a:sym typeface="Calibri"/>
            </a:endParaRPr>
          </a:p>
        </p:txBody>
      </p:sp>
      <p:sp>
        <p:nvSpPr>
          <p:cNvPr id="163" name="Google Shape;163;p5"/>
          <p:cNvSpPr/>
          <p:nvPr/>
        </p:nvSpPr>
        <p:spPr>
          <a:xfrm>
            <a:off x="3657600" y="3239767"/>
            <a:ext cx="2194500" cy="1512600"/>
          </a:xfrm>
          <a:prstGeom prst="roundRect">
            <a:avLst>
              <a:gd fmla="val 6667" name="adj"/>
            </a:avLst>
          </a:prstGeom>
          <a:solidFill>
            <a:srgbClr val="C7DCDF"/>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164" name="Google Shape;164;p5"/>
          <p:cNvSpPr/>
          <p:nvPr/>
        </p:nvSpPr>
        <p:spPr>
          <a:xfrm>
            <a:off x="3794760" y="3421276"/>
            <a:ext cx="1920300" cy="40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400"/>
              <a:buFont typeface="Calibri"/>
              <a:buNone/>
            </a:pPr>
            <a:r>
              <a:rPr b="1" i="0" lang="en-US" sz="1900" u="none" cap="none" strike="noStrike">
                <a:solidFill>
                  <a:srgbClr val="2E3138"/>
                </a:solidFill>
                <a:latin typeface="Calibri"/>
                <a:ea typeface="Calibri"/>
                <a:cs typeface="Calibri"/>
                <a:sym typeface="Calibri"/>
              </a:rPr>
              <a:t>IFN-score</a:t>
            </a:r>
            <a:endParaRPr b="0" i="0" sz="1900" u="none" cap="none" strike="noStrike">
              <a:solidFill>
                <a:schemeClr val="dk1"/>
              </a:solidFill>
              <a:latin typeface="Calibri"/>
              <a:ea typeface="Calibri"/>
              <a:cs typeface="Calibri"/>
              <a:sym typeface="Calibri"/>
            </a:endParaRPr>
          </a:p>
        </p:txBody>
      </p:sp>
      <p:sp>
        <p:nvSpPr>
          <p:cNvPr id="165" name="Google Shape;165;p5"/>
          <p:cNvSpPr/>
          <p:nvPr/>
        </p:nvSpPr>
        <p:spPr>
          <a:xfrm>
            <a:off x="3794760" y="3844796"/>
            <a:ext cx="1920300" cy="32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6B78"/>
              </a:buClr>
              <a:buSzPts val="1100"/>
              <a:buFont typeface="Calibri"/>
              <a:buNone/>
            </a:pPr>
            <a:r>
              <a:rPr b="1" i="0" lang="en-US" sz="1600" u="none" cap="none" strike="noStrike">
                <a:solidFill>
                  <a:srgbClr val="0F6B78"/>
                </a:solidFill>
                <a:latin typeface="Calibri"/>
                <a:ea typeface="Calibri"/>
                <a:cs typeface="Calibri"/>
                <a:sym typeface="Calibri"/>
              </a:rPr>
              <a:t>IFN-high  /  IFN-low</a:t>
            </a:r>
            <a:endParaRPr b="0" i="0" sz="1600" u="none" cap="none" strike="noStrike">
              <a:solidFill>
                <a:schemeClr val="dk1"/>
              </a:solidFill>
              <a:latin typeface="Calibri"/>
              <a:ea typeface="Calibri"/>
              <a:cs typeface="Calibri"/>
              <a:sym typeface="Calibri"/>
            </a:endParaRPr>
          </a:p>
        </p:txBody>
      </p:sp>
      <p:sp>
        <p:nvSpPr>
          <p:cNvPr id="166" name="Google Shape;166;p5"/>
          <p:cNvSpPr/>
          <p:nvPr/>
        </p:nvSpPr>
        <p:spPr>
          <a:xfrm>
            <a:off x="3794760" y="4298568"/>
            <a:ext cx="1920300" cy="35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1000"/>
              <a:buFont typeface="Calibri"/>
              <a:buNone/>
            </a:pPr>
            <a:r>
              <a:rPr b="0" i="1" lang="en-US" sz="1500" u="none" cap="none" strike="noStrike">
                <a:solidFill>
                  <a:srgbClr val="6B707A"/>
                </a:solidFill>
                <a:latin typeface="Calibri"/>
                <a:ea typeface="Calibri"/>
                <a:cs typeface="Calibri"/>
                <a:sym typeface="Calibri"/>
              </a:rPr>
              <a:t>asociaciones clínicas </a:t>
            </a:r>
            <a:endParaRPr b="0" i="0" sz="1500" u="none" cap="none" strike="noStrike">
              <a:solidFill>
                <a:schemeClr val="dk1"/>
              </a:solidFill>
              <a:latin typeface="Calibri"/>
              <a:ea typeface="Calibri"/>
              <a:cs typeface="Calibri"/>
              <a:sym typeface="Calibri"/>
            </a:endParaRPr>
          </a:p>
        </p:txBody>
      </p:sp>
      <p:cxnSp>
        <p:nvCxnSpPr>
          <p:cNvPr id="167" name="Google Shape;167;p5"/>
          <p:cNvCxnSpPr/>
          <p:nvPr/>
        </p:nvCxnSpPr>
        <p:spPr>
          <a:xfrm>
            <a:off x="3172968" y="2856582"/>
            <a:ext cx="466200" cy="1139400"/>
          </a:xfrm>
          <a:prstGeom prst="straightConnector1">
            <a:avLst/>
          </a:prstGeom>
          <a:noFill/>
          <a:ln cap="flat" cmpd="sng" w="12700">
            <a:solidFill>
              <a:srgbClr val="2E3138"/>
            </a:solidFill>
            <a:prstDash val="solid"/>
            <a:round/>
            <a:headEnd len="sm" w="sm" type="none"/>
            <a:tailEnd len="med" w="med" type="triangle"/>
          </a:ln>
        </p:spPr>
      </p:cxnSp>
      <p:cxnSp>
        <p:nvCxnSpPr>
          <p:cNvPr id="168" name="Google Shape;168;p5"/>
          <p:cNvCxnSpPr/>
          <p:nvPr/>
        </p:nvCxnSpPr>
        <p:spPr>
          <a:xfrm>
            <a:off x="3172968" y="3996054"/>
            <a:ext cx="466200" cy="0"/>
          </a:xfrm>
          <a:prstGeom prst="straightConnector1">
            <a:avLst/>
          </a:prstGeom>
          <a:noFill/>
          <a:ln cap="flat" cmpd="sng" w="12700">
            <a:solidFill>
              <a:srgbClr val="2E3138"/>
            </a:solidFill>
            <a:prstDash val="solid"/>
            <a:round/>
            <a:headEnd len="sm" w="sm" type="none"/>
            <a:tailEnd len="med" w="med" type="triangle"/>
          </a:ln>
        </p:spPr>
      </p:cxnSp>
      <p:cxnSp>
        <p:nvCxnSpPr>
          <p:cNvPr id="169" name="Google Shape;169;p5"/>
          <p:cNvCxnSpPr/>
          <p:nvPr/>
        </p:nvCxnSpPr>
        <p:spPr>
          <a:xfrm flipH="1" rot="10800000">
            <a:off x="3172968" y="3996126"/>
            <a:ext cx="466200" cy="1139400"/>
          </a:xfrm>
          <a:prstGeom prst="straightConnector1">
            <a:avLst/>
          </a:prstGeom>
          <a:noFill/>
          <a:ln cap="flat" cmpd="sng" w="12700">
            <a:solidFill>
              <a:srgbClr val="2E3138"/>
            </a:solidFill>
            <a:prstDash val="solid"/>
            <a:round/>
            <a:headEnd len="sm" w="sm" type="none"/>
            <a:tailEnd len="med" w="med" type="triangle"/>
          </a:ln>
        </p:spPr>
      </p:cxnSp>
      <p:sp>
        <p:nvSpPr>
          <p:cNvPr id="170" name="Google Shape;170;p5"/>
          <p:cNvSpPr/>
          <p:nvPr/>
        </p:nvSpPr>
        <p:spPr>
          <a:xfrm>
            <a:off x="6355080" y="3189348"/>
            <a:ext cx="2194500" cy="705900"/>
          </a:xfrm>
          <a:prstGeom prst="roundRect">
            <a:avLst>
              <a:gd fmla="val 11429" name="adj"/>
            </a:avLst>
          </a:prstGeom>
          <a:solidFill>
            <a:srgbClr val="F4DDD2"/>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171" name="Google Shape;171;p5"/>
          <p:cNvSpPr/>
          <p:nvPr/>
        </p:nvSpPr>
        <p:spPr>
          <a:xfrm>
            <a:off x="6492240" y="3239767"/>
            <a:ext cx="1920300" cy="302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300"/>
              <a:buFont typeface="Calibri"/>
              <a:buNone/>
            </a:pPr>
            <a:r>
              <a:rPr b="1" i="0" lang="en-US" sz="1600" u="none" cap="none" strike="noStrike">
                <a:solidFill>
                  <a:srgbClr val="2E3138"/>
                </a:solidFill>
                <a:latin typeface="Calibri"/>
                <a:ea typeface="Calibri"/>
                <a:cs typeface="Calibri"/>
                <a:sym typeface="Calibri"/>
              </a:rPr>
              <a:t>MOFA2</a:t>
            </a:r>
            <a:endParaRPr b="0" i="0" sz="1600" u="none" cap="none" strike="noStrike">
              <a:solidFill>
                <a:schemeClr val="dk1"/>
              </a:solidFill>
              <a:latin typeface="Calibri"/>
              <a:ea typeface="Calibri"/>
              <a:cs typeface="Calibri"/>
              <a:sym typeface="Calibri"/>
            </a:endParaRPr>
          </a:p>
        </p:txBody>
      </p:sp>
      <p:sp>
        <p:nvSpPr>
          <p:cNvPr id="172" name="Google Shape;172;p5"/>
          <p:cNvSpPr/>
          <p:nvPr/>
        </p:nvSpPr>
        <p:spPr>
          <a:xfrm>
            <a:off x="6492240" y="3532198"/>
            <a:ext cx="1920300" cy="302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50"/>
              <a:buFont typeface="Calibri"/>
              <a:buNone/>
            </a:pPr>
            <a:r>
              <a:rPr b="0" i="0" lang="en-US" sz="1250" u="none" cap="none" strike="noStrike">
                <a:solidFill>
                  <a:srgbClr val="6B707A"/>
                </a:solidFill>
                <a:latin typeface="Calibri"/>
                <a:ea typeface="Calibri"/>
                <a:cs typeface="Calibri"/>
                <a:sym typeface="Calibri"/>
              </a:rPr>
              <a:t>integración no supervisada</a:t>
            </a:r>
            <a:endParaRPr b="0" i="0" sz="1250" u="none" cap="none" strike="noStrike">
              <a:solidFill>
                <a:schemeClr val="dk1"/>
              </a:solidFill>
              <a:latin typeface="Calibri"/>
              <a:ea typeface="Calibri"/>
              <a:cs typeface="Calibri"/>
              <a:sym typeface="Calibri"/>
            </a:endParaRPr>
          </a:p>
        </p:txBody>
      </p:sp>
      <p:sp>
        <p:nvSpPr>
          <p:cNvPr id="173" name="Google Shape;173;p5"/>
          <p:cNvSpPr/>
          <p:nvPr/>
        </p:nvSpPr>
        <p:spPr>
          <a:xfrm>
            <a:off x="6355080" y="4096892"/>
            <a:ext cx="2194500" cy="705900"/>
          </a:xfrm>
          <a:prstGeom prst="roundRect">
            <a:avLst>
              <a:gd fmla="val 11429" name="adj"/>
            </a:avLst>
          </a:prstGeom>
          <a:solidFill>
            <a:srgbClr val="F4DDD2"/>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174" name="Google Shape;174;p5"/>
          <p:cNvSpPr/>
          <p:nvPr/>
        </p:nvSpPr>
        <p:spPr>
          <a:xfrm>
            <a:off x="6492240" y="4147311"/>
            <a:ext cx="1920300" cy="302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300"/>
              <a:buFont typeface="Calibri"/>
              <a:buNone/>
            </a:pPr>
            <a:r>
              <a:rPr b="1" i="0" lang="en-US" sz="1600" u="none" cap="none" strike="noStrike">
                <a:solidFill>
                  <a:srgbClr val="2E3138"/>
                </a:solidFill>
                <a:latin typeface="Calibri"/>
                <a:ea typeface="Calibri"/>
                <a:cs typeface="Calibri"/>
                <a:sym typeface="Calibri"/>
              </a:rPr>
              <a:t>DIABLO</a:t>
            </a:r>
            <a:endParaRPr b="0" i="0" sz="1600" u="none" cap="none" strike="noStrike">
              <a:solidFill>
                <a:schemeClr val="dk1"/>
              </a:solidFill>
              <a:latin typeface="Calibri"/>
              <a:ea typeface="Calibri"/>
              <a:cs typeface="Calibri"/>
              <a:sym typeface="Calibri"/>
            </a:endParaRPr>
          </a:p>
        </p:txBody>
      </p:sp>
      <p:sp>
        <p:nvSpPr>
          <p:cNvPr id="175" name="Google Shape;175;p5"/>
          <p:cNvSpPr/>
          <p:nvPr/>
        </p:nvSpPr>
        <p:spPr>
          <a:xfrm>
            <a:off x="6492240" y="4439742"/>
            <a:ext cx="1920300" cy="302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50"/>
              <a:buFont typeface="Calibri"/>
              <a:buNone/>
            </a:pPr>
            <a:r>
              <a:rPr b="0" i="0" lang="en-US" sz="1250" u="none" cap="none" strike="noStrike">
                <a:solidFill>
                  <a:srgbClr val="6B707A"/>
                </a:solidFill>
                <a:latin typeface="Calibri"/>
                <a:ea typeface="Calibri"/>
                <a:cs typeface="Calibri"/>
                <a:sym typeface="Calibri"/>
              </a:rPr>
              <a:t>integración supervisada</a:t>
            </a:r>
            <a:endParaRPr b="0" i="0" sz="1250" u="none" cap="none" strike="noStrike">
              <a:solidFill>
                <a:schemeClr val="dk1"/>
              </a:solidFill>
              <a:latin typeface="Calibri"/>
              <a:ea typeface="Calibri"/>
              <a:cs typeface="Calibri"/>
              <a:sym typeface="Calibri"/>
            </a:endParaRPr>
          </a:p>
        </p:txBody>
      </p:sp>
      <p:sp>
        <p:nvSpPr>
          <p:cNvPr id="176" name="Google Shape;176;p5"/>
          <p:cNvSpPr/>
          <p:nvPr/>
        </p:nvSpPr>
        <p:spPr>
          <a:xfrm>
            <a:off x="9052560" y="3239767"/>
            <a:ext cx="2316300" cy="1512600"/>
          </a:xfrm>
          <a:prstGeom prst="roundRect">
            <a:avLst>
              <a:gd fmla="val 6667" name="adj"/>
            </a:avLst>
          </a:prstGeom>
          <a:solidFill>
            <a:srgbClr val="666666"/>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177" name="Google Shape;177;p5"/>
          <p:cNvSpPr/>
          <p:nvPr/>
        </p:nvSpPr>
        <p:spPr>
          <a:xfrm>
            <a:off x="9189720" y="3421276"/>
            <a:ext cx="2041800" cy="403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1" i="0" lang="en-US" sz="1800" u="none" cap="none" strike="noStrike">
                <a:solidFill>
                  <a:srgbClr val="FFFFFF"/>
                </a:solidFill>
                <a:latin typeface="Calibri"/>
                <a:ea typeface="Calibri"/>
                <a:cs typeface="Calibri"/>
                <a:sym typeface="Calibri"/>
              </a:rPr>
              <a:t>LASSO</a:t>
            </a:r>
            <a:endParaRPr b="0" i="0" sz="1800" u="none" cap="none" strike="noStrike">
              <a:solidFill>
                <a:schemeClr val="dk1"/>
              </a:solidFill>
              <a:latin typeface="Calibri"/>
              <a:ea typeface="Calibri"/>
              <a:cs typeface="Calibri"/>
              <a:sym typeface="Calibri"/>
            </a:endParaRPr>
          </a:p>
        </p:txBody>
      </p:sp>
      <p:sp>
        <p:nvSpPr>
          <p:cNvPr id="178" name="Google Shape;178;p5"/>
          <p:cNvSpPr/>
          <p:nvPr/>
        </p:nvSpPr>
        <p:spPr>
          <a:xfrm>
            <a:off x="9189720" y="3844796"/>
            <a:ext cx="2041800" cy="32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0" i="0" lang="en-US" sz="1500" u="none" cap="none" strike="noStrike">
                <a:solidFill>
                  <a:srgbClr val="FFFFFF"/>
                </a:solidFill>
                <a:latin typeface="Calibri"/>
                <a:ea typeface="Calibri"/>
                <a:cs typeface="Calibri"/>
                <a:sym typeface="Calibri"/>
              </a:rPr>
              <a:t>modelo predictivo</a:t>
            </a:r>
            <a:endParaRPr b="0" i="0" sz="1500" u="none" cap="none" strike="noStrike">
              <a:solidFill>
                <a:schemeClr val="dk1"/>
              </a:solidFill>
              <a:latin typeface="Calibri"/>
              <a:ea typeface="Calibri"/>
              <a:cs typeface="Calibri"/>
              <a:sym typeface="Calibri"/>
            </a:endParaRPr>
          </a:p>
        </p:txBody>
      </p:sp>
      <p:sp>
        <p:nvSpPr>
          <p:cNvPr id="179" name="Google Shape;179;p5"/>
          <p:cNvSpPr/>
          <p:nvPr/>
        </p:nvSpPr>
        <p:spPr>
          <a:xfrm>
            <a:off x="9189720" y="4298568"/>
            <a:ext cx="2041800" cy="35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FD2D6"/>
              </a:buClr>
              <a:buSzPts val="1000"/>
              <a:buFont typeface="Calibri"/>
              <a:buNone/>
            </a:pPr>
            <a:r>
              <a:rPr b="0" i="1" lang="en-US" u="none" cap="none" strike="noStrike">
                <a:solidFill>
                  <a:srgbClr val="CFD2D6"/>
                </a:solidFill>
                <a:latin typeface="Calibri"/>
                <a:ea typeface="Calibri"/>
                <a:cs typeface="Calibri"/>
                <a:sym typeface="Calibri"/>
              </a:rPr>
              <a:t>validación cruzada · AUC</a:t>
            </a:r>
            <a:endParaRPr b="0" i="0" u="none" cap="none" strike="noStrike">
              <a:solidFill>
                <a:schemeClr val="dk1"/>
              </a:solidFill>
              <a:latin typeface="Calibri"/>
              <a:ea typeface="Calibri"/>
              <a:cs typeface="Calibri"/>
              <a:sym typeface="Calibri"/>
            </a:endParaRPr>
          </a:p>
        </p:txBody>
      </p:sp>
      <p:cxnSp>
        <p:nvCxnSpPr>
          <p:cNvPr id="180" name="Google Shape;180;p5"/>
          <p:cNvCxnSpPr/>
          <p:nvPr/>
        </p:nvCxnSpPr>
        <p:spPr>
          <a:xfrm flipH="1" rot="10800000">
            <a:off x="5870448" y="3542154"/>
            <a:ext cx="466200" cy="453900"/>
          </a:xfrm>
          <a:prstGeom prst="straightConnector1">
            <a:avLst/>
          </a:prstGeom>
          <a:noFill/>
          <a:ln cap="flat" cmpd="sng" w="12700">
            <a:solidFill>
              <a:srgbClr val="2E3138"/>
            </a:solidFill>
            <a:prstDash val="solid"/>
            <a:round/>
            <a:headEnd len="sm" w="sm" type="none"/>
            <a:tailEnd len="med" w="med" type="triangle"/>
          </a:ln>
        </p:spPr>
      </p:cxnSp>
      <p:cxnSp>
        <p:nvCxnSpPr>
          <p:cNvPr id="181" name="Google Shape;181;p5"/>
          <p:cNvCxnSpPr/>
          <p:nvPr/>
        </p:nvCxnSpPr>
        <p:spPr>
          <a:xfrm>
            <a:off x="5870448" y="3996054"/>
            <a:ext cx="466200" cy="453900"/>
          </a:xfrm>
          <a:prstGeom prst="straightConnector1">
            <a:avLst/>
          </a:prstGeom>
          <a:noFill/>
          <a:ln cap="flat" cmpd="sng" w="12700">
            <a:solidFill>
              <a:srgbClr val="2E3138"/>
            </a:solidFill>
            <a:prstDash val="solid"/>
            <a:round/>
            <a:headEnd len="sm" w="sm" type="none"/>
            <a:tailEnd len="med" w="med" type="triangle"/>
          </a:ln>
        </p:spPr>
      </p:cxnSp>
      <p:cxnSp>
        <p:nvCxnSpPr>
          <p:cNvPr id="182" name="Google Shape;182;p5"/>
          <p:cNvCxnSpPr/>
          <p:nvPr/>
        </p:nvCxnSpPr>
        <p:spPr>
          <a:xfrm>
            <a:off x="8567928" y="3542282"/>
            <a:ext cx="466200" cy="453900"/>
          </a:xfrm>
          <a:prstGeom prst="straightConnector1">
            <a:avLst/>
          </a:prstGeom>
          <a:noFill/>
          <a:ln cap="flat" cmpd="sng" w="12700">
            <a:solidFill>
              <a:srgbClr val="2E3138"/>
            </a:solidFill>
            <a:prstDash val="solid"/>
            <a:round/>
            <a:headEnd len="sm" w="sm" type="none"/>
            <a:tailEnd len="med" w="med" type="triangle"/>
          </a:ln>
        </p:spPr>
      </p:cxnSp>
      <p:cxnSp>
        <p:nvCxnSpPr>
          <p:cNvPr id="183" name="Google Shape;183;p5"/>
          <p:cNvCxnSpPr/>
          <p:nvPr/>
        </p:nvCxnSpPr>
        <p:spPr>
          <a:xfrm flipH="1" rot="10800000">
            <a:off x="8567928" y="3995926"/>
            <a:ext cx="466200" cy="453900"/>
          </a:xfrm>
          <a:prstGeom prst="straightConnector1">
            <a:avLst/>
          </a:prstGeom>
          <a:noFill/>
          <a:ln cap="flat" cmpd="sng" w="12700">
            <a:solidFill>
              <a:srgbClr val="2E3138"/>
            </a:solidFill>
            <a:prstDash val="solid"/>
            <a:round/>
            <a:headEnd len="sm" w="sm" type="none"/>
            <a:tailEnd len="med" w="med" type="triangle"/>
          </a:ln>
        </p:spPr>
      </p:cxnSp>
      <p:sp>
        <p:nvSpPr>
          <p:cNvPr id="184" name="Google Shape;184;p5"/>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Gómez Bernal · TFM Bioinformática y Bioestadística</a:t>
            </a:r>
            <a:endParaRPr b="0" i="0" sz="900" u="none" cap="none" strike="noStrike">
              <a:solidFill>
                <a:schemeClr val="dk1"/>
              </a:solidFill>
              <a:latin typeface="Calibri"/>
              <a:ea typeface="Calibri"/>
              <a:cs typeface="Calibri"/>
              <a:sym typeface="Calibri"/>
            </a:endParaRPr>
          </a:p>
        </p:txBody>
      </p:sp>
      <p:sp>
        <p:nvSpPr>
          <p:cNvPr id="186" name="Google Shape;186;p5"/>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91" name="Shape 191"/>
        <p:cNvGrpSpPr/>
        <p:nvPr/>
      </p:nvGrpSpPr>
      <p:grpSpPr>
        <a:xfrm>
          <a:off x="0" y="0"/>
          <a:ext cx="0" cy="0"/>
          <a:chOff x="0" y="0"/>
          <a:chExt cx="0" cy="0"/>
        </a:xfrm>
      </p:grpSpPr>
      <p:sp>
        <p:nvSpPr>
          <p:cNvPr id="192" name="Google Shape;192;p6"/>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RESULTADOS · IFN-SCORE</a:t>
            </a:r>
            <a:endParaRPr b="0" i="0" sz="1000" u="none" cap="none" strike="noStrike">
              <a:solidFill>
                <a:schemeClr val="dk1"/>
              </a:solidFill>
              <a:latin typeface="Calibri"/>
              <a:ea typeface="Calibri"/>
              <a:cs typeface="Calibri"/>
              <a:sym typeface="Calibri"/>
            </a:endParaRPr>
          </a:p>
        </p:txBody>
      </p:sp>
      <p:sp>
        <p:nvSpPr>
          <p:cNvPr id="193" name="Google Shape;193;p6"/>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06 / 20</a:t>
            </a:r>
            <a:endParaRPr b="0" i="0" sz="1000" u="none" cap="none" strike="noStrike">
              <a:solidFill>
                <a:schemeClr val="dk1"/>
              </a:solidFill>
              <a:latin typeface="Calibri"/>
              <a:ea typeface="Calibri"/>
              <a:cs typeface="Calibri"/>
              <a:sym typeface="Calibri"/>
            </a:endParaRPr>
          </a:p>
        </p:txBody>
      </p:sp>
      <p:sp>
        <p:nvSpPr>
          <p:cNvPr id="194" name="Google Shape;194;p6"/>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El IFN-score está aumentado en LES</a:t>
            </a:r>
            <a:endParaRPr b="0" i="0" sz="3200" u="none" cap="none" strike="noStrike">
              <a:solidFill>
                <a:schemeClr val="dk1"/>
              </a:solidFill>
              <a:latin typeface="Calibri"/>
              <a:ea typeface="Calibri"/>
              <a:cs typeface="Calibri"/>
              <a:sym typeface="Calibri"/>
            </a:endParaRPr>
          </a:p>
        </p:txBody>
      </p:sp>
      <p:sp>
        <p:nvSpPr>
          <p:cNvPr id="196" name="Google Shape;196;p6"/>
          <p:cNvSpPr/>
          <p:nvPr/>
        </p:nvSpPr>
        <p:spPr>
          <a:xfrm>
            <a:off x="548640" y="1601140"/>
            <a:ext cx="11094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2100" u="none" cap="none" strike="noStrike">
                <a:solidFill>
                  <a:srgbClr val="6B707A"/>
                </a:solidFill>
                <a:latin typeface="Calibri"/>
                <a:ea typeface="Calibri"/>
                <a:cs typeface="Calibri"/>
                <a:sym typeface="Calibri"/>
              </a:rPr>
              <a:t>Diferencia significativa frente a controles sanos.</a:t>
            </a:r>
            <a:endParaRPr b="0" i="0" sz="2100" u="none" cap="none" strike="noStrike">
              <a:solidFill>
                <a:schemeClr val="dk1"/>
              </a:solidFill>
              <a:latin typeface="Calibri"/>
              <a:ea typeface="Calibri"/>
              <a:cs typeface="Calibri"/>
              <a:sym typeface="Calibri"/>
            </a:endParaRPr>
          </a:p>
        </p:txBody>
      </p:sp>
      <p:sp>
        <p:nvSpPr>
          <p:cNvPr id="197" name="Google Shape;197;p6"/>
          <p:cNvSpPr/>
          <p:nvPr/>
        </p:nvSpPr>
        <p:spPr>
          <a:xfrm>
            <a:off x="640098" y="6035000"/>
            <a:ext cx="5759700" cy="274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1000"/>
              <a:buFont typeface="Calibri"/>
              <a:buNone/>
            </a:pPr>
            <a:r>
              <a:rPr b="0" i="1" lang="en-US" sz="1000" u="none" cap="none" strike="noStrike">
                <a:solidFill>
                  <a:srgbClr val="6B707A"/>
                </a:solidFill>
                <a:latin typeface="Calibri"/>
                <a:ea typeface="Calibri"/>
                <a:cs typeface="Calibri"/>
                <a:sym typeface="Calibri"/>
              </a:rPr>
              <a:t>Medianas en escala log2 (expresión relativa).</a:t>
            </a:r>
            <a:endParaRPr b="0" i="0" sz="1000" u="none" cap="none" strike="noStrike">
              <a:solidFill>
                <a:schemeClr val="dk1"/>
              </a:solidFill>
              <a:latin typeface="Calibri"/>
              <a:ea typeface="Calibri"/>
              <a:cs typeface="Calibri"/>
              <a:sym typeface="Calibri"/>
            </a:endParaRPr>
          </a:p>
        </p:txBody>
      </p:sp>
      <p:sp>
        <p:nvSpPr>
          <p:cNvPr id="198" name="Google Shape;198;p6"/>
          <p:cNvSpPr/>
          <p:nvPr/>
        </p:nvSpPr>
        <p:spPr>
          <a:xfrm>
            <a:off x="6719923" y="2148900"/>
            <a:ext cx="4923000" cy="1188600"/>
          </a:xfrm>
          <a:prstGeom prst="roundRect">
            <a:avLst>
              <a:gd fmla="val 9231"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199" name="Google Shape;199;p6"/>
          <p:cNvSpPr/>
          <p:nvPr/>
        </p:nvSpPr>
        <p:spPr>
          <a:xfrm>
            <a:off x="7084611" y="2258628"/>
            <a:ext cx="41940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3200"/>
              <a:buFont typeface="Calibri"/>
              <a:buNone/>
            </a:pPr>
            <a:r>
              <a:rPr b="1" i="0" lang="en-US" sz="4200" u="none" cap="none" strike="noStrike">
                <a:solidFill>
                  <a:srgbClr val="A84B2F"/>
                </a:solidFill>
                <a:latin typeface="Calibri"/>
                <a:ea typeface="Calibri"/>
                <a:cs typeface="Calibri"/>
                <a:sym typeface="Calibri"/>
              </a:rPr>
              <a:t>0,782</a:t>
            </a:r>
            <a:endParaRPr b="0" i="0" sz="4200" u="none" cap="none" strike="noStrike">
              <a:solidFill>
                <a:schemeClr val="dk1"/>
              </a:solidFill>
              <a:latin typeface="Calibri"/>
              <a:ea typeface="Calibri"/>
              <a:cs typeface="Calibri"/>
              <a:sym typeface="Calibri"/>
            </a:endParaRPr>
          </a:p>
        </p:txBody>
      </p:sp>
      <p:sp>
        <p:nvSpPr>
          <p:cNvPr id="200" name="Google Shape;200;p6"/>
          <p:cNvSpPr/>
          <p:nvPr/>
        </p:nvSpPr>
        <p:spPr>
          <a:xfrm>
            <a:off x="7084611" y="2898706"/>
            <a:ext cx="419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2200" u="none" cap="none" strike="noStrike">
                <a:solidFill>
                  <a:srgbClr val="6B707A"/>
                </a:solidFill>
                <a:latin typeface="Calibri"/>
                <a:ea typeface="Calibri"/>
                <a:cs typeface="Calibri"/>
                <a:sym typeface="Calibri"/>
              </a:rPr>
              <a:t>mediana LES (log2)</a:t>
            </a:r>
            <a:endParaRPr b="0" i="0" sz="2200" u="none" cap="none" strike="noStrike">
              <a:solidFill>
                <a:schemeClr val="dk1"/>
              </a:solidFill>
              <a:latin typeface="Calibri"/>
              <a:ea typeface="Calibri"/>
              <a:cs typeface="Calibri"/>
              <a:sym typeface="Calibri"/>
            </a:endParaRPr>
          </a:p>
        </p:txBody>
      </p:sp>
      <p:sp>
        <p:nvSpPr>
          <p:cNvPr id="201" name="Google Shape;201;p6"/>
          <p:cNvSpPr/>
          <p:nvPr/>
        </p:nvSpPr>
        <p:spPr>
          <a:xfrm>
            <a:off x="6719923" y="3474777"/>
            <a:ext cx="4923000" cy="1188600"/>
          </a:xfrm>
          <a:prstGeom prst="roundRect">
            <a:avLst>
              <a:gd fmla="val 9231"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02" name="Google Shape;202;p6"/>
          <p:cNvSpPr/>
          <p:nvPr/>
        </p:nvSpPr>
        <p:spPr>
          <a:xfrm>
            <a:off x="7084611" y="3584504"/>
            <a:ext cx="41940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4200" u="none" cap="none" strike="noStrike">
                <a:solidFill>
                  <a:srgbClr val="2E3138"/>
                </a:solidFill>
                <a:latin typeface="Calibri"/>
                <a:ea typeface="Calibri"/>
                <a:cs typeface="Calibri"/>
                <a:sym typeface="Calibri"/>
              </a:rPr>
              <a:t>0,0</a:t>
            </a:r>
            <a:r>
              <a:rPr b="1" lang="en-US" sz="4200">
                <a:solidFill>
                  <a:srgbClr val="2E3138"/>
                </a:solidFill>
                <a:latin typeface="Calibri"/>
                <a:ea typeface="Calibri"/>
                <a:cs typeface="Calibri"/>
                <a:sym typeface="Calibri"/>
              </a:rPr>
              <a:t>1</a:t>
            </a:r>
            <a:endParaRPr b="0" i="0" sz="4200" u="none" cap="none" strike="noStrike">
              <a:solidFill>
                <a:schemeClr val="dk1"/>
              </a:solidFill>
              <a:latin typeface="Calibri"/>
              <a:ea typeface="Calibri"/>
              <a:cs typeface="Calibri"/>
              <a:sym typeface="Calibri"/>
            </a:endParaRPr>
          </a:p>
        </p:txBody>
      </p:sp>
      <p:sp>
        <p:nvSpPr>
          <p:cNvPr id="203" name="Google Shape;203;p6"/>
          <p:cNvSpPr/>
          <p:nvPr/>
        </p:nvSpPr>
        <p:spPr>
          <a:xfrm>
            <a:off x="7084611" y="4224583"/>
            <a:ext cx="419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2200" u="none" cap="none" strike="noStrike">
                <a:solidFill>
                  <a:srgbClr val="6B707A"/>
                </a:solidFill>
                <a:latin typeface="Calibri"/>
                <a:ea typeface="Calibri"/>
                <a:cs typeface="Calibri"/>
                <a:sym typeface="Calibri"/>
              </a:rPr>
              <a:t>mediana controles</a:t>
            </a:r>
            <a:endParaRPr b="0" i="0" sz="2200" u="none" cap="none" strike="noStrike">
              <a:solidFill>
                <a:schemeClr val="dk1"/>
              </a:solidFill>
              <a:latin typeface="Calibri"/>
              <a:ea typeface="Calibri"/>
              <a:cs typeface="Calibri"/>
              <a:sym typeface="Calibri"/>
            </a:endParaRPr>
          </a:p>
        </p:txBody>
      </p:sp>
      <p:sp>
        <p:nvSpPr>
          <p:cNvPr id="204" name="Google Shape;204;p6"/>
          <p:cNvSpPr/>
          <p:nvPr/>
        </p:nvSpPr>
        <p:spPr>
          <a:xfrm>
            <a:off x="6719923" y="4800653"/>
            <a:ext cx="4923000" cy="1188600"/>
          </a:xfrm>
          <a:prstGeom prst="roundRect">
            <a:avLst>
              <a:gd fmla="val 9231"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05" name="Google Shape;205;p6"/>
          <p:cNvSpPr/>
          <p:nvPr/>
        </p:nvSpPr>
        <p:spPr>
          <a:xfrm>
            <a:off x="7084611" y="4910381"/>
            <a:ext cx="41940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3200"/>
              <a:buFont typeface="Calibri"/>
              <a:buNone/>
            </a:pPr>
            <a:r>
              <a:rPr b="1" i="0" lang="en-US" sz="4200" u="none" cap="none" strike="noStrike">
                <a:solidFill>
                  <a:srgbClr val="0F6B78"/>
                </a:solidFill>
                <a:latin typeface="Calibri"/>
                <a:ea typeface="Calibri"/>
                <a:cs typeface="Calibri"/>
                <a:sym typeface="Calibri"/>
              </a:rPr>
              <a:t>1,05 × 10⁻⁴</a:t>
            </a:r>
            <a:endParaRPr b="0" i="0" sz="4200" u="none" cap="none" strike="noStrike">
              <a:solidFill>
                <a:schemeClr val="dk1"/>
              </a:solidFill>
              <a:latin typeface="Calibri"/>
              <a:ea typeface="Calibri"/>
              <a:cs typeface="Calibri"/>
              <a:sym typeface="Calibri"/>
            </a:endParaRPr>
          </a:p>
        </p:txBody>
      </p:sp>
      <p:sp>
        <p:nvSpPr>
          <p:cNvPr id="206" name="Google Shape;206;p6"/>
          <p:cNvSpPr/>
          <p:nvPr/>
        </p:nvSpPr>
        <p:spPr>
          <a:xfrm>
            <a:off x="7084611" y="5550459"/>
            <a:ext cx="4194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2200" u="none" cap="none" strike="noStrike">
                <a:solidFill>
                  <a:srgbClr val="6B707A"/>
                </a:solidFill>
                <a:latin typeface="Calibri"/>
                <a:ea typeface="Calibri"/>
                <a:cs typeface="Calibri"/>
                <a:sym typeface="Calibri"/>
              </a:rPr>
              <a:t>p (test de Wilcoxon)</a:t>
            </a:r>
            <a:endParaRPr b="0" i="0" sz="2200" u="none" cap="none" strike="noStrike">
              <a:solidFill>
                <a:schemeClr val="dk1"/>
              </a:solidFill>
              <a:latin typeface="Calibri"/>
              <a:ea typeface="Calibri"/>
              <a:cs typeface="Calibri"/>
              <a:sym typeface="Calibri"/>
            </a:endParaRPr>
          </a:p>
        </p:txBody>
      </p:sp>
      <p:sp>
        <p:nvSpPr>
          <p:cNvPr id="207" name="Google Shape;207;p6"/>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209" name="Google Shape;209;p6"/>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pic>
        <p:nvPicPr>
          <p:cNvPr id="210" name="Google Shape;210;p6" title="boxplot IFN-score72 vs control-1.png"/>
          <p:cNvPicPr preferRelativeResize="0"/>
          <p:nvPr/>
        </p:nvPicPr>
        <p:blipFill>
          <a:blip r:embed="rId3">
            <a:alphaModFix/>
          </a:blip>
          <a:stretch>
            <a:fillRect/>
          </a:stretch>
        </p:blipFill>
        <p:spPr>
          <a:xfrm>
            <a:off x="722525" y="2209800"/>
            <a:ext cx="5141417" cy="36727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215" name="Shape 215"/>
        <p:cNvGrpSpPr/>
        <p:nvPr/>
      </p:nvGrpSpPr>
      <p:grpSpPr>
        <a:xfrm>
          <a:off x="0" y="0"/>
          <a:ext cx="0" cy="0"/>
          <a:chOff x="0" y="0"/>
          <a:chExt cx="0" cy="0"/>
        </a:xfrm>
      </p:grpSpPr>
      <p:sp>
        <p:nvSpPr>
          <p:cNvPr id="216" name="Google Shape;216;p7"/>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RESULTADOS · VALIDACIÓN</a:t>
            </a:r>
            <a:endParaRPr b="0" i="0" sz="1000" u="none" cap="none" strike="noStrike">
              <a:solidFill>
                <a:schemeClr val="dk1"/>
              </a:solidFill>
              <a:latin typeface="Calibri"/>
              <a:ea typeface="Calibri"/>
              <a:cs typeface="Calibri"/>
              <a:sym typeface="Calibri"/>
            </a:endParaRPr>
          </a:p>
        </p:txBody>
      </p:sp>
      <p:sp>
        <p:nvSpPr>
          <p:cNvPr id="217" name="Google Shape;217;p7"/>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07 / 20</a:t>
            </a:r>
            <a:endParaRPr b="0" i="0" sz="1000" u="none" cap="none" strike="noStrike">
              <a:solidFill>
                <a:schemeClr val="dk1"/>
              </a:solidFill>
              <a:latin typeface="Calibri"/>
              <a:ea typeface="Calibri"/>
              <a:cs typeface="Calibri"/>
              <a:sym typeface="Calibri"/>
            </a:endParaRPr>
          </a:p>
        </p:txBody>
      </p:sp>
      <p:sp>
        <p:nvSpPr>
          <p:cNvPr id="218" name="Google Shape;218;p7"/>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lang="en-US" sz="3200">
                <a:solidFill>
                  <a:srgbClr val="2E3138"/>
                </a:solidFill>
                <a:latin typeface="Calibri"/>
                <a:ea typeface="Calibri"/>
                <a:cs typeface="Calibri"/>
                <a:sym typeface="Calibri"/>
              </a:rPr>
              <a:t>Concordancia con score clásico y clasificación binaria </a:t>
            </a:r>
            <a:r>
              <a:rPr b="1" lang="en-US" sz="3200">
                <a:solidFill>
                  <a:srgbClr val="2E3138"/>
                </a:solidFill>
                <a:latin typeface="Calibri"/>
                <a:ea typeface="Calibri"/>
                <a:cs typeface="Calibri"/>
                <a:sym typeface="Calibri"/>
              </a:rPr>
              <a:t>I</a:t>
            </a:r>
            <a:r>
              <a:rPr b="1" lang="en-US" sz="3200">
                <a:solidFill>
                  <a:srgbClr val="2E3138"/>
                </a:solidFill>
                <a:latin typeface="Calibri"/>
                <a:ea typeface="Calibri"/>
                <a:cs typeface="Calibri"/>
                <a:sym typeface="Calibri"/>
              </a:rPr>
              <a:t>FN</a:t>
            </a:r>
            <a:endParaRPr b="0" i="0" sz="3200" u="none" cap="none" strike="noStrike">
              <a:solidFill>
                <a:schemeClr val="dk1"/>
              </a:solidFill>
              <a:latin typeface="Calibri"/>
              <a:ea typeface="Calibri"/>
              <a:cs typeface="Calibri"/>
              <a:sym typeface="Calibri"/>
            </a:endParaRPr>
          </a:p>
        </p:txBody>
      </p:sp>
      <p:sp>
        <p:nvSpPr>
          <p:cNvPr id="220" name="Google Shape;220;p7"/>
          <p:cNvSpPr/>
          <p:nvPr/>
        </p:nvSpPr>
        <p:spPr>
          <a:xfrm>
            <a:off x="548640" y="1691640"/>
            <a:ext cx="11094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2100" u="none" cap="none" strike="noStrike">
                <a:solidFill>
                  <a:srgbClr val="6B707A"/>
                </a:solidFill>
                <a:latin typeface="Calibri"/>
                <a:ea typeface="Calibri"/>
                <a:cs typeface="Calibri"/>
                <a:sym typeface="Calibri"/>
              </a:rPr>
              <a:t>Concordancia con el score clásico de 4 genes.</a:t>
            </a:r>
            <a:endParaRPr b="0" i="0" sz="2100" u="none" cap="none" strike="noStrike">
              <a:solidFill>
                <a:schemeClr val="dk1"/>
              </a:solidFill>
              <a:latin typeface="Calibri"/>
              <a:ea typeface="Calibri"/>
              <a:cs typeface="Calibri"/>
              <a:sym typeface="Calibri"/>
            </a:endParaRPr>
          </a:p>
        </p:txBody>
      </p:sp>
      <p:sp>
        <p:nvSpPr>
          <p:cNvPr id="221" name="Google Shape;221;p7"/>
          <p:cNvSpPr/>
          <p:nvPr/>
        </p:nvSpPr>
        <p:spPr>
          <a:xfrm>
            <a:off x="5356850" y="2228850"/>
            <a:ext cx="1616400" cy="1227900"/>
          </a:xfrm>
          <a:prstGeom prst="roundRect">
            <a:avLst>
              <a:gd fmla="val 10435" name="adj"/>
            </a:avLst>
          </a:prstGeom>
          <a:solidFill>
            <a:srgbClr val="EEF0F4"/>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222" name="Google Shape;222;p7"/>
          <p:cNvSpPr/>
          <p:nvPr/>
        </p:nvSpPr>
        <p:spPr>
          <a:xfrm>
            <a:off x="5490612" y="2389035"/>
            <a:ext cx="1348800" cy="587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6B78"/>
              </a:buClr>
              <a:buSzPts val="1600"/>
              <a:buFont typeface="Calibri"/>
              <a:buNone/>
            </a:pPr>
            <a:r>
              <a:rPr b="1" lang="en-US" sz="2200">
                <a:solidFill>
                  <a:srgbClr val="0F6B78"/>
                </a:solidFill>
                <a:latin typeface="Calibri"/>
                <a:ea typeface="Calibri"/>
                <a:cs typeface="Calibri"/>
                <a:sym typeface="Calibri"/>
              </a:rPr>
              <a:t>𝛒</a:t>
            </a:r>
            <a:r>
              <a:rPr b="1" i="0" lang="en-US" sz="2200" u="none" cap="none" strike="noStrike">
                <a:solidFill>
                  <a:srgbClr val="0F6B78"/>
                </a:solidFill>
                <a:latin typeface="Calibri"/>
                <a:ea typeface="Calibri"/>
                <a:cs typeface="Calibri"/>
                <a:sym typeface="Calibri"/>
              </a:rPr>
              <a:t> = 0,972</a:t>
            </a:r>
            <a:endParaRPr b="0" i="0" sz="2200" u="none" cap="none" strike="noStrike">
              <a:solidFill>
                <a:schemeClr val="dk1"/>
              </a:solidFill>
              <a:latin typeface="Calibri"/>
              <a:ea typeface="Calibri"/>
              <a:cs typeface="Calibri"/>
              <a:sym typeface="Calibri"/>
            </a:endParaRPr>
          </a:p>
        </p:txBody>
      </p:sp>
      <p:sp>
        <p:nvSpPr>
          <p:cNvPr id="223" name="Google Shape;223;p7"/>
          <p:cNvSpPr/>
          <p:nvPr/>
        </p:nvSpPr>
        <p:spPr>
          <a:xfrm>
            <a:off x="5490612" y="2976379"/>
            <a:ext cx="1348800" cy="42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50"/>
              <a:buFont typeface="Calibri"/>
              <a:buNone/>
            </a:pPr>
            <a:r>
              <a:rPr b="0" i="0" lang="en-US" sz="1550" u="none" cap="none" strike="noStrike">
                <a:solidFill>
                  <a:srgbClr val="6B707A"/>
                </a:solidFill>
                <a:latin typeface="Calibri"/>
                <a:ea typeface="Calibri"/>
                <a:cs typeface="Calibri"/>
                <a:sym typeface="Calibri"/>
              </a:rPr>
              <a:t>correlación de Spearman</a:t>
            </a:r>
            <a:endParaRPr b="0" i="0" sz="1550" u="none" cap="none" strike="noStrike">
              <a:solidFill>
                <a:schemeClr val="dk1"/>
              </a:solidFill>
              <a:latin typeface="Calibri"/>
              <a:ea typeface="Calibri"/>
              <a:cs typeface="Calibri"/>
              <a:sym typeface="Calibri"/>
            </a:endParaRPr>
          </a:p>
        </p:txBody>
      </p:sp>
      <p:sp>
        <p:nvSpPr>
          <p:cNvPr id="224" name="Google Shape;224;p7"/>
          <p:cNvSpPr/>
          <p:nvPr/>
        </p:nvSpPr>
        <p:spPr>
          <a:xfrm>
            <a:off x="5356850" y="3563723"/>
            <a:ext cx="1616400" cy="1227900"/>
          </a:xfrm>
          <a:prstGeom prst="roundRect">
            <a:avLst>
              <a:gd fmla="val 10435" name="adj"/>
            </a:avLst>
          </a:prstGeom>
          <a:solidFill>
            <a:srgbClr val="EEF0F4"/>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225" name="Google Shape;225;p7"/>
          <p:cNvSpPr/>
          <p:nvPr/>
        </p:nvSpPr>
        <p:spPr>
          <a:xfrm>
            <a:off x="5490612" y="3723907"/>
            <a:ext cx="1348800" cy="587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F6B78"/>
              </a:buClr>
              <a:buSzPts val="1600"/>
              <a:buFont typeface="Calibri"/>
              <a:buNone/>
            </a:pPr>
            <a:r>
              <a:rPr b="1" lang="en-US" sz="2200">
                <a:solidFill>
                  <a:srgbClr val="0F6B78"/>
                </a:solidFill>
                <a:latin typeface="Calibri"/>
                <a:ea typeface="Calibri"/>
                <a:cs typeface="Calibri"/>
                <a:sym typeface="Calibri"/>
              </a:rPr>
              <a:t>𝛋</a:t>
            </a:r>
            <a:r>
              <a:rPr b="1" i="0" lang="en-US" sz="2200" u="none" cap="none" strike="noStrike">
                <a:solidFill>
                  <a:srgbClr val="0F6B78"/>
                </a:solidFill>
                <a:latin typeface="Calibri"/>
                <a:ea typeface="Calibri"/>
                <a:cs typeface="Calibri"/>
                <a:sym typeface="Calibri"/>
              </a:rPr>
              <a:t> </a:t>
            </a:r>
            <a:r>
              <a:rPr b="1" i="0" lang="en-US" sz="2200" u="none" cap="none" strike="noStrike">
                <a:solidFill>
                  <a:srgbClr val="0F6B78"/>
                </a:solidFill>
                <a:latin typeface="Calibri"/>
                <a:ea typeface="Calibri"/>
                <a:cs typeface="Calibri"/>
                <a:sym typeface="Calibri"/>
              </a:rPr>
              <a:t>= 0,779</a:t>
            </a:r>
            <a:endParaRPr b="0" i="0" sz="2200" u="none" cap="none" strike="noStrike">
              <a:solidFill>
                <a:schemeClr val="dk1"/>
              </a:solidFill>
              <a:latin typeface="Calibri"/>
              <a:ea typeface="Calibri"/>
              <a:cs typeface="Calibri"/>
              <a:sym typeface="Calibri"/>
            </a:endParaRPr>
          </a:p>
        </p:txBody>
      </p:sp>
      <p:sp>
        <p:nvSpPr>
          <p:cNvPr id="226" name="Google Shape;226;p7"/>
          <p:cNvSpPr/>
          <p:nvPr/>
        </p:nvSpPr>
        <p:spPr>
          <a:xfrm>
            <a:off x="5490612" y="4311251"/>
            <a:ext cx="1348800" cy="42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950"/>
              <a:buFont typeface="Calibri"/>
              <a:buNone/>
            </a:pPr>
            <a:r>
              <a:rPr b="0" i="0" lang="en-US" sz="1550" u="none" cap="none" strike="noStrike">
                <a:solidFill>
                  <a:srgbClr val="6B707A"/>
                </a:solidFill>
                <a:latin typeface="Calibri"/>
                <a:ea typeface="Calibri"/>
                <a:cs typeface="Calibri"/>
                <a:sym typeface="Calibri"/>
              </a:rPr>
              <a:t>kappa de Cohen</a:t>
            </a:r>
            <a:endParaRPr b="0" i="0" sz="1550" u="none" cap="none" strike="noStrike">
              <a:solidFill>
                <a:schemeClr val="dk1"/>
              </a:solidFill>
              <a:latin typeface="Calibri"/>
              <a:ea typeface="Calibri"/>
              <a:cs typeface="Calibri"/>
              <a:sym typeface="Calibri"/>
            </a:endParaRPr>
          </a:p>
        </p:txBody>
      </p:sp>
      <p:sp>
        <p:nvSpPr>
          <p:cNvPr id="227" name="Google Shape;227;p7"/>
          <p:cNvSpPr/>
          <p:nvPr/>
        </p:nvSpPr>
        <p:spPr>
          <a:xfrm>
            <a:off x="5356850" y="4898595"/>
            <a:ext cx="1616400" cy="1227900"/>
          </a:xfrm>
          <a:prstGeom prst="roundRect">
            <a:avLst>
              <a:gd fmla="val 10435" name="adj"/>
            </a:avLst>
          </a:prstGeom>
          <a:solidFill>
            <a:srgbClr val="EEF0F4"/>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228" name="Google Shape;228;p7"/>
          <p:cNvSpPr/>
          <p:nvPr/>
        </p:nvSpPr>
        <p:spPr>
          <a:xfrm>
            <a:off x="5490612" y="5195665"/>
            <a:ext cx="1348800" cy="5871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84B2F"/>
              </a:buClr>
              <a:buSzPts val="1600"/>
              <a:buFont typeface="Calibri"/>
              <a:buNone/>
            </a:pPr>
            <a:r>
              <a:rPr b="1" lang="en-US" sz="1500">
                <a:solidFill>
                  <a:srgbClr val="A84B2F"/>
                </a:solidFill>
                <a:latin typeface="Calibri"/>
                <a:ea typeface="Calibri"/>
                <a:cs typeface="Calibri"/>
                <a:sym typeface="Calibri"/>
              </a:rPr>
              <a:t>Concordancia sustancial</a:t>
            </a:r>
            <a:endParaRPr b="0" i="0" sz="1500" u="none" cap="none" strike="noStrike">
              <a:solidFill>
                <a:schemeClr val="dk1"/>
              </a:solidFill>
              <a:latin typeface="Calibri"/>
              <a:ea typeface="Calibri"/>
              <a:cs typeface="Calibri"/>
              <a:sym typeface="Calibri"/>
            </a:endParaRPr>
          </a:p>
        </p:txBody>
      </p:sp>
      <p:sp>
        <p:nvSpPr>
          <p:cNvPr id="229" name="Google Shape;229;p7"/>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231" name="Google Shape;231;p7"/>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pic>
        <p:nvPicPr>
          <p:cNvPr id="232" name="Google Shape;232;p7" title="Correlacion IFN-score4 vs IFN-score72-1.png"/>
          <p:cNvPicPr preferRelativeResize="0"/>
          <p:nvPr/>
        </p:nvPicPr>
        <p:blipFill rotWithShape="1">
          <a:blip r:embed="rId3">
            <a:alphaModFix/>
          </a:blip>
          <a:srcRect b="0" l="0" r="0" t="4562"/>
          <a:stretch/>
        </p:blipFill>
        <p:spPr>
          <a:xfrm>
            <a:off x="548650" y="2186550"/>
            <a:ext cx="4718648" cy="3871448"/>
          </a:xfrm>
          <a:prstGeom prst="rect">
            <a:avLst/>
          </a:prstGeom>
          <a:noFill/>
          <a:ln>
            <a:noFill/>
          </a:ln>
        </p:spPr>
      </p:pic>
      <p:sp>
        <p:nvSpPr>
          <p:cNvPr id="233" name="Google Shape;233;p7"/>
          <p:cNvSpPr/>
          <p:nvPr/>
        </p:nvSpPr>
        <p:spPr>
          <a:xfrm>
            <a:off x="7062800" y="2236263"/>
            <a:ext cx="4718700" cy="3939900"/>
          </a:xfrm>
          <a:prstGeom prst="roundRect">
            <a:avLst>
              <a:gd fmla="val 2857"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34" name="Google Shape;234;p7"/>
          <p:cNvSpPr/>
          <p:nvPr/>
        </p:nvSpPr>
        <p:spPr>
          <a:xfrm>
            <a:off x="7397345" y="4777910"/>
            <a:ext cx="4114800" cy="640200"/>
          </a:xfrm>
          <a:prstGeom prst="rect">
            <a:avLst/>
          </a:prstGeom>
          <a:solidFill>
            <a:srgbClr val="F2D7CD"/>
          </a:solidFill>
          <a:ln cap="flat" cmpd="sng" w="12700">
            <a:solidFill>
              <a:srgbClr val="F2D7C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35" name="Google Shape;235;p7"/>
          <p:cNvSpPr/>
          <p:nvPr/>
        </p:nvSpPr>
        <p:spPr>
          <a:xfrm>
            <a:off x="7397345" y="4777910"/>
            <a:ext cx="1427700" cy="64020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36" name="Google Shape;236;p7"/>
          <p:cNvSpPr/>
          <p:nvPr/>
        </p:nvSpPr>
        <p:spPr>
          <a:xfrm>
            <a:off x="7350095" y="4412055"/>
            <a:ext cx="20574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00"/>
              <a:buFont typeface="Calibri"/>
              <a:buNone/>
            </a:pPr>
            <a:r>
              <a:rPr b="1" i="0" lang="en-US" sz="1700" u="none" cap="none" strike="noStrike">
                <a:solidFill>
                  <a:schemeClr val="dk1"/>
                </a:solidFill>
                <a:latin typeface="Calibri"/>
                <a:ea typeface="Calibri"/>
                <a:cs typeface="Calibri"/>
                <a:sym typeface="Calibri"/>
              </a:rPr>
              <a:t>IFN-high  34,7%</a:t>
            </a:r>
            <a:endParaRPr b="0" i="0" sz="1700" u="none" cap="none" strike="noStrike">
              <a:solidFill>
                <a:schemeClr val="dk1"/>
              </a:solidFill>
              <a:latin typeface="Calibri"/>
              <a:ea typeface="Calibri"/>
              <a:cs typeface="Calibri"/>
              <a:sym typeface="Calibri"/>
            </a:endParaRPr>
          </a:p>
        </p:txBody>
      </p:sp>
      <p:sp>
        <p:nvSpPr>
          <p:cNvPr id="237" name="Google Shape;237;p7"/>
          <p:cNvSpPr/>
          <p:nvPr/>
        </p:nvSpPr>
        <p:spPr>
          <a:xfrm>
            <a:off x="9918202" y="4412050"/>
            <a:ext cx="1593900" cy="3201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2E3138"/>
              </a:buClr>
              <a:buSzPts val="1200"/>
              <a:buFont typeface="Calibri"/>
              <a:buNone/>
            </a:pPr>
            <a:r>
              <a:rPr b="1" i="0" lang="en-US" sz="1700" u="none" cap="none" strike="noStrike">
                <a:solidFill>
                  <a:schemeClr val="dk1"/>
                </a:solidFill>
                <a:latin typeface="Calibri"/>
                <a:ea typeface="Calibri"/>
                <a:cs typeface="Calibri"/>
                <a:sym typeface="Calibri"/>
              </a:rPr>
              <a:t>IFN-low  65,3%</a:t>
            </a:r>
            <a:endParaRPr b="0" i="0" sz="1700" u="none" cap="none" strike="noStrike">
              <a:solidFill>
                <a:schemeClr val="dk1"/>
              </a:solidFill>
              <a:latin typeface="Calibri"/>
              <a:ea typeface="Calibri"/>
              <a:cs typeface="Calibri"/>
              <a:sym typeface="Calibri"/>
            </a:endParaRPr>
          </a:p>
        </p:txBody>
      </p:sp>
      <p:sp>
        <p:nvSpPr>
          <p:cNvPr id="238" name="Google Shape;238;p7"/>
          <p:cNvSpPr/>
          <p:nvPr/>
        </p:nvSpPr>
        <p:spPr>
          <a:xfrm>
            <a:off x="7397345" y="5692310"/>
            <a:ext cx="41148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6B707A"/>
              </a:buClr>
              <a:buSzPts val="1200"/>
              <a:buFont typeface="Calibri"/>
              <a:buNone/>
            </a:pPr>
            <a:r>
              <a:rPr b="0" i="0" lang="en-US" sz="1800" u="none" cap="none" strike="noStrike">
                <a:solidFill>
                  <a:srgbClr val="6B707A"/>
                </a:solidFill>
                <a:latin typeface="Calibri"/>
                <a:ea typeface="Calibri"/>
                <a:cs typeface="Calibri"/>
                <a:sym typeface="Calibri"/>
              </a:rPr>
              <a:t>87 IFN-high  ·  164 IFN-low  ·  n = 251 LES</a:t>
            </a:r>
            <a:endParaRPr b="0" i="0" sz="1800" u="none" cap="none" strike="noStrike">
              <a:solidFill>
                <a:schemeClr val="dk1"/>
              </a:solidFill>
              <a:latin typeface="Calibri"/>
              <a:ea typeface="Calibri"/>
              <a:cs typeface="Calibri"/>
              <a:sym typeface="Calibri"/>
            </a:endParaRPr>
          </a:p>
        </p:txBody>
      </p:sp>
      <p:sp>
        <p:nvSpPr>
          <p:cNvPr id="239" name="Google Shape;239;p7"/>
          <p:cNvSpPr/>
          <p:nvPr/>
        </p:nvSpPr>
        <p:spPr>
          <a:xfrm>
            <a:off x="7214355" y="2560253"/>
            <a:ext cx="4297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600"/>
              <a:buFont typeface="Calibri"/>
              <a:buNone/>
            </a:pPr>
            <a:r>
              <a:rPr b="1" i="0" lang="en-US" sz="2100" u="none" cap="none" strike="noStrike">
                <a:solidFill>
                  <a:srgbClr val="2E3138"/>
                </a:solidFill>
                <a:latin typeface="Calibri"/>
                <a:ea typeface="Calibri"/>
                <a:cs typeface="Calibri"/>
                <a:sym typeface="Calibri"/>
              </a:rPr>
              <a:t>Estratificación binaria</a:t>
            </a:r>
            <a:endParaRPr b="0" i="0" sz="2100" u="none" cap="none" strike="noStrike">
              <a:solidFill>
                <a:schemeClr val="dk1"/>
              </a:solidFill>
              <a:latin typeface="Calibri"/>
              <a:ea typeface="Calibri"/>
              <a:cs typeface="Calibri"/>
              <a:sym typeface="Calibri"/>
            </a:endParaRPr>
          </a:p>
        </p:txBody>
      </p:sp>
      <p:sp>
        <p:nvSpPr>
          <p:cNvPr id="240" name="Google Shape;240;p7"/>
          <p:cNvSpPr/>
          <p:nvPr/>
        </p:nvSpPr>
        <p:spPr>
          <a:xfrm>
            <a:off x="7214350" y="2976375"/>
            <a:ext cx="4297800" cy="1210500"/>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Clr>
                <a:srgbClr val="6B707A"/>
              </a:buClr>
              <a:buSzPts val="1200"/>
              <a:buFont typeface="Calibri"/>
              <a:buNone/>
            </a:pPr>
            <a:r>
              <a:rPr lang="en-US" sz="2000">
                <a:solidFill>
                  <a:srgbClr val="6B707A"/>
                </a:solidFill>
                <a:latin typeface="Calibri"/>
                <a:ea typeface="Calibri"/>
                <a:cs typeface="Calibri"/>
                <a:sym typeface="Calibri"/>
              </a:rPr>
              <a:t>Punto de corte como la media + 2DE del IFN-score en controles sanos, y fue de 1,264 unidades logarítmicas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245" name="Shape 245"/>
        <p:cNvGrpSpPr/>
        <p:nvPr/>
      </p:nvGrpSpPr>
      <p:grpSpPr>
        <a:xfrm>
          <a:off x="0" y="0"/>
          <a:ext cx="0" cy="0"/>
          <a:chOff x="0" y="0"/>
          <a:chExt cx="0" cy="0"/>
        </a:xfrm>
      </p:grpSpPr>
      <p:sp>
        <p:nvSpPr>
          <p:cNvPr id="246" name="Google Shape;246;g3e5a2eb6d59_1_38"/>
          <p:cNvSpPr/>
          <p:nvPr/>
        </p:nvSpPr>
        <p:spPr>
          <a:xfrm>
            <a:off x="548640" y="320040"/>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RESULTADOS · VALIDACIÓN</a:t>
            </a:r>
            <a:endParaRPr b="0" i="0" sz="1000" u="none" cap="none" strike="noStrike">
              <a:solidFill>
                <a:schemeClr val="dk1"/>
              </a:solidFill>
              <a:latin typeface="Calibri"/>
              <a:ea typeface="Calibri"/>
              <a:cs typeface="Calibri"/>
              <a:sym typeface="Calibri"/>
            </a:endParaRPr>
          </a:p>
        </p:txBody>
      </p:sp>
      <p:sp>
        <p:nvSpPr>
          <p:cNvPr id="247" name="Google Shape;247;g3e5a2eb6d59_1_38"/>
          <p:cNvSpPr/>
          <p:nvPr/>
        </p:nvSpPr>
        <p:spPr>
          <a:xfrm>
            <a:off x="10911535" y="320040"/>
            <a:ext cx="731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a:t>
            </a:r>
            <a:r>
              <a:rPr lang="en-US" sz="1000">
                <a:solidFill>
                  <a:srgbClr val="6B707A"/>
                </a:solidFill>
                <a:latin typeface="Calibri"/>
                <a:ea typeface="Calibri"/>
                <a:cs typeface="Calibri"/>
                <a:sym typeface="Calibri"/>
              </a:rPr>
              <a:t>8</a:t>
            </a:r>
            <a:r>
              <a:rPr b="0" i="0" lang="en-US" sz="1000" u="none" cap="none" strike="noStrike">
                <a:solidFill>
                  <a:srgbClr val="6B707A"/>
                </a:solidFill>
                <a:latin typeface="Calibri"/>
                <a:ea typeface="Calibri"/>
                <a:cs typeface="Calibri"/>
                <a:sym typeface="Calibri"/>
              </a:rPr>
              <a:t>/ 20</a:t>
            </a:r>
            <a:endParaRPr b="0" i="0" sz="1000" u="none" cap="none" strike="noStrike">
              <a:solidFill>
                <a:schemeClr val="dk1"/>
              </a:solidFill>
              <a:latin typeface="Calibri"/>
              <a:ea typeface="Calibri"/>
              <a:cs typeface="Calibri"/>
              <a:sym typeface="Calibri"/>
            </a:endParaRPr>
          </a:p>
        </p:txBody>
      </p:sp>
      <p:sp>
        <p:nvSpPr>
          <p:cNvPr id="248" name="Google Shape;248;g3e5a2eb6d59_1_38"/>
          <p:cNvSpPr/>
          <p:nvPr/>
        </p:nvSpPr>
        <p:spPr>
          <a:xfrm>
            <a:off x="548640" y="658368"/>
            <a:ext cx="11094300" cy="11100"/>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e5a2eb6d59_1_38"/>
          <p:cNvSpPr/>
          <p:nvPr/>
        </p:nvSpPr>
        <p:spPr>
          <a:xfrm>
            <a:off x="548840" y="733605"/>
            <a:ext cx="110943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lang="en-US" sz="3200">
                <a:solidFill>
                  <a:srgbClr val="2E3138"/>
                </a:solidFill>
                <a:latin typeface="Calibri"/>
                <a:ea typeface="Calibri"/>
                <a:cs typeface="Calibri"/>
                <a:sym typeface="Calibri"/>
              </a:rPr>
              <a:t>IFN-high se asocia a activación transcriptómica coordinada</a:t>
            </a:r>
            <a:endParaRPr b="0" i="0" sz="3200" u="none" cap="none" strike="noStrike">
              <a:solidFill>
                <a:schemeClr val="dk1"/>
              </a:solidFill>
              <a:latin typeface="Calibri"/>
              <a:ea typeface="Calibri"/>
              <a:cs typeface="Calibri"/>
              <a:sym typeface="Calibri"/>
            </a:endParaRPr>
          </a:p>
        </p:txBody>
      </p:sp>
      <p:sp>
        <p:nvSpPr>
          <p:cNvPr id="250" name="Google Shape;250;g3e5a2eb6d59_1_38"/>
          <p:cNvSpPr/>
          <p:nvPr/>
        </p:nvSpPr>
        <p:spPr>
          <a:xfrm>
            <a:off x="548640" y="6355080"/>
            <a:ext cx="11094300" cy="11100"/>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e5a2eb6d59_1_38"/>
          <p:cNvSpPr/>
          <p:nvPr/>
        </p:nvSpPr>
        <p:spPr>
          <a:xfrm>
            <a:off x="548640" y="6446520"/>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252" name="Google Shape;252;g3e5a2eb6d59_1_38"/>
          <p:cNvSpPr/>
          <p:nvPr/>
        </p:nvSpPr>
        <p:spPr>
          <a:xfrm>
            <a:off x="7071055" y="6446520"/>
            <a:ext cx="45720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
        <p:nvSpPr>
          <p:cNvPr id="253" name="Google Shape;253;g3e5a2eb6d59_1_38"/>
          <p:cNvSpPr/>
          <p:nvPr/>
        </p:nvSpPr>
        <p:spPr>
          <a:xfrm>
            <a:off x="6528300" y="2142850"/>
            <a:ext cx="5292000" cy="2806500"/>
          </a:xfrm>
          <a:prstGeom prst="roundRect">
            <a:avLst>
              <a:gd fmla="val 2857" name="adj"/>
            </a:avLst>
          </a:prstGeom>
          <a:solidFill>
            <a:srgbClr val="F2F3F5"/>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254" name="Google Shape;254;g3e5a2eb6d59_1_38"/>
          <p:cNvSpPr/>
          <p:nvPr/>
        </p:nvSpPr>
        <p:spPr>
          <a:xfrm>
            <a:off x="6764300" y="1969350"/>
            <a:ext cx="5055900" cy="2806500"/>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Clr>
                <a:srgbClr val="6B707A"/>
              </a:buClr>
              <a:buSzPts val="1200"/>
              <a:buFont typeface="Calibri"/>
              <a:buNone/>
            </a:pPr>
            <a:r>
              <a:rPr b="1" lang="en-US" sz="2000">
                <a:solidFill>
                  <a:schemeClr val="dk1"/>
                </a:solidFill>
                <a:latin typeface="Calibri"/>
                <a:ea typeface="Calibri"/>
                <a:cs typeface="Calibri"/>
                <a:sym typeface="Calibri"/>
              </a:rPr>
              <a:t>Expresión diferencial IFN-high vs IFN-low</a:t>
            </a:r>
            <a:endParaRPr b="1" sz="2000">
              <a:solidFill>
                <a:schemeClr val="dk1"/>
              </a:solidFill>
              <a:latin typeface="Calibri"/>
              <a:ea typeface="Calibri"/>
              <a:cs typeface="Calibri"/>
              <a:sym typeface="Calibri"/>
            </a:endParaRPr>
          </a:p>
          <a:p>
            <a:pPr indent="0" lvl="0" marL="0" marR="0" rtl="0" algn="just">
              <a:spcBef>
                <a:spcPts val="0"/>
              </a:spcBef>
              <a:spcAft>
                <a:spcPts val="0"/>
              </a:spcAft>
              <a:buClr>
                <a:srgbClr val="6B707A"/>
              </a:buClr>
              <a:buSzPts val="1200"/>
              <a:buFont typeface="Calibri"/>
              <a:buNone/>
            </a:pPr>
            <a:r>
              <a:t/>
            </a:r>
            <a:endParaRPr sz="2000">
              <a:solidFill>
                <a:srgbClr val="6B707A"/>
              </a:solidFill>
              <a:latin typeface="Calibri"/>
              <a:ea typeface="Calibri"/>
              <a:cs typeface="Calibri"/>
              <a:sym typeface="Calibri"/>
            </a:endParaRPr>
          </a:p>
          <a:p>
            <a:pPr indent="-355600" lvl="0" marL="457200" marR="0" rtl="0" algn="just">
              <a:spcBef>
                <a:spcPts val="0"/>
              </a:spcBef>
              <a:spcAft>
                <a:spcPts val="0"/>
              </a:spcAft>
              <a:buClr>
                <a:srgbClr val="6B707A"/>
              </a:buClr>
              <a:buSzPts val="2000"/>
              <a:buFont typeface="Calibri"/>
              <a:buChar char="●"/>
            </a:pPr>
            <a:r>
              <a:rPr b="1" lang="en-US" sz="2000">
                <a:solidFill>
                  <a:srgbClr val="6B707A"/>
                </a:solidFill>
                <a:latin typeface="Calibri"/>
                <a:ea typeface="Calibri"/>
                <a:cs typeface="Calibri"/>
                <a:sym typeface="Calibri"/>
              </a:rPr>
              <a:t>65/72 ISGs diferencialmente expresados</a:t>
            </a:r>
            <a:endParaRPr b="1" sz="2000">
              <a:solidFill>
                <a:srgbClr val="6B707A"/>
              </a:solidFill>
              <a:latin typeface="Calibri"/>
              <a:ea typeface="Calibri"/>
              <a:cs typeface="Calibri"/>
              <a:sym typeface="Calibri"/>
            </a:endParaRPr>
          </a:p>
          <a:p>
            <a:pPr indent="-355600" lvl="0" marL="457200" marR="0" rtl="0" algn="just">
              <a:spcBef>
                <a:spcPts val="0"/>
              </a:spcBef>
              <a:spcAft>
                <a:spcPts val="0"/>
              </a:spcAft>
              <a:buClr>
                <a:srgbClr val="6B707A"/>
              </a:buClr>
              <a:buSzPts val="2000"/>
              <a:buFont typeface="Calibri"/>
              <a:buChar char="●"/>
            </a:pPr>
            <a:r>
              <a:rPr b="1" lang="en-US" sz="2000">
                <a:solidFill>
                  <a:srgbClr val="6B707A"/>
                </a:solidFill>
                <a:latin typeface="Calibri"/>
                <a:ea typeface="Calibri"/>
                <a:cs typeface="Calibri"/>
                <a:sym typeface="Calibri"/>
              </a:rPr>
              <a:t>90,3% </a:t>
            </a:r>
            <a:r>
              <a:rPr lang="en-US" sz="2000">
                <a:solidFill>
                  <a:srgbClr val="6B707A"/>
                </a:solidFill>
                <a:latin typeface="Calibri"/>
                <a:ea typeface="Calibri"/>
                <a:cs typeface="Calibri"/>
                <a:sym typeface="Calibri"/>
              </a:rPr>
              <a:t>del panel diferencial</a:t>
            </a:r>
            <a:endParaRPr sz="2000">
              <a:solidFill>
                <a:srgbClr val="6B707A"/>
              </a:solidFill>
              <a:latin typeface="Calibri"/>
              <a:ea typeface="Calibri"/>
              <a:cs typeface="Calibri"/>
              <a:sym typeface="Calibri"/>
            </a:endParaRPr>
          </a:p>
          <a:p>
            <a:pPr indent="-355600" lvl="0" marL="457200" marR="0" rtl="0" algn="just">
              <a:spcBef>
                <a:spcPts val="0"/>
              </a:spcBef>
              <a:spcAft>
                <a:spcPts val="0"/>
              </a:spcAft>
              <a:buClr>
                <a:srgbClr val="6B707A"/>
              </a:buClr>
              <a:buSzPts val="2000"/>
              <a:buFont typeface="Calibri"/>
              <a:buChar char="●"/>
            </a:pPr>
            <a:r>
              <a:rPr lang="en-US" sz="2000">
                <a:solidFill>
                  <a:srgbClr val="6B707A"/>
                </a:solidFill>
                <a:latin typeface="Calibri"/>
                <a:ea typeface="Calibri"/>
                <a:cs typeface="Calibri"/>
                <a:sym typeface="Calibri"/>
              </a:rPr>
              <a:t>Todos sobreexpresados en IFN-high</a:t>
            </a:r>
            <a:endParaRPr sz="2000">
              <a:solidFill>
                <a:srgbClr val="6B707A"/>
              </a:solidFill>
              <a:latin typeface="Calibri"/>
              <a:ea typeface="Calibri"/>
              <a:cs typeface="Calibri"/>
              <a:sym typeface="Calibri"/>
            </a:endParaRPr>
          </a:p>
          <a:p>
            <a:pPr indent="-355600" lvl="0" marL="457200" marR="0" rtl="0" algn="just">
              <a:spcBef>
                <a:spcPts val="0"/>
              </a:spcBef>
              <a:spcAft>
                <a:spcPts val="0"/>
              </a:spcAft>
              <a:buClr>
                <a:srgbClr val="6B707A"/>
              </a:buClr>
              <a:buSzPts val="2000"/>
              <a:buFont typeface="Calibri"/>
              <a:buChar char="●"/>
            </a:pPr>
            <a:r>
              <a:rPr lang="en-US" sz="2000">
                <a:solidFill>
                  <a:srgbClr val="6B707A"/>
                </a:solidFill>
                <a:latin typeface="Calibri"/>
                <a:ea typeface="Calibri"/>
                <a:cs typeface="Calibri"/>
                <a:sym typeface="Calibri"/>
              </a:rPr>
              <a:t>Mayor LFC: </a:t>
            </a:r>
            <a:r>
              <a:rPr b="1" lang="en-US" sz="2000">
                <a:solidFill>
                  <a:srgbClr val="6B707A"/>
                </a:solidFill>
                <a:latin typeface="Calibri"/>
                <a:ea typeface="Calibri"/>
                <a:cs typeface="Calibri"/>
                <a:sym typeface="Calibri"/>
              </a:rPr>
              <a:t>IFI27 · IFI44L · RSAD2</a:t>
            </a:r>
            <a:endParaRPr b="1" sz="2000">
              <a:solidFill>
                <a:srgbClr val="6B707A"/>
              </a:solidFill>
              <a:latin typeface="Calibri"/>
              <a:ea typeface="Calibri"/>
              <a:cs typeface="Calibri"/>
              <a:sym typeface="Calibri"/>
            </a:endParaRPr>
          </a:p>
        </p:txBody>
      </p:sp>
      <p:sp>
        <p:nvSpPr>
          <p:cNvPr id="255" name="Google Shape;255;g3e5a2eb6d59_1_3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56" name="Google Shape;256;g3e5a2eb6d59_1_38"/>
          <p:cNvSpPr/>
          <p:nvPr/>
        </p:nvSpPr>
        <p:spPr>
          <a:xfrm>
            <a:off x="6528325" y="5131075"/>
            <a:ext cx="5292000" cy="868800"/>
          </a:xfrm>
          <a:prstGeom prst="rect">
            <a:avLst/>
          </a:prstGeom>
          <a:noFill/>
          <a:ln>
            <a:noFill/>
          </a:ln>
        </p:spPr>
        <p:txBody>
          <a:bodyPr anchorCtr="0" anchor="ctr" bIns="45700" lIns="91425" spcFirstLastPara="1" rIns="91425" wrap="square" tIns="45700">
            <a:noAutofit/>
          </a:bodyPr>
          <a:lstStyle/>
          <a:p>
            <a:pPr indent="0" lvl="0" marL="0" marR="0" rtl="0" algn="just">
              <a:lnSpc>
                <a:spcPct val="115000"/>
              </a:lnSpc>
              <a:spcBef>
                <a:spcPts val="0"/>
              </a:spcBef>
              <a:spcAft>
                <a:spcPts val="0"/>
              </a:spcAft>
              <a:buClr>
                <a:srgbClr val="2E3138"/>
              </a:buClr>
              <a:buSzPts val="1400"/>
              <a:buFont typeface="Calibri"/>
              <a:buNone/>
            </a:pPr>
            <a:r>
              <a:rPr b="1" lang="en-US" sz="2100">
                <a:solidFill>
                  <a:srgbClr val="2E3138"/>
                </a:solidFill>
                <a:latin typeface="Calibri"/>
                <a:ea typeface="Calibri"/>
                <a:cs typeface="Calibri"/>
                <a:sym typeface="Calibri"/>
              </a:rPr>
              <a:t>La clasificación IFN-high captura un programa transcriptómico amplio.</a:t>
            </a:r>
            <a:endParaRPr b="1" sz="2100" u="none" cap="none" strike="noStrike">
              <a:solidFill>
                <a:schemeClr val="dk1"/>
              </a:solidFill>
              <a:latin typeface="Calibri"/>
              <a:ea typeface="Calibri"/>
              <a:cs typeface="Calibri"/>
              <a:sym typeface="Calibri"/>
            </a:endParaRPr>
          </a:p>
        </p:txBody>
      </p:sp>
      <p:pic>
        <p:nvPicPr>
          <p:cNvPr id="257" name="Google Shape;257;g3e5a2eb6d59_1_38" title="volcano plot IFN-high_low-1.png"/>
          <p:cNvPicPr preferRelativeResize="0"/>
          <p:nvPr/>
        </p:nvPicPr>
        <p:blipFill>
          <a:blip r:embed="rId3">
            <a:alphaModFix/>
          </a:blip>
          <a:stretch>
            <a:fillRect/>
          </a:stretch>
        </p:blipFill>
        <p:spPr>
          <a:xfrm>
            <a:off x="548850" y="1666525"/>
            <a:ext cx="5814574" cy="45100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262" name="Shape 262"/>
        <p:cNvGrpSpPr/>
        <p:nvPr/>
      </p:nvGrpSpPr>
      <p:grpSpPr>
        <a:xfrm>
          <a:off x="0" y="0"/>
          <a:ext cx="0" cy="0"/>
          <a:chOff x="0" y="0"/>
          <a:chExt cx="0" cy="0"/>
        </a:xfrm>
      </p:grpSpPr>
      <p:sp>
        <p:nvSpPr>
          <p:cNvPr id="263" name="Google Shape;263;p9"/>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RESULTADOS · CLÍNICA</a:t>
            </a:r>
            <a:endParaRPr b="0" i="0" sz="1000" u="none" cap="none" strike="noStrike">
              <a:solidFill>
                <a:schemeClr val="dk1"/>
              </a:solidFill>
              <a:latin typeface="Calibri"/>
              <a:ea typeface="Calibri"/>
              <a:cs typeface="Calibri"/>
              <a:sym typeface="Calibri"/>
            </a:endParaRPr>
          </a:p>
        </p:txBody>
      </p:sp>
      <p:sp>
        <p:nvSpPr>
          <p:cNvPr id="264" name="Google Shape;264;p9"/>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09 / 20</a:t>
            </a:r>
            <a:endParaRPr b="0" i="0" sz="1000" u="none" cap="none" strike="noStrike">
              <a:solidFill>
                <a:schemeClr val="dk1"/>
              </a:solidFill>
              <a:latin typeface="Calibri"/>
              <a:ea typeface="Calibri"/>
              <a:cs typeface="Calibri"/>
              <a:sym typeface="Calibri"/>
            </a:endParaRPr>
          </a:p>
        </p:txBody>
      </p:sp>
      <p:sp>
        <p:nvSpPr>
          <p:cNvPr id="265" name="Google Shape;265;p9"/>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lang="en-US" sz="3200">
                <a:solidFill>
                  <a:srgbClr val="2E3138"/>
                </a:solidFill>
                <a:latin typeface="Calibri"/>
                <a:ea typeface="Calibri"/>
                <a:cs typeface="Calibri"/>
                <a:sym typeface="Calibri"/>
              </a:rPr>
              <a:t>IFN-high: fenotipo clínico más activo y con mayor daño</a:t>
            </a:r>
            <a:endParaRPr b="0" i="0" sz="3200" u="none" cap="none" strike="noStrike">
              <a:solidFill>
                <a:schemeClr val="dk1"/>
              </a:solidFill>
              <a:latin typeface="Calibri"/>
              <a:ea typeface="Calibri"/>
              <a:cs typeface="Calibri"/>
              <a:sym typeface="Calibri"/>
            </a:endParaRPr>
          </a:p>
        </p:txBody>
      </p:sp>
      <p:sp>
        <p:nvSpPr>
          <p:cNvPr id="267" name="Google Shape;267;p9"/>
          <p:cNvSpPr/>
          <p:nvPr/>
        </p:nvSpPr>
        <p:spPr>
          <a:xfrm>
            <a:off x="548550" y="1691650"/>
            <a:ext cx="11094300" cy="777300"/>
          </a:xfrm>
          <a:prstGeom prst="rect">
            <a:avLst/>
          </a:prstGeom>
          <a:noFill/>
          <a:ln>
            <a:noFill/>
          </a:ln>
        </p:spPr>
        <p:txBody>
          <a:bodyPr anchorCtr="0" anchor="ctr" bIns="45700" lIns="91425" spcFirstLastPara="1" rIns="91425" wrap="square" tIns="45700">
            <a:noAutofit/>
          </a:bodyPr>
          <a:lstStyle/>
          <a:p>
            <a:pPr indent="0" lvl="0" marL="0" marR="0" rtl="0" algn="just">
              <a:spcBef>
                <a:spcPts val="0"/>
              </a:spcBef>
              <a:spcAft>
                <a:spcPts val="0"/>
              </a:spcAft>
              <a:buClr>
                <a:srgbClr val="6B707A"/>
              </a:buClr>
              <a:buSzPts val="1600"/>
              <a:buFont typeface="Calibri"/>
              <a:buNone/>
            </a:pPr>
            <a:r>
              <a:rPr lang="en-US" sz="1800">
                <a:solidFill>
                  <a:srgbClr val="6B707A"/>
                </a:solidFill>
                <a:latin typeface="Calibri"/>
                <a:ea typeface="Calibri"/>
                <a:cs typeface="Calibri"/>
                <a:sym typeface="Calibri"/>
              </a:rPr>
              <a:t>Más actividad, más daño, debut más precoz, mayor inflamación sistémica y peor perfil metabólico</a:t>
            </a:r>
            <a:r>
              <a:rPr b="0" i="0" lang="en-US" sz="1800" u="none" cap="none" strike="noStrike">
                <a:solidFill>
                  <a:srgbClr val="6B707A"/>
                </a:solidFill>
                <a:latin typeface="Calibri"/>
                <a:ea typeface="Calibri"/>
                <a:cs typeface="Calibri"/>
                <a:sym typeface="Calibri"/>
              </a:rPr>
              <a:t> en pacientes IFN-high.</a:t>
            </a:r>
            <a:endParaRPr b="0" i="0" sz="1800" u="none" cap="none" strike="noStrike">
              <a:solidFill>
                <a:schemeClr val="dk1"/>
              </a:solidFill>
              <a:latin typeface="Calibri"/>
              <a:ea typeface="Calibri"/>
              <a:cs typeface="Calibri"/>
              <a:sym typeface="Calibri"/>
            </a:endParaRPr>
          </a:p>
        </p:txBody>
      </p:sp>
      <p:sp>
        <p:nvSpPr>
          <p:cNvPr id="268" name="Google Shape;268;p9"/>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a:t>
            </a:r>
            <a:r>
              <a:rPr lang="en-US" sz="900">
                <a:solidFill>
                  <a:srgbClr val="6B707A"/>
                </a:solidFill>
                <a:latin typeface="Calibri"/>
                <a:ea typeface="Calibri"/>
                <a:cs typeface="Calibri"/>
                <a:sym typeface="Calibri"/>
              </a:rPr>
              <a:t>Bernal </a:t>
            </a:r>
            <a:r>
              <a:rPr b="0" i="0" lang="en-US" sz="900" u="none" cap="none" strike="noStrike">
                <a:solidFill>
                  <a:srgbClr val="6B707A"/>
                </a:solidFill>
                <a:latin typeface="Calibri"/>
                <a:ea typeface="Calibri"/>
                <a:cs typeface="Calibri"/>
                <a:sym typeface="Calibri"/>
              </a:rPr>
              <a:t>Gómez · TFM Bioinformática y Bioestadística</a:t>
            </a:r>
            <a:endParaRPr b="0" i="0" sz="900" u="none" cap="none" strike="noStrike">
              <a:solidFill>
                <a:schemeClr val="dk1"/>
              </a:solidFill>
              <a:latin typeface="Calibri"/>
              <a:ea typeface="Calibri"/>
              <a:cs typeface="Calibri"/>
              <a:sym typeface="Calibri"/>
            </a:endParaRPr>
          </a:p>
        </p:txBody>
      </p:sp>
      <p:sp>
        <p:nvSpPr>
          <p:cNvPr id="270" name="Google Shape;270;p9"/>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
        <p:nvSpPr>
          <p:cNvPr id="271" name="Google Shape;271;p9"/>
          <p:cNvSpPr/>
          <p:nvPr/>
        </p:nvSpPr>
        <p:spPr>
          <a:xfrm>
            <a:off x="548662" y="2774607"/>
            <a:ext cx="3459000" cy="1463100"/>
          </a:xfrm>
          <a:prstGeom prst="rect">
            <a:avLst/>
          </a:prstGeom>
          <a:solidFill>
            <a:srgbClr val="F5DDD7"/>
          </a:solidFill>
          <a:ln cap="flat" cmpd="sng" w="12700">
            <a:solidFill>
              <a:srgbClr val="F5DDD7"/>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72" name="Google Shape;272;p9"/>
          <p:cNvSpPr/>
          <p:nvPr/>
        </p:nvSpPr>
        <p:spPr>
          <a:xfrm>
            <a:off x="548662" y="2774607"/>
            <a:ext cx="56100" cy="146310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73" name="Google Shape;273;p9"/>
          <p:cNvSpPr/>
          <p:nvPr/>
        </p:nvSpPr>
        <p:spPr>
          <a:xfrm>
            <a:off x="669342" y="2866047"/>
            <a:ext cx="4827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4B2F"/>
              </a:buClr>
              <a:buSzPts val="3800"/>
              <a:buFont typeface="Calibri"/>
              <a:buNone/>
            </a:pPr>
            <a:r>
              <a:rPr b="1" i="0" lang="en-US" sz="4800" u="none" cap="none" strike="noStrike">
                <a:solidFill>
                  <a:srgbClr val="A84B2F"/>
                </a:solidFill>
                <a:latin typeface="Calibri"/>
                <a:ea typeface="Calibri"/>
                <a:cs typeface="Calibri"/>
                <a:sym typeface="Calibri"/>
              </a:rPr>
              <a:t>↑</a:t>
            </a:r>
            <a:endParaRPr b="0" i="0" sz="4800" u="none" cap="none" strike="noStrike">
              <a:solidFill>
                <a:srgbClr val="000000"/>
              </a:solidFill>
              <a:latin typeface="Calibri"/>
              <a:ea typeface="Calibri"/>
              <a:cs typeface="Calibri"/>
              <a:sym typeface="Calibri"/>
            </a:endParaRPr>
          </a:p>
        </p:txBody>
      </p:sp>
      <p:sp>
        <p:nvSpPr>
          <p:cNvPr id="274" name="Google Shape;274;p9"/>
          <p:cNvSpPr/>
          <p:nvPr/>
        </p:nvSpPr>
        <p:spPr>
          <a:xfrm>
            <a:off x="1214477" y="2866035"/>
            <a:ext cx="2929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i="0" lang="en-US" sz="2700" u="none" cap="none" strike="noStrike">
                <a:solidFill>
                  <a:srgbClr val="2E3138"/>
                </a:solidFill>
                <a:latin typeface="Calibri"/>
                <a:ea typeface="Calibri"/>
                <a:cs typeface="Calibri"/>
                <a:sym typeface="Calibri"/>
              </a:rPr>
              <a:t>SLEDAI-2K</a:t>
            </a:r>
            <a:endParaRPr b="0" i="0" sz="2700" u="none" cap="none" strike="noStrike">
              <a:solidFill>
                <a:srgbClr val="000000"/>
              </a:solidFill>
              <a:latin typeface="Calibri"/>
              <a:ea typeface="Calibri"/>
              <a:cs typeface="Calibri"/>
              <a:sym typeface="Calibri"/>
            </a:endParaRPr>
          </a:p>
        </p:txBody>
      </p:sp>
      <p:sp>
        <p:nvSpPr>
          <p:cNvPr id="275" name="Google Shape;275;p9"/>
          <p:cNvSpPr/>
          <p:nvPr/>
        </p:nvSpPr>
        <p:spPr>
          <a:xfrm>
            <a:off x="1152063" y="3414685"/>
            <a:ext cx="2655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07A"/>
              </a:buClr>
              <a:buSzPts val="1100"/>
              <a:buFont typeface="Calibri"/>
              <a:buNone/>
            </a:pPr>
            <a:r>
              <a:rPr b="0" i="0" lang="en-US" sz="1800" u="none" cap="none" strike="noStrike">
                <a:solidFill>
                  <a:srgbClr val="6B707A"/>
                </a:solidFill>
                <a:latin typeface="Calibri"/>
                <a:ea typeface="Calibri"/>
                <a:cs typeface="Calibri"/>
                <a:sym typeface="Calibri"/>
              </a:rPr>
              <a:t>Mayor actividad global</a:t>
            </a:r>
            <a:endParaRPr b="0" i="0" sz="1800" u="none" cap="none" strike="noStrike">
              <a:solidFill>
                <a:srgbClr val="000000"/>
              </a:solidFill>
              <a:latin typeface="Calibri"/>
              <a:ea typeface="Calibri"/>
              <a:cs typeface="Calibri"/>
              <a:sym typeface="Calibri"/>
            </a:endParaRPr>
          </a:p>
        </p:txBody>
      </p:sp>
      <p:sp>
        <p:nvSpPr>
          <p:cNvPr id="276" name="Google Shape;276;p9"/>
          <p:cNvSpPr/>
          <p:nvPr/>
        </p:nvSpPr>
        <p:spPr>
          <a:xfrm>
            <a:off x="548662" y="4511962"/>
            <a:ext cx="3459000" cy="1463100"/>
          </a:xfrm>
          <a:prstGeom prst="rect">
            <a:avLst/>
          </a:prstGeom>
          <a:solidFill>
            <a:srgbClr val="F5DDD7"/>
          </a:solidFill>
          <a:ln cap="flat" cmpd="sng" w="12700">
            <a:solidFill>
              <a:srgbClr val="F5DDD7"/>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77" name="Google Shape;277;p9"/>
          <p:cNvSpPr/>
          <p:nvPr/>
        </p:nvSpPr>
        <p:spPr>
          <a:xfrm>
            <a:off x="548662" y="4511962"/>
            <a:ext cx="56100" cy="146310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78" name="Google Shape;278;p9"/>
          <p:cNvSpPr/>
          <p:nvPr/>
        </p:nvSpPr>
        <p:spPr>
          <a:xfrm>
            <a:off x="669342" y="4603401"/>
            <a:ext cx="4827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4B2F"/>
              </a:buClr>
              <a:buSzPts val="3800"/>
              <a:buFont typeface="Calibri"/>
              <a:buNone/>
            </a:pPr>
            <a:r>
              <a:rPr b="1" i="0" lang="en-US" sz="4800" u="none" cap="none" strike="noStrike">
                <a:solidFill>
                  <a:srgbClr val="A84B2F"/>
                </a:solidFill>
                <a:latin typeface="Calibri"/>
                <a:ea typeface="Calibri"/>
                <a:cs typeface="Calibri"/>
                <a:sym typeface="Calibri"/>
              </a:rPr>
              <a:t>↑</a:t>
            </a:r>
            <a:endParaRPr b="0" i="0" sz="4800" u="none" cap="none" strike="noStrike">
              <a:solidFill>
                <a:srgbClr val="000000"/>
              </a:solidFill>
              <a:latin typeface="Calibri"/>
              <a:ea typeface="Calibri"/>
              <a:cs typeface="Calibri"/>
              <a:sym typeface="Calibri"/>
            </a:endParaRPr>
          </a:p>
        </p:txBody>
      </p:sp>
      <p:sp>
        <p:nvSpPr>
          <p:cNvPr id="279" name="Google Shape;279;p9"/>
          <p:cNvSpPr/>
          <p:nvPr/>
        </p:nvSpPr>
        <p:spPr>
          <a:xfrm>
            <a:off x="1152063" y="4603401"/>
            <a:ext cx="2655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i="0" lang="en-US" sz="2700" u="none" cap="none" strike="noStrike">
                <a:solidFill>
                  <a:srgbClr val="2E3138"/>
                </a:solidFill>
                <a:latin typeface="Calibri"/>
                <a:ea typeface="Calibri"/>
                <a:cs typeface="Calibri"/>
                <a:sym typeface="Calibri"/>
              </a:rPr>
              <a:t>SLICC-DI</a:t>
            </a:r>
            <a:endParaRPr b="0" i="0" sz="2700" u="none" cap="none" strike="noStrike">
              <a:solidFill>
                <a:srgbClr val="000000"/>
              </a:solidFill>
              <a:latin typeface="Calibri"/>
              <a:ea typeface="Calibri"/>
              <a:cs typeface="Calibri"/>
              <a:sym typeface="Calibri"/>
            </a:endParaRPr>
          </a:p>
        </p:txBody>
      </p:sp>
      <p:sp>
        <p:nvSpPr>
          <p:cNvPr id="280" name="Google Shape;280;p9"/>
          <p:cNvSpPr/>
          <p:nvPr/>
        </p:nvSpPr>
        <p:spPr>
          <a:xfrm>
            <a:off x="1152063" y="5152040"/>
            <a:ext cx="2655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07A"/>
              </a:buClr>
              <a:buSzPts val="1100"/>
              <a:buFont typeface="Calibri"/>
              <a:buNone/>
            </a:pPr>
            <a:r>
              <a:rPr b="0" i="0" lang="en-US" sz="1800" u="none" cap="none" strike="noStrike">
                <a:solidFill>
                  <a:srgbClr val="6B707A"/>
                </a:solidFill>
                <a:latin typeface="Calibri"/>
                <a:ea typeface="Calibri"/>
                <a:cs typeface="Calibri"/>
                <a:sym typeface="Calibri"/>
              </a:rPr>
              <a:t>Mayor daño acumulado</a:t>
            </a:r>
            <a:endParaRPr b="0" i="0" sz="1800" u="none" cap="none" strike="noStrike">
              <a:solidFill>
                <a:srgbClr val="000000"/>
              </a:solidFill>
              <a:latin typeface="Calibri"/>
              <a:ea typeface="Calibri"/>
              <a:cs typeface="Calibri"/>
              <a:sym typeface="Calibri"/>
            </a:endParaRPr>
          </a:p>
        </p:txBody>
      </p:sp>
      <p:sp>
        <p:nvSpPr>
          <p:cNvPr id="281" name="Google Shape;281;p9"/>
          <p:cNvSpPr/>
          <p:nvPr/>
        </p:nvSpPr>
        <p:spPr>
          <a:xfrm>
            <a:off x="4354206" y="4523369"/>
            <a:ext cx="3459000" cy="1463100"/>
          </a:xfrm>
          <a:prstGeom prst="rect">
            <a:avLst/>
          </a:prstGeom>
          <a:solidFill>
            <a:srgbClr val="D6E4E6"/>
          </a:solidFill>
          <a:ln cap="flat" cmpd="sng" w="12700">
            <a:solidFill>
              <a:srgbClr val="F5DDD7"/>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82" name="Google Shape;282;p9"/>
          <p:cNvSpPr/>
          <p:nvPr/>
        </p:nvSpPr>
        <p:spPr>
          <a:xfrm>
            <a:off x="4354206" y="4523369"/>
            <a:ext cx="56100" cy="1463100"/>
          </a:xfrm>
          <a:prstGeom prst="rect">
            <a:avLst/>
          </a:prstGeom>
          <a:solidFill>
            <a:srgbClr val="0F6B78"/>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83" name="Google Shape;283;p9"/>
          <p:cNvSpPr/>
          <p:nvPr/>
        </p:nvSpPr>
        <p:spPr>
          <a:xfrm rot="10800000">
            <a:off x="4474877" y="4614812"/>
            <a:ext cx="4827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4B2F"/>
              </a:buClr>
              <a:buSzPts val="3800"/>
              <a:buFont typeface="Calibri"/>
              <a:buNone/>
            </a:pPr>
            <a:r>
              <a:rPr b="1" i="0" lang="en-US" sz="4800" u="none" cap="none" strike="noStrike">
                <a:solidFill>
                  <a:srgbClr val="0F6B78"/>
                </a:solidFill>
                <a:latin typeface="Calibri"/>
                <a:ea typeface="Calibri"/>
                <a:cs typeface="Calibri"/>
                <a:sym typeface="Calibri"/>
              </a:rPr>
              <a:t>↑</a:t>
            </a:r>
            <a:endParaRPr b="0" i="0" sz="4800" u="none" cap="none" strike="noStrike">
              <a:solidFill>
                <a:srgbClr val="0F6B78"/>
              </a:solidFill>
              <a:latin typeface="Calibri"/>
              <a:ea typeface="Calibri"/>
              <a:cs typeface="Calibri"/>
              <a:sym typeface="Calibri"/>
            </a:endParaRPr>
          </a:p>
        </p:txBody>
      </p:sp>
      <p:sp>
        <p:nvSpPr>
          <p:cNvPr id="284" name="Google Shape;284;p9"/>
          <p:cNvSpPr/>
          <p:nvPr/>
        </p:nvSpPr>
        <p:spPr>
          <a:xfrm>
            <a:off x="4957600" y="4614800"/>
            <a:ext cx="2855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lang="en-US" sz="2700">
                <a:solidFill>
                  <a:srgbClr val="2E3138"/>
                </a:solidFill>
                <a:latin typeface="Calibri"/>
                <a:ea typeface="Calibri"/>
                <a:cs typeface="Calibri"/>
                <a:sym typeface="Calibri"/>
              </a:rPr>
              <a:t>Edad al diagnóstico</a:t>
            </a:r>
            <a:endParaRPr b="0" i="0" sz="2700" u="none" cap="none" strike="noStrike">
              <a:solidFill>
                <a:srgbClr val="000000"/>
              </a:solidFill>
              <a:latin typeface="Calibri"/>
              <a:ea typeface="Calibri"/>
              <a:cs typeface="Calibri"/>
              <a:sym typeface="Calibri"/>
            </a:endParaRPr>
          </a:p>
        </p:txBody>
      </p:sp>
      <p:sp>
        <p:nvSpPr>
          <p:cNvPr id="285" name="Google Shape;285;p9"/>
          <p:cNvSpPr/>
          <p:nvPr/>
        </p:nvSpPr>
        <p:spPr>
          <a:xfrm>
            <a:off x="4957606" y="5163447"/>
            <a:ext cx="2655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07A"/>
              </a:buClr>
              <a:buSzPts val="1100"/>
              <a:buFont typeface="Calibri"/>
              <a:buNone/>
            </a:pPr>
            <a:r>
              <a:rPr lang="en-US" sz="1800">
                <a:solidFill>
                  <a:srgbClr val="6B707A"/>
                </a:solidFill>
                <a:latin typeface="Calibri"/>
                <a:ea typeface="Calibri"/>
                <a:cs typeface="Calibri"/>
                <a:sym typeface="Calibri"/>
              </a:rPr>
              <a:t>Debut más precoz</a:t>
            </a:r>
            <a:endParaRPr b="0" i="0" sz="1800" u="none" cap="none" strike="noStrike">
              <a:solidFill>
                <a:srgbClr val="000000"/>
              </a:solidFill>
              <a:latin typeface="Calibri"/>
              <a:ea typeface="Calibri"/>
              <a:cs typeface="Calibri"/>
              <a:sym typeface="Calibri"/>
            </a:endParaRPr>
          </a:p>
        </p:txBody>
      </p:sp>
      <p:sp>
        <p:nvSpPr>
          <p:cNvPr id="286" name="Google Shape;286;p9"/>
          <p:cNvSpPr/>
          <p:nvPr/>
        </p:nvSpPr>
        <p:spPr>
          <a:xfrm>
            <a:off x="8183929" y="4500532"/>
            <a:ext cx="3459000" cy="1463100"/>
          </a:xfrm>
          <a:prstGeom prst="rect">
            <a:avLst/>
          </a:prstGeom>
          <a:solidFill>
            <a:srgbClr val="F5DDD7"/>
          </a:solidFill>
          <a:ln cap="flat" cmpd="sng" w="12700">
            <a:solidFill>
              <a:srgbClr val="F5DDD7"/>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87" name="Google Shape;287;p9"/>
          <p:cNvSpPr/>
          <p:nvPr/>
        </p:nvSpPr>
        <p:spPr>
          <a:xfrm>
            <a:off x="8183929" y="4500532"/>
            <a:ext cx="56100" cy="146310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88" name="Google Shape;288;p9"/>
          <p:cNvSpPr/>
          <p:nvPr/>
        </p:nvSpPr>
        <p:spPr>
          <a:xfrm>
            <a:off x="8304609" y="4591972"/>
            <a:ext cx="4827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4B2F"/>
              </a:buClr>
              <a:buSzPts val="3800"/>
              <a:buFont typeface="Calibri"/>
              <a:buNone/>
            </a:pPr>
            <a:r>
              <a:rPr b="1" i="0" lang="en-US" sz="4800" u="none" cap="none" strike="noStrike">
                <a:solidFill>
                  <a:srgbClr val="A84B2F"/>
                </a:solidFill>
                <a:latin typeface="Calibri"/>
                <a:ea typeface="Calibri"/>
                <a:cs typeface="Calibri"/>
                <a:sym typeface="Calibri"/>
              </a:rPr>
              <a:t>↑</a:t>
            </a:r>
            <a:endParaRPr b="0" i="0" sz="4800" u="none" cap="none" strike="noStrike">
              <a:solidFill>
                <a:srgbClr val="000000"/>
              </a:solidFill>
              <a:latin typeface="Calibri"/>
              <a:ea typeface="Calibri"/>
              <a:cs typeface="Calibri"/>
              <a:sym typeface="Calibri"/>
            </a:endParaRPr>
          </a:p>
        </p:txBody>
      </p:sp>
      <p:sp>
        <p:nvSpPr>
          <p:cNvPr id="289" name="Google Shape;289;p9"/>
          <p:cNvSpPr/>
          <p:nvPr/>
        </p:nvSpPr>
        <p:spPr>
          <a:xfrm>
            <a:off x="8787330" y="4591972"/>
            <a:ext cx="2655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lang="en-US" sz="2700">
                <a:solidFill>
                  <a:srgbClr val="2E3138"/>
                </a:solidFill>
                <a:latin typeface="Calibri"/>
                <a:ea typeface="Calibri"/>
                <a:cs typeface="Calibri"/>
                <a:sym typeface="Calibri"/>
              </a:rPr>
              <a:t>IFN-α, IFN-γ, IL-2</a:t>
            </a:r>
            <a:endParaRPr b="0" i="0" sz="2700" u="none" cap="none" strike="noStrike">
              <a:solidFill>
                <a:srgbClr val="000000"/>
              </a:solidFill>
              <a:latin typeface="Calibri"/>
              <a:ea typeface="Calibri"/>
              <a:cs typeface="Calibri"/>
              <a:sym typeface="Calibri"/>
            </a:endParaRPr>
          </a:p>
        </p:txBody>
      </p:sp>
      <p:sp>
        <p:nvSpPr>
          <p:cNvPr id="290" name="Google Shape;290;p9"/>
          <p:cNvSpPr/>
          <p:nvPr/>
        </p:nvSpPr>
        <p:spPr>
          <a:xfrm>
            <a:off x="8787330" y="5140610"/>
            <a:ext cx="2655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07A"/>
              </a:buClr>
              <a:buSzPts val="1100"/>
              <a:buFont typeface="Calibri"/>
              <a:buNone/>
            </a:pPr>
            <a:r>
              <a:rPr lang="en-US" sz="1800">
                <a:solidFill>
                  <a:srgbClr val="6B707A"/>
                </a:solidFill>
                <a:latin typeface="Calibri"/>
                <a:ea typeface="Calibri"/>
                <a:cs typeface="Calibri"/>
                <a:sym typeface="Calibri"/>
              </a:rPr>
              <a:t>Mayor activación inflamatoria</a:t>
            </a:r>
            <a:endParaRPr b="0" i="0" sz="1800" u="none" cap="none" strike="noStrike">
              <a:solidFill>
                <a:srgbClr val="000000"/>
              </a:solidFill>
              <a:latin typeface="Calibri"/>
              <a:ea typeface="Calibri"/>
              <a:cs typeface="Calibri"/>
              <a:sym typeface="Calibri"/>
            </a:endParaRPr>
          </a:p>
        </p:txBody>
      </p:sp>
      <p:sp>
        <p:nvSpPr>
          <p:cNvPr id="291" name="Google Shape;291;p9"/>
          <p:cNvSpPr/>
          <p:nvPr/>
        </p:nvSpPr>
        <p:spPr>
          <a:xfrm>
            <a:off x="4354206" y="2768838"/>
            <a:ext cx="3459000" cy="1463100"/>
          </a:xfrm>
          <a:prstGeom prst="rect">
            <a:avLst/>
          </a:prstGeom>
          <a:solidFill>
            <a:srgbClr val="F5DDD7"/>
          </a:solidFill>
          <a:ln cap="flat" cmpd="sng" w="12700">
            <a:solidFill>
              <a:srgbClr val="F5DDD7"/>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92" name="Google Shape;292;p9"/>
          <p:cNvSpPr/>
          <p:nvPr/>
        </p:nvSpPr>
        <p:spPr>
          <a:xfrm>
            <a:off x="4354206" y="2768838"/>
            <a:ext cx="56100" cy="146310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93" name="Google Shape;293;p9"/>
          <p:cNvSpPr/>
          <p:nvPr/>
        </p:nvSpPr>
        <p:spPr>
          <a:xfrm>
            <a:off x="4474886" y="2860277"/>
            <a:ext cx="4827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4B2F"/>
              </a:buClr>
              <a:buSzPts val="3800"/>
              <a:buFont typeface="Calibri"/>
              <a:buNone/>
            </a:pPr>
            <a:r>
              <a:rPr b="1" i="0" lang="en-US" sz="4800" u="none" cap="none" strike="noStrike">
                <a:solidFill>
                  <a:srgbClr val="A84B2F"/>
                </a:solidFill>
                <a:latin typeface="Calibri"/>
                <a:ea typeface="Calibri"/>
                <a:cs typeface="Calibri"/>
                <a:sym typeface="Calibri"/>
              </a:rPr>
              <a:t>↑</a:t>
            </a:r>
            <a:endParaRPr b="0" i="0" sz="4800" u="none" cap="none" strike="noStrike">
              <a:solidFill>
                <a:srgbClr val="000000"/>
              </a:solidFill>
              <a:latin typeface="Calibri"/>
              <a:ea typeface="Calibri"/>
              <a:cs typeface="Calibri"/>
              <a:sym typeface="Calibri"/>
            </a:endParaRPr>
          </a:p>
        </p:txBody>
      </p:sp>
      <p:sp>
        <p:nvSpPr>
          <p:cNvPr id="294" name="Google Shape;294;p9"/>
          <p:cNvSpPr/>
          <p:nvPr/>
        </p:nvSpPr>
        <p:spPr>
          <a:xfrm>
            <a:off x="4957606" y="2860277"/>
            <a:ext cx="2655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i="0" lang="en-US" sz="2700" u="none" cap="none" strike="noStrike">
                <a:solidFill>
                  <a:srgbClr val="2E3138"/>
                </a:solidFill>
                <a:latin typeface="Calibri"/>
                <a:ea typeface="Calibri"/>
                <a:cs typeface="Calibri"/>
                <a:sym typeface="Calibri"/>
              </a:rPr>
              <a:t>SLE-DAS</a:t>
            </a:r>
            <a:endParaRPr b="0" i="0" sz="2700" u="none" cap="none" strike="noStrike">
              <a:solidFill>
                <a:srgbClr val="000000"/>
              </a:solidFill>
              <a:latin typeface="Calibri"/>
              <a:ea typeface="Calibri"/>
              <a:cs typeface="Calibri"/>
              <a:sym typeface="Calibri"/>
            </a:endParaRPr>
          </a:p>
        </p:txBody>
      </p:sp>
      <p:sp>
        <p:nvSpPr>
          <p:cNvPr id="295" name="Google Shape;295;p9"/>
          <p:cNvSpPr/>
          <p:nvPr/>
        </p:nvSpPr>
        <p:spPr>
          <a:xfrm>
            <a:off x="4957606" y="3408916"/>
            <a:ext cx="2655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07A"/>
              </a:buClr>
              <a:buSzPts val="1100"/>
              <a:buFont typeface="Calibri"/>
              <a:buNone/>
            </a:pPr>
            <a:r>
              <a:rPr b="0" i="0" lang="en-US" sz="1800" u="none" cap="none" strike="noStrike">
                <a:solidFill>
                  <a:srgbClr val="6B707A"/>
                </a:solidFill>
                <a:latin typeface="Calibri"/>
                <a:ea typeface="Calibri"/>
                <a:cs typeface="Calibri"/>
                <a:sym typeface="Calibri"/>
              </a:rPr>
              <a:t>Mayor actividad compuesta</a:t>
            </a:r>
            <a:endParaRPr b="0" i="0" sz="1800" u="none" cap="none" strike="noStrike">
              <a:solidFill>
                <a:srgbClr val="000000"/>
              </a:solidFill>
              <a:latin typeface="Calibri"/>
              <a:ea typeface="Calibri"/>
              <a:cs typeface="Calibri"/>
              <a:sym typeface="Calibri"/>
            </a:endParaRPr>
          </a:p>
        </p:txBody>
      </p:sp>
      <p:sp>
        <p:nvSpPr>
          <p:cNvPr id="296" name="Google Shape;296;p9"/>
          <p:cNvSpPr/>
          <p:nvPr/>
        </p:nvSpPr>
        <p:spPr>
          <a:xfrm>
            <a:off x="8183929" y="2746000"/>
            <a:ext cx="3459000" cy="1463100"/>
          </a:xfrm>
          <a:prstGeom prst="rect">
            <a:avLst/>
          </a:prstGeom>
          <a:solidFill>
            <a:srgbClr val="D6E4E6"/>
          </a:solidFill>
          <a:ln cap="flat" cmpd="sng" w="12700">
            <a:solidFill>
              <a:srgbClr val="F5DDD7"/>
            </a:solidFill>
            <a:prstDash val="solid"/>
            <a:round/>
            <a:headEnd len="sm" w="sm" type="none"/>
            <a:tailEnd len="sm" w="sm" type="none"/>
          </a:ln>
          <a:effectLst>
            <a:outerShdw blurRad="101600" rotWithShape="0" algn="bl" dir="8100000" dist="381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97" name="Google Shape;297;p9"/>
          <p:cNvSpPr/>
          <p:nvPr/>
        </p:nvSpPr>
        <p:spPr>
          <a:xfrm>
            <a:off x="8183929" y="2746000"/>
            <a:ext cx="56100" cy="1463100"/>
          </a:xfrm>
          <a:prstGeom prst="rect">
            <a:avLst/>
          </a:prstGeom>
          <a:solidFill>
            <a:srgbClr val="0F6B78"/>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sp>
        <p:nvSpPr>
          <p:cNvPr id="298" name="Google Shape;298;p9"/>
          <p:cNvSpPr/>
          <p:nvPr/>
        </p:nvSpPr>
        <p:spPr>
          <a:xfrm rot="10800000">
            <a:off x="8304600" y="2837443"/>
            <a:ext cx="4827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4B2F"/>
              </a:buClr>
              <a:buSzPts val="3800"/>
              <a:buFont typeface="Calibri"/>
              <a:buNone/>
            </a:pPr>
            <a:r>
              <a:rPr b="1" i="0" lang="en-US" sz="4800" u="none" cap="none" strike="noStrike">
                <a:solidFill>
                  <a:srgbClr val="0F6B78"/>
                </a:solidFill>
                <a:latin typeface="Calibri"/>
                <a:ea typeface="Calibri"/>
                <a:cs typeface="Calibri"/>
                <a:sym typeface="Calibri"/>
              </a:rPr>
              <a:t>↑</a:t>
            </a:r>
            <a:endParaRPr b="0" i="0" sz="4800" u="none" cap="none" strike="noStrike">
              <a:solidFill>
                <a:srgbClr val="0F6B78"/>
              </a:solidFill>
              <a:latin typeface="Calibri"/>
              <a:ea typeface="Calibri"/>
              <a:cs typeface="Calibri"/>
              <a:sym typeface="Calibri"/>
            </a:endParaRPr>
          </a:p>
        </p:txBody>
      </p:sp>
      <p:sp>
        <p:nvSpPr>
          <p:cNvPr id="299" name="Google Shape;299;p9"/>
          <p:cNvSpPr/>
          <p:nvPr/>
        </p:nvSpPr>
        <p:spPr>
          <a:xfrm>
            <a:off x="8787330" y="2837440"/>
            <a:ext cx="2655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lang="en-US" sz="2700">
                <a:solidFill>
                  <a:srgbClr val="2E3138"/>
                </a:solidFill>
                <a:latin typeface="Calibri"/>
                <a:ea typeface="Calibri"/>
                <a:cs typeface="Calibri"/>
                <a:sym typeface="Calibri"/>
              </a:rPr>
              <a:t>HDL, Apo-AI</a:t>
            </a:r>
            <a:endParaRPr b="0" i="0" sz="2700" u="none" cap="none" strike="noStrike">
              <a:solidFill>
                <a:srgbClr val="000000"/>
              </a:solidFill>
              <a:latin typeface="Calibri"/>
              <a:ea typeface="Calibri"/>
              <a:cs typeface="Calibri"/>
              <a:sym typeface="Calibri"/>
            </a:endParaRPr>
          </a:p>
        </p:txBody>
      </p:sp>
      <p:sp>
        <p:nvSpPr>
          <p:cNvPr id="300" name="Google Shape;300;p9"/>
          <p:cNvSpPr/>
          <p:nvPr/>
        </p:nvSpPr>
        <p:spPr>
          <a:xfrm>
            <a:off x="8787330" y="3386078"/>
            <a:ext cx="2655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07A"/>
              </a:buClr>
              <a:buSzPts val="1100"/>
              <a:buFont typeface="Calibri"/>
              <a:buNone/>
            </a:pPr>
            <a:r>
              <a:rPr lang="en-US" sz="1800">
                <a:solidFill>
                  <a:srgbClr val="6B707A"/>
                </a:solidFill>
                <a:latin typeface="Calibri"/>
                <a:ea typeface="Calibri"/>
                <a:cs typeface="Calibri"/>
                <a:sym typeface="Calibri"/>
              </a:rPr>
              <a:t>Perfil lipídico más aterogénico</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7F7F5"/>
        </a:solidFill>
      </p:bgPr>
    </p:bg>
    <p:spTree>
      <p:nvGrpSpPr>
        <p:cNvPr id="305" name="Shape 305"/>
        <p:cNvGrpSpPr/>
        <p:nvPr/>
      </p:nvGrpSpPr>
      <p:grpSpPr>
        <a:xfrm>
          <a:off x="0" y="0"/>
          <a:ext cx="0" cy="0"/>
          <a:chOff x="0" y="0"/>
          <a:chExt cx="0" cy="0"/>
        </a:xfrm>
      </p:grpSpPr>
      <p:sp>
        <p:nvSpPr>
          <p:cNvPr id="306" name="Google Shape;306;p11"/>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RESULTADOS · ROC</a:t>
            </a:r>
            <a:endParaRPr b="0" i="0" sz="1000" u="none" cap="none" strike="noStrike">
              <a:solidFill>
                <a:schemeClr val="dk1"/>
              </a:solidFill>
              <a:latin typeface="Calibri"/>
              <a:ea typeface="Calibri"/>
              <a:cs typeface="Calibri"/>
              <a:sym typeface="Calibri"/>
            </a:endParaRPr>
          </a:p>
        </p:txBody>
      </p:sp>
      <p:sp>
        <p:nvSpPr>
          <p:cNvPr id="307" name="Google Shape;307;p11"/>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11 / 20</a:t>
            </a:r>
            <a:endParaRPr b="0" i="0" sz="1000" u="none" cap="none" strike="noStrike">
              <a:solidFill>
                <a:schemeClr val="dk1"/>
              </a:solidFill>
              <a:latin typeface="Calibri"/>
              <a:ea typeface="Calibri"/>
              <a:cs typeface="Calibri"/>
              <a:sym typeface="Calibri"/>
            </a:endParaRPr>
          </a:p>
        </p:txBody>
      </p:sp>
      <p:sp>
        <p:nvSpPr>
          <p:cNvPr id="308" name="Google Shape;308;p11"/>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548645" y="902900"/>
            <a:ext cx="57603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lang="en-US" sz="3100">
                <a:solidFill>
                  <a:srgbClr val="2E3138"/>
                </a:solidFill>
                <a:latin typeface="Calibri"/>
                <a:ea typeface="Calibri"/>
                <a:cs typeface="Calibri"/>
                <a:sym typeface="Calibri"/>
              </a:rPr>
              <a:t>IFN-α sérico discrimina IFN-high mejor que los marcadores clásicos</a:t>
            </a:r>
            <a:endParaRPr b="0" i="0" sz="3100" u="none" cap="none" strike="noStrike">
              <a:solidFill>
                <a:schemeClr val="dk1"/>
              </a:solidFill>
              <a:latin typeface="Calibri"/>
              <a:ea typeface="Calibri"/>
              <a:cs typeface="Calibri"/>
              <a:sym typeface="Calibri"/>
            </a:endParaRPr>
          </a:p>
        </p:txBody>
      </p:sp>
      <p:sp>
        <p:nvSpPr>
          <p:cNvPr id="310" name="Google Shape;310;p11"/>
          <p:cNvSpPr/>
          <p:nvPr/>
        </p:nvSpPr>
        <p:spPr>
          <a:xfrm>
            <a:off x="548650" y="2080250"/>
            <a:ext cx="5557500" cy="4023300"/>
          </a:xfrm>
          <a:prstGeom prst="roundRect">
            <a:avLst>
              <a:gd fmla="val 2727"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11" name="Google Shape;311;p11"/>
          <p:cNvSpPr/>
          <p:nvPr/>
        </p:nvSpPr>
        <p:spPr>
          <a:xfrm>
            <a:off x="857402" y="2217410"/>
            <a:ext cx="49398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400"/>
              <a:buFont typeface="Calibri"/>
              <a:buNone/>
            </a:pPr>
            <a:r>
              <a:rPr b="1" i="0" lang="en-US" sz="2000" u="none" cap="none" strike="noStrike">
                <a:solidFill>
                  <a:srgbClr val="2E3138"/>
                </a:solidFill>
                <a:latin typeface="Calibri"/>
                <a:ea typeface="Calibri"/>
                <a:cs typeface="Calibri"/>
                <a:sym typeface="Calibri"/>
              </a:rPr>
              <a:t>AUC frente a IFN-high</a:t>
            </a:r>
            <a:endParaRPr b="0" i="0" sz="2000" u="none" cap="none" strike="noStrike">
              <a:solidFill>
                <a:schemeClr val="dk1"/>
              </a:solidFill>
              <a:latin typeface="Calibri"/>
              <a:ea typeface="Calibri"/>
              <a:cs typeface="Calibri"/>
              <a:sym typeface="Calibri"/>
            </a:endParaRPr>
          </a:p>
        </p:txBody>
      </p:sp>
      <p:sp>
        <p:nvSpPr>
          <p:cNvPr id="312" name="Google Shape;312;p11"/>
          <p:cNvSpPr/>
          <p:nvPr/>
        </p:nvSpPr>
        <p:spPr>
          <a:xfrm>
            <a:off x="857402" y="2720330"/>
            <a:ext cx="1338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900" u="none" cap="none" strike="noStrike">
                <a:solidFill>
                  <a:srgbClr val="2E3138"/>
                </a:solidFill>
                <a:latin typeface="Calibri"/>
                <a:ea typeface="Calibri"/>
                <a:cs typeface="Calibri"/>
                <a:sym typeface="Calibri"/>
              </a:rPr>
              <a:t>IFN-α</a:t>
            </a:r>
            <a:endParaRPr b="0" i="0" sz="1900" u="none" cap="none" strike="noStrike">
              <a:solidFill>
                <a:schemeClr val="dk1"/>
              </a:solidFill>
              <a:latin typeface="Calibri"/>
              <a:ea typeface="Calibri"/>
              <a:cs typeface="Calibri"/>
              <a:sym typeface="Calibri"/>
            </a:endParaRPr>
          </a:p>
        </p:txBody>
      </p:sp>
      <p:sp>
        <p:nvSpPr>
          <p:cNvPr id="313" name="Google Shape;313;p11"/>
          <p:cNvSpPr/>
          <p:nvPr/>
        </p:nvSpPr>
        <p:spPr>
          <a:xfrm>
            <a:off x="2195330" y="2811770"/>
            <a:ext cx="2778900" cy="228600"/>
          </a:xfrm>
          <a:prstGeom prst="rect">
            <a:avLst/>
          </a:prstGeom>
          <a:solidFill>
            <a:srgbClr val="EEEFF2"/>
          </a:solidFill>
          <a:ln cap="flat" cmpd="sng" w="12700">
            <a:solidFill>
              <a:srgbClr val="EE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14" name="Google Shape;314;p11"/>
          <p:cNvSpPr/>
          <p:nvPr/>
        </p:nvSpPr>
        <p:spPr>
          <a:xfrm>
            <a:off x="2195330" y="2811770"/>
            <a:ext cx="2623200" cy="22860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15" name="Google Shape;315;p11"/>
          <p:cNvSpPr/>
          <p:nvPr/>
        </p:nvSpPr>
        <p:spPr>
          <a:xfrm>
            <a:off x="5025560" y="2720330"/>
            <a:ext cx="1029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300"/>
              <a:buFont typeface="Calibri"/>
              <a:buNone/>
            </a:pPr>
            <a:r>
              <a:rPr b="1" i="0" lang="en-US" sz="1900" u="none" cap="none" strike="noStrike">
                <a:solidFill>
                  <a:srgbClr val="A84B2F"/>
                </a:solidFill>
                <a:latin typeface="Calibri"/>
                <a:ea typeface="Calibri"/>
                <a:cs typeface="Calibri"/>
                <a:sym typeface="Calibri"/>
              </a:rPr>
              <a:t>0,944</a:t>
            </a:r>
            <a:endParaRPr b="0" i="0" sz="1900" u="none" cap="none" strike="noStrike">
              <a:solidFill>
                <a:schemeClr val="dk1"/>
              </a:solidFill>
              <a:latin typeface="Calibri"/>
              <a:ea typeface="Calibri"/>
              <a:cs typeface="Calibri"/>
              <a:sym typeface="Calibri"/>
            </a:endParaRPr>
          </a:p>
        </p:txBody>
      </p:sp>
      <p:sp>
        <p:nvSpPr>
          <p:cNvPr id="316" name="Google Shape;316;p11"/>
          <p:cNvSpPr/>
          <p:nvPr/>
        </p:nvSpPr>
        <p:spPr>
          <a:xfrm>
            <a:off x="857402" y="3360410"/>
            <a:ext cx="1338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900" u="none" cap="none" strike="noStrike">
                <a:solidFill>
                  <a:srgbClr val="2E3138"/>
                </a:solidFill>
                <a:latin typeface="Calibri"/>
                <a:ea typeface="Calibri"/>
                <a:cs typeface="Calibri"/>
                <a:sym typeface="Calibri"/>
              </a:rPr>
              <a:t>SLEDAI-2K</a:t>
            </a:r>
            <a:endParaRPr b="0" i="0" sz="1900" u="none" cap="none" strike="noStrike">
              <a:solidFill>
                <a:schemeClr val="dk1"/>
              </a:solidFill>
              <a:latin typeface="Calibri"/>
              <a:ea typeface="Calibri"/>
              <a:cs typeface="Calibri"/>
              <a:sym typeface="Calibri"/>
            </a:endParaRPr>
          </a:p>
        </p:txBody>
      </p:sp>
      <p:sp>
        <p:nvSpPr>
          <p:cNvPr id="317" name="Google Shape;317;p11"/>
          <p:cNvSpPr/>
          <p:nvPr/>
        </p:nvSpPr>
        <p:spPr>
          <a:xfrm>
            <a:off x="2195330" y="3451850"/>
            <a:ext cx="2778900" cy="228600"/>
          </a:xfrm>
          <a:prstGeom prst="rect">
            <a:avLst/>
          </a:prstGeom>
          <a:solidFill>
            <a:srgbClr val="EEEFF2"/>
          </a:solidFill>
          <a:ln cap="flat" cmpd="sng" w="12700">
            <a:solidFill>
              <a:srgbClr val="EE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18" name="Google Shape;318;p11"/>
          <p:cNvSpPr/>
          <p:nvPr/>
        </p:nvSpPr>
        <p:spPr>
          <a:xfrm>
            <a:off x="2195330" y="3451850"/>
            <a:ext cx="1642500" cy="228600"/>
          </a:xfrm>
          <a:prstGeom prst="rect">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19" name="Google Shape;319;p11"/>
          <p:cNvSpPr/>
          <p:nvPr/>
        </p:nvSpPr>
        <p:spPr>
          <a:xfrm>
            <a:off x="5025560" y="3360410"/>
            <a:ext cx="1029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900" u="none" cap="none" strike="noStrike">
                <a:solidFill>
                  <a:srgbClr val="2E3138"/>
                </a:solidFill>
                <a:latin typeface="Calibri"/>
                <a:ea typeface="Calibri"/>
                <a:cs typeface="Calibri"/>
                <a:sym typeface="Calibri"/>
              </a:rPr>
              <a:t>0,591</a:t>
            </a:r>
            <a:endParaRPr b="0" i="0" sz="1900" u="none" cap="none" strike="noStrike">
              <a:solidFill>
                <a:schemeClr val="dk1"/>
              </a:solidFill>
              <a:latin typeface="Calibri"/>
              <a:ea typeface="Calibri"/>
              <a:cs typeface="Calibri"/>
              <a:sym typeface="Calibri"/>
            </a:endParaRPr>
          </a:p>
        </p:txBody>
      </p:sp>
      <p:sp>
        <p:nvSpPr>
          <p:cNvPr id="320" name="Google Shape;320;p11"/>
          <p:cNvSpPr/>
          <p:nvPr/>
        </p:nvSpPr>
        <p:spPr>
          <a:xfrm>
            <a:off x="857402" y="4000490"/>
            <a:ext cx="1338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900" u="none" cap="none" strike="noStrike">
                <a:solidFill>
                  <a:srgbClr val="2E3138"/>
                </a:solidFill>
                <a:latin typeface="Calibri"/>
                <a:ea typeface="Calibri"/>
                <a:cs typeface="Calibri"/>
                <a:sym typeface="Calibri"/>
              </a:rPr>
              <a:t>C3</a:t>
            </a:r>
            <a:endParaRPr b="0" i="0" sz="1900" u="none" cap="none" strike="noStrike">
              <a:solidFill>
                <a:schemeClr val="dk1"/>
              </a:solidFill>
              <a:latin typeface="Calibri"/>
              <a:ea typeface="Calibri"/>
              <a:cs typeface="Calibri"/>
              <a:sym typeface="Calibri"/>
            </a:endParaRPr>
          </a:p>
        </p:txBody>
      </p:sp>
      <p:sp>
        <p:nvSpPr>
          <p:cNvPr id="321" name="Google Shape;321;p11"/>
          <p:cNvSpPr/>
          <p:nvPr/>
        </p:nvSpPr>
        <p:spPr>
          <a:xfrm>
            <a:off x="2195330" y="4091930"/>
            <a:ext cx="2778900" cy="228600"/>
          </a:xfrm>
          <a:prstGeom prst="rect">
            <a:avLst/>
          </a:prstGeom>
          <a:solidFill>
            <a:srgbClr val="EEEFF2"/>
          </a:solidFill>
          <a:ln cap="flat" cmpd="sng" w="12700">
            <a:solidFill>
              <a:srgbClr val="EE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22" name="Google Shape;322;p11"/>
          <p:cNvSpPr/>
          <p:nvPr/>
        </p:nvSpPr>
        <p:spPr>
          <a:xfrm>
            <a:off x="2195330" y="4091930"/>
            <a:ext cx="1495200" cy="228600"/>
          </a:xfrm>
          <a:prstGeom prst="rect">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23" name="Google Shape;323;p11"/>
          <p:cNvSpPr/>
          <p:nvPr/>
        </p:nvSpPr>
        <p:spPr>
          <a:xfrm>
            <a:off x="5025560" y="4000490"/>
            <a:ext cx="1029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900" u="none" cap="none" strike="noStrike">
                <a:solidFill>
                  <a:srgbClr val="2E3138"/>
                </a:solidFill>
                <a:latin typeface="Calibri"/>
                <a:ea typeface="Calibri"/>
                <a:cs typeface="Calibri"/>
                <a:sym typeface="Calibri"/>
              </a:rPr>
              <a:t>0,538</a:t>
            </a:r>
            <a:endParaRPr b="0" i="0" sz="1900" u="none" cap="none" strike="noStrike">
              <a:solidFill>
                <a:schemeClr val="dk1"/>
              </a:solidFill>
              <a:latin typeface="Calibri"/>
              <a:ea typeface="Calibri"/>
              <a:cs typeface="Calibri"/>
              <a:sym typeface="Calibri"/>
            </a:endParaRPr>
          </a:p>
        </p:txBody>
      </p:sp>
      <p:sp>
        <p:nvSpPr>
          <p:cNvPr id="324" name="Google Shape;324;p11"/>
          <p:cNvSpPr/>
          <p:nvPr/>
        </p:nvSpPr>
        <p:spPr>
          <a:xfrm>
            <a:off x="857402" y="4640570"/>
            <a:ext cx="1338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900" u="none" cap="none" strike="noStrike">
                <a:solidFill>
                  <a:srgbClr val="2E3138"/>
                </a:solidFill>
                <a:latin typeface="Calibri"/>
                <a:ea typeface="Calibri"/>
                <a:cs typeface="Calibri"/>
                <a:sym typeface="Calibri"/>
              </a:rPr>
              <a:t>C4</a:t>
            </a:r>
            <a:endParaRPr b="0" i="0" sz="1900" u="none" cap="none" strike="noStrike">
              <a:solidFill>
                <a:schemeClr val="dk1"/>
              </a:solidFill>
              <a:latin typeface="Calibri"/>
              <a:ea typeface="Calibri"/>
              <a:cs typeface="Calibri"/>
              <a:sym typeface="Calibri"/>
            </a:endParaRPr>
          </a:p>
        </p:txBody>
      </p:sp>
      <p:sp>
        <p:nvSpPr>
          <p:cNvPr id="325" name="Google Shape;325;p11"/>
          <p:cNvSpPr/>
          <p:nvPr/>
        </p:nvSpPr>
        <p:spPr>
          <a:xfrm>
            <a:off x="2195330" y="4732010"/>
            <a:ext cx="2778900" cy="228600"/>
          </a:xfrm>
          <a:prstGeom prst="rect">
            <a:avLst/>
          </a:prstGeom>
          <a:solidFill>
            <a:srgbClr val="EEEFF2"/>
          </a:solidFill>
          <a:ln cap="flat" cmpd="sng" w="12700">
            <a:solidFill>
              <a:srgbClr val="EEEF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26" name="Google Shape;326;p11"/>
          <p:cNvSpPr/>
          <p:nvPr/>
        </p:nvSpPr>
        <p:spPr>
          <a:xfrm>
            <a:off x="2195330" y="4732010"/>
            <a:ext cx="1469700" cy="228600"/>
          </a:xfrm>
          <a:prstGeom prst="rect">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327" name="Google Shape;327;p11"/>
          <p:cNvSpPr/>
          <p:nvPr/>
        </p:nvSpPr>
        <p:spPr>
          <a:xfrm>
            <a:off x="5025560" y="4640570"/>
            <a:ext cx="1029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900" u="none" cap="none" strike="noStrike">
                <a:solidFill>
                  <a:srgbClr val="2E3138"/>
                </a:solidFill>
                <a:latin typeface="Calibri"/>
                <a:ea typeface="Calibri"/>
                <a:cs typeface="Calibri"/>
                <a:sym typeface="Calibri"/>
              </a:rPr>
              <a:t>0,529</a:t>
            </a:r>
            <a:endParaRPr b="0" i="0" sz="1900" u="none" cap="none" strike="noStrike">
              <a:solidFill>
                <a:schemeClr val="dk1"/>
              </a:solidFill>
              <a:latin typeface="Calibri"/>
              <a:ea typeface="Calibri"/>
              <a:cs typeface="Calibri"/>
              <a:sym typeface="Calibri"/>
            </a:endParaRPr>
          </a:p>
        </p:txBody>
      </p:sp>
      <p:sp>
        <p:nvSpPr>
          <p:cNvPr id="328" name="Google Shape;328;p11"/>
          <p:cNvSpPr/>
          <p:nvPr/>
        </p:nvSpPr>
        <p:spPr>
          <a:xfrm>
            <a:off x="857402" y="5372090"/>
            <a:ext cx="49398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1" lang="en-US" sz="2000" u="none" cap="none" strike="noStrike">
                <a:solidFill>
                  <a:srgbClr val="6B707A"/>
                </a:solidFill>
                <a:latin typeface="Calibri"/>
                <a:ea typeface="Calibri"/>
                <a:cs typeface="Calibri"/>
                <a:sym typeface="Calibri"/>
              </a:rPr>
              <a:t>IFN-α es el biomarcador puente entre el eje transcriptómico y la actividad clínica.</a:t>
            </a:r>
            <a:endParaRPr b="0" i="0" sz="2000" u="none" cap="none" strike="noStrike">
              <a:solidFill>
                <a:schemeClr val="dk1"/>
              </a:solidFill>
              <a:latin typeface="Calibri"/>
              <a:ea typeface="Calibri"/>
              <a:cs typeface="Calibri"/>
              <a:sym typeface="Calibri"/>
            </a:endParaRPr>
          </a:p>
        </p:txBody>
      </p:sp>
      <p:sp>
        <p:nvSpPr>
          <p:cNvPr id="329" name="Google Shape;329;p11"/>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331" name="Google Shape;331;p11"/>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pic>
        <p:nvPicPr>
          <p:cNvPr id="332" name="Google Shape;332;p11" title="roc-delong-simple-1.png"/>
          <p:cNvPicPr preferRelativeResize="0"/>
          <p:nvPr/>
        </p:nvPicPr>
        <p:blipFill>
          <a:blip r:embed="rId3">
            <a:alphaModFix/>
          </a:blip>
          <a:stretch>
            <a:fillRect/>
          </a:stretch>
        </p:blipFill>
        <p:spPr>
          <a:xfrm>
            <a:off x="6400747" y="845211"/>
            <a:ext cx="5334001" cy="5334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337" name="Shape 337"/>
        <p:cNvGrpSpPr/>
        <p:nvPr/>
      </p:nvGrpSpPr>
      <p:grpSpPr>
        <a:xfrm>
          <a:off x="0" y="0"/>
          <a:ext cx="0" cy="0"/>
          <a:chOff x="0" y="0"/>
          <a:chExt cx="0" cy="0"/>
        </a:xfrm>
      </p:grpSpPr>
      <p:sp>
        <p:nvSpPr>
          <p:cNvPr id="338" name="Google Shape;338;p10"/>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RESULTADOS · CORRELACIONES</a:t>
            </a:r>
            <a:endParaRPr b="0" i="0" sz="1000" u="none" cap="none" strike="noStrike">
              <a:solidFill>
                <a:schemeClr val="dk1"/>
              </a:solidFill>
              <a:latin typeface="Calibri"/>
              <a:ea typeface="Calibri"/>
              <a:cs typeface="Calibri"/>
              <a:sym typeface="Calibri"/>
            </a:endParaRPr>
          </a:p>
        </p:txBody>
      </p:sp>
      <p:sp>
        <p:nvSpPr>
          <p:cNvPr id="339" name="Google Shape;339;p10"/>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10 / 20</a:t>
            </a:r>
            <a:endParaRPr b="0" i="0" sz="1000" u="none" cap="none" strike="noStrike">
              <a:solidFill>
                <a:schemeClr val="dk1"/>
              </a:solidFill>
              <a:latin typeface="Calibri"/>
              <a:ea typeface="Calibri"/>
              <a:cs typeface="Calibri"/>
              <a:sym typeface="Calibri"/>
            </a:endParaRPr>
          </a:p>
        </p:txBody>
      </p:sp>
      <p:sp>
        <p:nvSpPr>
          <p:cNvPr id="340" name="Google Shape;340;p10"/>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0"/>
          <p:cNvSpPr/>
          <p:nvPr/>
        </p:nvSpPr>
        <p:spPr>
          <a:xfrm>
            <a:off x="679220" y="815400"/>
            <a:ext cx="55332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lang="en-US" sz="3200">
                <a:solidFill>
                  <a:srgbClr val="2E3138"/>
                </a:solidFill>
                <a:latin typeface="Calibri"/>
                <a:ea typeface="Calibri"/>
                <a:cs typeface="Calibri"/>
                <a:sym typeface="Calibri"/>
              </a:rPr>
              <a:t>El IFN-score captura la señal proteica circulante del eje IFN</a:t>
            </a:r>
            <a:endParaRPr b="0" i="0" sz="3200" u="none" cap="none" strike="noStrike">
              <a:solidFill>
                <a:schemeClr val="dk1"/>
              </a:solidFill>
              <a:latin typeface="Calibri"/>
              <a:ea typeface="Calibri"/>
              <a:cs typeface="Calibri"/>
              <a:sym typeface="Calibri"/>
            </a:endParaRPr>
          </a:p>
        </p:txBody>
      </p:sp>
      <p:sp>
        <p:nvSpPr>
          <p:cNvPr id="342" name="Google Shape;342;p10"/>
          <p:cNvSpPr/>
          <p:nvPr/>
        </p:nvSpPr>
        <p:spPr>
          <a:xfrm>
            <a:off x="679225" y="1830250"/>
            <a:ext cx="5533200" cy="77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lang="en-US" sz="1800">
                <a:solidFill>
                  <a:srgbClr val="6B707A"/>
                </a:solidFill>
                <a:latin typeface="Calibri"/>
                <a:ea typeface="Calibri"/>
                <a:cs typeface="Calibri"/>
                <a:sym typeface="Calibri"/>
              </a:rPr>
              <a:t>Base cuantitativa para su uso en integración multi-ómica y modelado predictivo.</a:t>
            </a:r>
            <a:endParaRPr b="0" i="0" sz="1800" u="none" cap="none" strike="noStrike">
              <a:solidFill>
                <a:schemeClr val="dk1"/>
              </a:solidFill>
              <a:latin typeface="Calibri"/>
              <a:ea typeface="Calibri"/>
              <a:cs typeface="Calibri"/>
              <a:sym typeface="Calibri"/>
            </a:endParaRPr>
          </a:p>
        </p:txBody>
      </p:sp>
      <p:sp>
        <p:nvSpPr>
          <p:cNvPr id="343" name="Google Shape;343;p10"/>
          <p:cNvSpPr/>
          <p:nvPr/>
        </p:nvSpPr>
        <p:spPr>
          <a:xfrm>
            <a:off x="730525" y="2695525"/>
            <a:ext cx="5430600" cy="772500"/>
          </a:xfrm>
          <a:prstGeom prst="roundRect">
            <a:avLst>
              <a:gd fmla="val 12435"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44" name="Google Shape;344;p10"/>
          <p:cNvSpPr/>
          <p:nvPr/>
        </p:nvSpPr>
        <p:spPr>
          <a:xfrm>
            <a:off x="4442907" y="2906150"/>
            <a:ext cx="1571700" cy="42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2200"/>
              <a:buFont typeface="Calibri"/>
              <a:buNone/>
            </a:pPr>
            <a:r>
              <a:rPr b="1" i="0" lang="en-US" sz="2400" u="none" cap="none" strike="noStrike">
                <a:solidFill>
                  <a:srgbClr val="A84B2F"/>
                </a:solidFill>
                <a:latin typeface="Calibri"/>
                <a:ea typeface="Calibri"/>
                <a:cs typeface="Calibri"/>
                <a:sym typeface="Calibri"/>
              </a:rPr>
              <a:t>ρ = 0,856</a:t>
            </a:r>
            <a:endParaRPr b="0" i="0" sz="2400" u="none" cap="none" strike="noStrike">
              <a:solidFill>
                <a:schemeClr val="dk1"/>
              </a:solidFill>
              <a:latin typeface="Calibri"/>
              <a:ea typeface="Calibri"/>
              <a:cs typeface="Calibri"/>
              <a:sym typeface="Calibri"/>
            </a:endParaRPr>
          </a:p>
        </p:txBody>
      </p:sp>
      <p:sp>
        <p:nvSpPr>
          <p:cNvPr id="345" name="Google Shape;345;p10"/>
          <p:cNvSpPr/>
          <p:nvPr/>
        </p:nvSpPr>
        <p:spPr>
          <a:xfrm>
            <a:off x="730525" y="3612149"/>
            <a:ext cx="5430600" cy="772500"/>
          </a:xfrm>
          <a:prstGeom prst="roundRect">
            <a:avLst>
              <a:gd fmla="val 12435"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46" name="Google Shape;346;p10"/>
          <p:cNvSpPr/>
          <p:nvPr/>
        </p:nvSpPr>
        <p:spPr>
          <a:xfrm>
            <a:off x="4442899" y="3797100"/>
            <a:ext cx="1571700" cy="42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2200"/>
              <a:buFont typeface="Calibri"/>
              <a:buNone/>
            </a:pPr>
            <a:r>
              <a:rPr b="1" i="0" lang="en-US" sz="2400" u="none" cap="none" strike="noStrike">
                <a:solidFill>
                  <a:srgbClr val="0F6B78"/>
                </a:solidFill>
                <a:latin typeface="Calibri"/>
                <a:ea typeface="Calibri"/>
                <a:cs typeface="Calibri"/>
                <a:sym typeface="Calibri"/>
              </a:rPr>
              <a:t>ρ = 0,196</a:t>
            </a:r>
            <a:endParaRPr b="0" i="0" sz="2400" u="none" cap="none" strike="noStrike">
              <a:solidFill>
                <a:schemeClr val="dk1"/>
              </a:solidFill>
              <a:latin typeface="Calibri"/>
              <a:ea typeface="Calibri"/>
              <a:cs typeface="Calibri"/>
              <a:sym typeface="Calibri"/>
            </a:endParaRPr>
          </a:p>
        </p:txBody>
      </p:sp>
      <p:sp>
        <p:nvSpPr>
          <p:cNvPr id="347" name="Google Shape;347;p10"/>
          <p:cNvSpPr/>
          <p:nvPr/>
        </p:nvSpPr>
        <p:spPr>
          <a:xfrm>
            <a:off x="730525" y="4528773"/>
            <a:ext cx="5430600" cy="772500"/>
          </a:xfrm>
          <a:prstGeom prst="roundRect">
            <a:avLst>
              <a:gd fmla="val 12435"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48" name="Google Shape;348;p10"/>
          <p:cNvSpPr/>
          <p:nvPr/>
        </p:nvSpPr>
        <p:spPr>
          <a:xfrm>
            <a:off x="4442899" y="4713725"/>
            <a:ext cx="1571700" cy="42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2200"/>
              <a:buFont typeface="Calibri"/>
              <a:buNone/>
            </a:pPr>
            <a:r>
              <a:rPr b="1" i="0" lang="en-US" sz="2400" u="none" cap="none" strike="noStrike">
                <a:solidFill>
                  <a:srgbClr val="0F6B78"/>
                </a:solidFill>
                <a:latin typeface="Calibri"/>
                <a:ea typeface="Calibri"/>
                <a:cs typeface="Calibri"/>
                <a:sym typeface="Calibri"/>
              </a:rPr>
              <a:t>ρ = 0,182</a:t>
            </a:r>
            <a:endParaRPr b="0" i="0" sz="2400" u="none" cap="none" strike="noStrike">
              <a:solidFill>
                <a:schemeClr val="dk1"/>
              </a:solidFill>
              <a:latin typeface="Calibri"/>
              <a:ea typeface="Calibri"/>
              <a:cs typeface="Calibri"/>
              <a:sym typeface="Calibri"/>
            </a:endParaRPr>
          </a:p>
        </p:txBody>
      </p:sp>
      <p:sp>
        <p:nvSpPr>
          <p:cNvPr id="349" name="Google Shape;349;p10"/>
          <p:cNvSpPr/>
          <p:nvPr/>
        </p:nvSpPr>
        <p:spPr>
          <a:xfrm>
            <a:off x="730525" y="5445398"/>
            <a:ext cx="5430600" cy="772500"/>
          </a:xfrm>
          <a:prstGeom prst="roundRect">
            <a:avLst>
              <a:gd fmla="val 12435"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350" name="Google Shape;350;p10"/>
          <p:cNvSpPr/>
          <p:nvPr/>
        </p:nvSpPr>
        <p:spPr>
          <a:xfrm>
            <a:off x="4442904" y="5626875"/>
            <a:ext cx="1571700" cy="424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2200"/>
              <a:buFont typeface="Calibri"/>
              <a:buNone/>
            </a:pPr>
            <a:r>
              <a:rPr b="1" i="0" lang="en-US" sz="2400" u="none" cap="none" strike="noStrike">
                <a:solidFill>
                  <a:srgbClr val="2E3138"/>
                </a:solidFill>
                <a:latin typeface="Calibri"/>
                <a:ea typeface="Calibri"/>
                <a:cs typeface="Calibri"/>
                <a:sym typeface="Calibri"/>
              </a:rPr>
              <a:t>ρ &lt; 0</a:t>
            </a:r>
            <a:endParaRPr b="0" i="0" sz="2400" u="none" cap="none" strike="noStrike">
              <a:solidFill>
                <a:schemeClr val="dk1"/>
              </a:solidFill>
              <a:latin typeface="Calibri"/>
              <a:ea typeface="Calibri"/>
              <a:cs typeface="Calibri"/>
              <a:sym typeface="Calibri"/>
            </a:endParaRPr>
          </a:p>
        </p:txBody>
      </p:sp>
      <p:sp>
        <p:nvSpPr>
          <p:cNvPr id="351" name="Google Shape;351;p10"/>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353" name="Google Shape;353;p10"/>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pic>
        <p:nvPicPr>
          <p:cNvPr id="354" name="Google Shape;354;p10" title="Correlaciones con IFN-score-1.png"/>
          <p:cNvPicPr preferRelativeResize="0"/>
          <p:nvPr/>
        </p:nvPicPr>
        <p:blipFill>
          <a:blip r:embed="rId3">
            <a:alphaModFix/>
          </a:blip>
          <a:stretch>
            <a:fillRect/>
          </a:stretch>
        </p:blipFill>
        <p:spPr>
          <a:xfrm>
            <a:off x="6323399" y="669349"/>
            <a:ext cx="5533327" cy="5533327"/>
          </a:xfrm>
          <a:prstGeom prst="rect">
            <a:avLst/>
          </a:prstGeom>
          <a:noFill/>
          <a:ln>
            <a:noFill/>
          </a:ln>
        </p:spPr>
      </p:pic>
      <p:sp>
        <p:nvSpPr>
          <p:cNvPr id="355" name="Google Shape;355;p10"/>
          <p:cNvSpPr/>
          <p:nvPr/>
        </p:nvSpPr>
        <p:spPr>
          <a:xfrm>
            <a:off x="1065776" y="2856050"/>
            <a:ext cx="20679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2E3138"/>
              </a:buClr>
              <a:buSzPts val="1700"/>
              <a:buFont typeface="Calibri"/>
              <a:buNone/>
            </a:pPr>
            <a:r>
              <a:rPr b="1" lang="en-US" sz="2900">
                <a:solidFill>
                  <a:srgbClr val="2E3138"/>
                </a:solidFill>
                <a:latin typeface="Calibri"/>
                <a:ea typeface="Calibri"/>
                <a:cs typeface="Calibri"/>
                <a:sym typeface="Calibri"/>
              </a:rPr>
              <a:t>IFN-α sérico</a:t>
            </a:r>
            <a:endParaRPr b="1" sz="2900">
              <a:solidFill>
                <a:srgbClr val="2E3138"/>
              </a:solidFill>
              <a:latin typeface="Calibri"/>
              <a:ea typeface="Calibri"/>
              <a:cs typeface="Calibri"/>
              <a:sym typeface="Calibri"/>
            </a:endParaRPr>
          </a:p>
        </p:txBody>
      </p:sp>
      <p:sp>
        <p:nvSpPr>
          <p:cNvPr id="356" name="Google Shape;356;p10"/>
          <p:cNvSpPr/>
          <p:nvPr/>
        </p:nvSpPr>
        <p:spPr>
          <a:xfrm>
            <a:off x="1065776" y="3747000"/>
            <a:ext cx="2067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i="0" lang="en-US" sz="2900" u="none" cap="none" strike="noStrike">
                <a:solidFill>
                  <a:srgbClr val="2E3138"/>
                </a:solidFill>
                <a:latin typeface="Calibri"/>
                <a:ea typeface="Calibri"/>
                <a:cs typeface="Calibri"/>
                <a:sym typeface="Calibri"/>
              </a:rPr>
              <a:t>SLE-DAS</a:t>
            </a:r>
            <a:endParaRPr b="0" i="0" sz="2900" u="none" cap="none" strike="noStrike">
              <a:solidFill>
                <a:srgbClr val="000000"/>
              </a:solidFill>
              <a:latin typeface="Calibri"/>
              <a:ea typeface="Calibri"/>
              <a:cs typeface="Calibri"/>
              <a:sym typeface="Calibri"/>
            </a:endParaRPr>
          </a:p>
        </p:txBody>
      </p:sp>
      <p:sp>
        <p:nvSpPr>
          <p:cNvPr id="357" name="Google Shape;357;p10"/>
          <p:cNvSpPr/>
          <p:nvPr/>
        </p:nvSpPr>
        <p:spPr>
          <a:xfrm>
            <a:off x="1065776" y="4663625"/>
            <a:ext cx="20679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i="0" lang="en-US" sz="2900" u="none" cap="none" strike="noStrike">
                <a:solidFill>
                  <a:srgbClr val="2E3138"/>
                </a:solidFill>
                <a:latin typeface="Calibri"/>
                <a:ea typeface="Calibri"/>
                <a:cs typeface="Calibri"/>
                <a:sym typeface="Calibri"/>
              </a:rPr>
              <a:t>SLEDAI-2K</a:t>
            </a:r>
            <a:endParaRPr b="0" i="0" sz="2900" u="none" cap="none" strike="noStrike">
              <a:solidFill>
                <a:srgbClr val="000000"/>
              </a:solidFill>
              <a:latin typeface="Calibri"/>
              <a:ea typeface="Calibri"/>
              <a:cs typeface="Calibri"/>
              <a:sym typeface="Calibri"/>
            </a:endParaRPr>
          </a:p>
        </p:txBody>
      </p:sp>
      <p:sp>
        <p:nvSpPr>
          <p:cNvPr id="358" name="Google Shape;358;p10"/>
          <p:cNvSpPr/>
          <p:nvPr/>
        </p:nvSpPr>
        <p:spPr>
          <a:xfrm>
            <a:off x="1065775" y="5576775"/>
            <a:ext cx="3261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138"/>
              </a:buClr>
              <a:buSzPts val="1700"/>
              <a:buFont typeface="Calibri"/>
              <a:buNone/>
            </a:pPr>
            <a:r>
              <a:rPr b="1" lang="en-US" sz="2900">
                <a:solidFill>
                  <a:srgbClr val="2E3138"/>
                </a:solidFill>
                <a:latin typeface="Calibri"/>
                <a:ea typeface="Calibri"/>
                <a:cs typeface="Calibri"/>
                <a:sym typeface="Calibri"/>
              </a:rPr>
              <a:t>HDL, Apo-AI, Edad</a:t>
            </a:r>
            <a:endParaRPr b="0" i="0" sz="29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363" name="Shape 363"/>
        <p:cNvGrpSpPr/>
        <p:nvPr/>
      </p:nvGrpSpPr>
      <p:grpSpPr>
        <a:xfrm>
          <a:off x="0" y="0"/>
          <a:ext cx="0" cy="0"/>
          <a:chOff x="0" y="0"/>
          <a:chExt cx="0" cy="0"/>
        </a:xfrm>
      </p:grpSpPr>
      <p:sp>
        <p:nvSpPr>
          <p:cNvPr id="364" name="Google Shape;364;p12"/>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RESULTADOS · MOFA2</a:t>
            </a:r>
            <a:endParaRPr b="0" i="0" sz="1000" u="none" cap="none" strike="noStrike">
              <a:solidFill>
                <a:schemeClr val="dk1"/>
              </a:solidFill>
              <a:latin typeface="Calibri"/>
              <a:ea typeface="Calibri"/>
              <a:cs typeface="Calibri"/>
              <a:sym typeface="Calibri"/>
            </a:endParaRPr>
          </a:p>
        </p:txBody>
      </p:sp>
      <p:sp>
        <p:nvSpPr>
          <p:cNvPr id="365" name="Google Shape;365;p12"/>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1</a:t>
            </a:r>
            <a:r>
              <a:rPr b="0" i="0" lang="en-US" sz="1000" u="none" cap="none" strike="noStrike">
                <a:solidFill>
                  <a:srgbClr val="6B707A"/>
                </a:solidFill>
                <a:latin typeface="Calibri"/>
                <a:ea typeface="Calibri"/>
                <a:cs typeface="Calibri"/>
                <a:sym typeface="Calibri"/>
              </a:rPr>
              <a:t> / 20</a:t>
            </a:r>
            <a:endParaRPr b="0" i="0" sz="1000" u="none" cap="none" strike="noStrike">
              <a:solidFill>
                <a:schemeClr val="dk1"/>
              </a:solidFill>
              <a:latin typeface="Calibri"/>
              <a:ea typeface="Calibri"/>
              <a:cs typeface="Calibri"/>
              <a:sym typeface="Calibri"/>
            </a:endParaRPr>
          </a:p>
        </p:txBody>
      </p:sp>
      <p:sp>
        <p:nvSpPr>
          <p:cNvPr id="366" name="Google Shape;366;p12"/>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2"/>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MOFA2 confirma un eje IFN-I dominante</a:t>
            </a:r>
            <a:endParaRPr b="0" i="0" sz="3200" u="none" cap="none" strike="noStrike">
              <a:solidFill>
                <a:schemeClr val="dk1"/>
              </a:solidFill>
              <a:latin typeface="Calibri"/>
              <a:ea typeface="Calibri"/>
              <a:cs typeface="Calibri"/>
              <a:sym typeface="Calibri"/>
            </a:endParaRPr>
          </a:p>
        </p:txBody>
      </p:sp>
      <p:sp>
        <p:nvSpPr>
          <p:cNvPr id="368" name="Google Shape;368;p12"/>
          <p:cNvSpPr/>
          <p:nvPr/>
        </p:nvSpPr>
        <p:spPr>
          <a:xfrm>
            <a:off x="548650" y="1584150"/>
            <a:ext cx="11094300" cy="47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lang="en-US" sz="1800">
                <a:solidFill>
                  <a:srgbClr val="6B707A"/>
                </a:solidFill>
                <a:latin typeface="Calibri"/>
                <a:ea typeface="Calibri"/>
                <a:cs typeface="Calibri"/>
                <a:sym typeface="Calibri"/>
              </a:rPr>
              <a:t>Sin supervisión clínica, MOFA2 recapitula el eje IFN-I como estructur</a:t>
            </a:r>
            <a:r>
              <a:rPr lang="en-US" sz="1800">
                <a:solidFill>
                  <a:srgbClr val="6B707A"/>
                </a:solidFill>
                <a:latin typeface="Calibri"/>
                <a:ea typeface="Calibri"/>
                <a:cs typeface="Calibri"/>
                <a:sym typeface="Calibri"/>
              </a:rPr>
              <a:t>a</a:t>
            </a:r>
            <a:r>
              <a:rPr lang="en-US" sz="1800">
                <a:solidFill>
                  <a:srgbClr val="6B707A"/>
                </a:solidFill>
                <a:latin typeface="Calibri"/>
                <a:ea typeface="Calibri"/>
                <a:cs typeface="Calibri"/>
                <a:sym typeface="Calibri"/>
              </a:rPr>
              <a:t> dominante de la variabilidad multi-ómica.</a:t>
            </a:r>
            <a:endParaRPr sz="1800">
              <a:solidFill>
                <a:srgbClr val="6B707A"/>
              </a:solidFill>
              <a:latin typeface="Calibri"/>
              <a:ea typeface="Calibri"/>
              <a:cs typeface="Calibri"/>
              <a:sym typeface="Calibri"/>
            </a:endParaRPr>
          </a:p>
        </p:txBody>
      </p:sp>
      <p:sp>
        <p:nvSpPr>
          <p:cNvPr id="369" name="Google Shape;369;p12"/>
          <p:cNvSpPr/>
          <p:nvPr/>
        </p:nvSpPr>
        <p:spPr>
          <a:xfrm>
            <a:off x="548640" y="2240280"/>
            <a:ext cx="3840480" cy="4023360"/>
          </a:xfrm>
          <a:prstGeom prst="roundRect">
            <a:avLst>
              <a:gd fmla="val 2857"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70" name="Google Shape;370;p12"/>
          <p:cNvSpPr/>
          <p:nvPr/>
        </p:nvSpPr>
        <p:spPr>
          <a:xfrm>
            <a:off x="822960" y="2377440"/>
            <a:ext cx="32918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400"/>
              <a:buFont typeface="Calibri"/>
              <a:buNone/>
            </a:pPr>
            <a:r>
              <a:rPr b="1" i="0" lang="en-US" sz="1800" u="none" cap="none" strike="noStrike">
                <a:solidFill>
                  <a:srgbClr val="0F6B78"/>
                </a:solidFill>
                <a:latin typeface="Calibri"/>
                <a:ea typeface="Calibri"/>
                <a:cs typeface="Calibri"/>
                <a:sym typeface="Calibri"/>
              </a:rPr>
              <a:t>Factor 1 latente</a:t>
            </a:r>
            <a:endParaRPr b="0" i="0" sz="1800" u="none" cap="none" strike="noStrike">
              <a:solidFill>
                <a:schemeClr val="dk1"/>
              </a:solidFill>
              <a:latin typeface="Calibri"/>
              <a:ea typeface="Calibri"/>
              <a:cs typeface="Calibri"/>
              <a:sym typeface="Calibri"/>
            </a:endParaRPr>
          </a:p>
        </p:txBody>
      </p:sp>
      <p:sp>
        <p:nvSpPr>
          <p:cNvPr id="371" name="Google Shape;371;p12"/>
          <p:cNvSpPr/>
          <p:nvPr/>
        </p:nvSpPr>
        <p:spPr>
          <a:xfrm>
            <a:off x="822960" y="2743200"/>
            <a:ext cx="32918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4400"/>
              <a:buFont typeface="Calibri"/>
              <a:buNone/>
            </a:pPr>
            <a:r>
              <a:rPr b="1" i="0" lang="en-US" sz="4800" u="none" cap="none" strike="noStrike">
                <a:solidFill>
                  <a:srgbClr val="2E3138"/>
                </a:solidFill>
                <a:latin typeface="Calibri"/>
                <a:ea typeface="Calibri"/>
                <a:cs typeface="Calibri"/>
                <a:sym typeface="Calibri"/>
              </a:rPr>
              <a:t>85,06 %</a:t>
            </a:r>
            <a:endParaRPr b="0" i="0" sz="4800" u="none" cap="none" strike="noStrike">
              <a:solidFill>
                <a:schemeClr val="dk1"/>
              </a:solidFill>
              <a:latin typeface="Calibri"/>
              <a:ea typeface="Calibri"/>
              <a:cs typeface="Calibri"/>
              <a:sym typeface="Calibri"/>
            </a:endParaRPr>
          </a:p>
        </p:txBody>
      </p:sp>
      <p:sp>
        <p:nvSpPr>
          <p:cNvPr id="372" name="Google Shape;372;p12"/>
          <p:cNvSpPr/>
          <p:nvPr/>
        </p:nvSpPr>
        <p:spPr>
          <a:xfrm>
            <a:off x="822960" y="3611880"/>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1600" u="none" cap="none" strike="noStrike">
                <a:solidFill>
                  <a:srgbClr val="6B707A"/>
                </a:solidFill>
                <a:latin typeface="Calibri"/>
                <a:ea typeface="Calibri"/>
                <a:cs typeface="Calibri"/>
                <a:sym typeface="Calibri"/>
              </a:rPr>
              <a:t>varianza explicada en transcriptoma</a:t>
            </a:r>
            <a:endParaRPr b="0" i="0" sz="1600" u="none" cap="none" strike="noStrike">
              <a:solidFill>
                <a:schemeClr val="dk1"/>
              </a:solidFill>
              <a:latin typeface="Calibri"/>
              <a:ea typeface="Calibri"/>
              <a:cs typeface="Calibri"/>
              <a:sym typeface="Calibri"/>
            </a:endParaRPr>
          </a:p>
        </p:txBody>
      </p:sp>
      <p:sp>
        <p:nvSpPr>
          <p:cNvPr id="373" name="Google Shape;373;p12"/>
          <p:cNvSpPr/>
          <p:nvPr/>
        </p:nvSpPr>
        <p:spPr>
          <a:xfrm>
            <a:off x="822960" y="4160520"/>
            <a:ext cx="329184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4400"/>
              <a:buFont typeface="Calibri"/>
              <a:buNone/>
            </a:pPr>
            <a:r>
              <a:rPr b="1" i="0" lang="en-US" sz="4800" u="none" cap="none" strike="noStrike">
                <a:solidFill>
                  <a:srgbClr val="A84B2F"/>
                </a:solidFill>
                <a:latin typeface="Calibri"/>
                <a:ea typeface="Calibri"/>
                <a:cs typeface="Calibri"/>
                <a:sym typeface="Calibri"/>
              </a:rPr>
              <a:t>7,71 %</a:t>
            </a:r>
            <a:endParaRPr b="0" i="0" sz="4800" u="none" cap="none" strike="noStrike">
              <a:solidFill>
                <a:schemeClr val="dk1"/>
              </a:solidFill>
              <a:latin typeface="Calibri"/>
              <a:ea typeface="Calibri"/>
              <a:cs typeface="Calibri"/>
              <a:sym typeface="Calibri"/>
            </a:endParaRPr>
          </a:p>
        </p:txBody>
      </p:sp>
      <p:sp>
        <p:nvSpPr>
          <p:cNvPr id="374" name="Google Shape;374;p12"/>
          <p:cNvSpPr/>
          <p:nvPr/>
        </p:nvSpPr>
        <p:spPr>
          <a:xfrm>
            <a:off x="822960" y="5029200"/>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1600" u="none" cap="none" strike="noStrike">
                <a:solidFill>
                  <a:srgbClr val="6B707A"/>
                </a:solidFill>
                <a:latin typeface="Calibri"/>
                <a:ea typeface="Calibri"/>
                <a:cs typeface="Calibri"/>
                <a:sym typeface="Calibri"/>
              </a:rPr>
              <a:t>varianza explicada en proteoma</a:t>
            </a:r>
            <a:endParaRPr b="0" i="0" sz="1600" u="none" cap="none" strike="noStrike">
              <a:solidFill>
                <a:schemeClr val="dk1"/>
              </a:solidFill>
              <a:latin typeface="Calibri"/>
              <a:ea typeface="Calibri"/>
              <a:cs typeface="Calibri"/>
              <a:sym typeface="Calibri"/>
            </a:endParaRPr>
          </a:p>
        </p:txBody>
      </p:sp>
      <p:sp>
        <p:nvSpPr>
          <p:cNvPr id="375" name="Google Shape;375;p12"/>
          <p:cNvSpPr/>
          <p:nvPr/>
        </p:nvSpPr>
        <p:spPr>
          <a:xfrm>
            <a:off x="822960" y="5532120"/>
            <a:ext cx="329184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07A"/>
              </a:buClr>
              <a:buSzPts val="1100"/>
              <a:buFont typeface="Calibri"/>
              <a:buNone/>
            </a:pPr>
            <a:r>
              <a:rPr b="0" i="1" lang="en-US" sz="1500" u="none" cap="none" strike="noStrike">
                <a:solidFill>
                  <a:srgbClr val="6B707A"/>
                </a:solidFill>
                <a:latin typeface="Calibri"/>
                <a:ea typeface="Calibri"/>
                <a:cs typeface="Calibri"/>
                <a:sym typeface="Calibri"/>
              </a:rPr>
              <a:t>Mismo factor, dos ómicas: un eje IFN-I integrado.</a:t>
            </a:r>
            <a:endParaRPr b="0" i="0" sz="1500" u="none" cap="none" strike="noStrike">
              <a:solidFill>
                <a:schemeClr val="dk1"/>
              </a:solidFill>
              <a:latin typeface="Calibri"/>
              <a:ea typeface="Calibri"/>
              <a:cs typeface="Calibri"/>
              <a:sym typeface="Calibri"/>
            </a:endParaRPr>
          </a:p>
        </p:txBody>
      </p:sp>
      <p:sp>
        <p:nvSpPr>
          <p:cNvPr id="376" name="Google Shape;376;p12"/>
          <p:cNvSpPr/>
          <p:nvPr/>
        </p:nvSpPr>
        <p:spPr>
          <a:xfrm>
            <a:off x="4663600" y="2153150"/>
            <a:ext cx="6979500" cy="379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400"/>
              <a:buFont typeface="Calibri"/>
              <a:buNone/>
            </a:pPr>
            <a:r>
              <a:rPr b="1" lang="en-US" sz="1900">
                <a:solidFill>
                  <a:srgbClr val="2E3138"/>
                </a:solidFill>
                <a:latin typeface="Calibri"/>
                <a:ea typeface="Calibri"/>
                <a:cs typeface="Calibri"/>
                <a:sym typeface="Calibri"/>
              </a:rPr>
              <a:t>Variables que más contribuyen a definir el Factor latente dominante</a:t>
            </a:r>
            <a:endParaRPr b="0" i="0" sz="1900" u="none" cap="none" strike="noStrike">
              <a:solidFill>
                <a:schemeClr val="dk1"/>
              </a:solidFill>
              <a:latin typeface="Calibri"/>
              <a:ea typeface="Calibri"/>
              <a:cs typeface="Calibri"/>
              <a:sym typeface="Calibri"/>
            </a:endParaRPr>
          </a:p>
        </p:txBody>
      </p:sp>
      <p:sp>
        <p:nvSpPr>
          <p:cNvPr id="377" name="Google Shape;377;p12"/>
          <p:cNvSpPr/>
          <p:nvPr/>
        </p:nvSpPr>
        <p:spPr>
          <a:xfrm>
            <a:off x="4663600" y="2618561"/>
            <a:ext cx="3390300" cy="429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100"/>
              <a:buFont typeface="Calibri"/>
              <a:buNone/>
            </a:pPr>
            <a:r>
              <a:rPr b="1" i="0" lang="en-US" sz="1800" u="none" cap="none" strike="noStrike">
                <a:solidFill>
                  <a:srgbClr val="A84B2F"/>
                </a:solidFill>
                <a:latin typeface="Calibri"/>
                <a:ea typeface="Calibri"/>
                <a:cs typeface="Calibri"/>
                <a:sym typeface="Calibri"/>
              </a:rPr>
              <a:t>Peso positivo  ↑</a:t>
            </a:r>
            <a:endParaRPr b="0" i="0" sz="1800" u="none" cap="none" strike="noStrike">
              <a:solidFill>
                <a:schemeClr val="dk1"/>
              </a:solidFill>
              <a:latin typeface="Calibri"/>
              <a:ea typeface="Calibri"/>
              <a:cs typeface="Calibri"/>
              <a:sym typeface="Calibri"/>
            </a:endParaRPr>
          </a:p>
        </p:txBody>
      </p:sp>
      <p:sp>
        <p:nvSpPr>
          <p:cNvPr id="378" name="Google Shape;378;p12"/>
          <p:cNvSpPr/>
          <p:nvPr/>
        </p:nvSpPr>
        <p:spPr>
          <a:xfrm>
            <a:off x="4663600" y="3109303"/>
            <a:ext cx="3390300" cy="675000"/>
          </a:xfrm>
          <a:prstGeom prst="roundRect">
            <a:avLst>
              <a:gd fmla="val 14545" name="adj"/>
            </a:avLst>
          </a:prstGeom>
          <a:solidFill>
            <a:srgbClr val="F5DCD0"/>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379" name="Google Shape;379;p12"/>
          <p:cNvSpPr/>
          <p:nvPr/>
        </p:nvSpPr>
        <p:spPr>
          <a:xfrm>
            <a:off x="4812465" y="3158378"/>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100"/>
              <a:buFont typeface="Calibri"/>
              <a:buNone/>
            </a:pPr>
            <a:r>
              <a:rPr b="1" i="0" lang="en-US" sz="1800" u="none" cap="none" strike="noStrike">
                <a:solidFill>
                  <a:srgbClr val="A84B2F"/>
                </a:solidFill>
                <a:latin typeface="Calibri"/>
                <a:ea typeface="Calibri"/>
                <a:cs typeface="Calibri"/>
                <a:sym typeface="Calibri"/>
              </a:rPr>
              <a:t>ISGs canónicos</a:t>
            </a:r>
            <a:endParaRPr b="0" i="0" sz="1800" u="none" cap="none" strike="noStrike">
              <a:solidFill>
                <a:schemeClr val="dk1"/>
              </a:solidFill>
              <a:latin typeface="Calibri"/>
              <a:ea typeface="Calibri"/>
              <a:cs typeface="Calibri"/>
              <a:sym typeface="Calibri"/>
            </a:endParaRPr>
          </a:p>
        </p:txBody>
      </p:sp>
      <p:sp>
        <p:nvSpPr>
          <p:cNvPr id="380" name="Google Shape;380;p12"/>
          <p:cNvSpPr/>
          <p:nvPr/>
        </p:nvSpPr>
        <p:spPr>
          <a:xfrm>
            <a:off x="4812465" y="3452823"/>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IFI27 · IFI44 · IFI44L · IFIT1 · RSAD2</a:t>
            </a:r>
            <a:endParaRPr b="0" i="0" sz="1650" u="none" cap="none" strike="noStrike">
              <a:solidFill>
                <a:schemeClr val="dk1"/>
              </a:solidFill>
              <a:latin typeface="Calibri"/>
              <a:ea typeface="Calibri"/>
              <a:cs typeface="Calibri"/>
              <a:sym typeface="Calibri"/>
            </a:endParaRPr>
          </a:p>
        </p:txBody>
      </p:sp>
      <p:sp>
        <p:nvSpPr>
          <p:cNvPr id="381" name="Google Shape;381;p12"/>
          <p:cNvSpPr/>
          <p:nvPr/>
        </p:nvSpPr>
        <p:spPr>
          <a:xfrm>
            <a:off x="4663600" y="3906760"/>
            <a:ext cx="3390300" cy="675000"/>
          </a:xfrm>
          <a:prstGeom prst="roundRect">
            <a:avLst>
              <a:gd fmla="val 14545" name="adj"/>
            </a:avLst>
          </a:prstGeom>
          <a:solidFill>
            <a:srgbClr val="F5DCD0"/>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382" name="Google Shape;382;p12"/>
          <p:cNvSpPr/>
          <p:nvPr/>
        </p:nvSpPr>
        <p:spPr>
          <a:xfrm>
            <a:off x="4812465" y="3955834"/>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100"/>
              <a:buFont typeface="Calibri"/>
              <a:buNone/>
            </a:pPr>
            <a:r>
              <a:rPr b="1" i="0" lang="en-US" sz="1800" u="none" cap="none" strike="noStrike">
                <a:solidFill>
                  <a:srgbClr val="A84B2F"/>
                </a:solidFill>
                <a:latin typeface="Calibri"/>
                <a:ea typeface="Calibri"/>
                <a:cs typeface="Calibri"/>
                <a:sym typeface="Calibri"/>
              </a:rPr>
              <a:t>IFN-α</a:t>
            </a:r>
            <a:endParaRPr b="0" i="0" sz="1800" u="none" cap="none" strike="noStrike">
              <a:solidFill>
                <a:schemeClr val="dk1"/>
              </a:solidFill>
              <a:latin typeface="Calibri"/>
              <a:ea typeface="Calibri"/>
              <a:cs typeface="Calibri"/>
              <a:sym typeface="Calibri"/>
            </a:endParaRPr>
          </a:p>
        </p:txBody>
      </p:sp>
      <p:sp>
        <p:nvSpPr>
          <p:cNvPr id="383" name="Google Shape;383;p12"/>
          <p:cNvSpPr/>
          <p:nvPr/>
        </p:nvSpPr>
        <p:spPr>
          <a:xfrm>
            <a:off x="4812465" y="4250280"/>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citoquina IFN-I</a:t>
            </a:r>
            <a:endParaRPr b="0" i="0" sz="1650" u="none" cap="none" strike="noStrike">
              <a:solidFill>
                <a:schemeClr val="dk1"/>
              </a:solidFill>
              <a:latin typeface="Calibri"/>
              <a:ea typeface="Calibri"/>
              <a:cs typeface="Calibri"/>
              <a:sym typeface="Calibri"/>
            </a:endParaRPr>
          </a:p>
        </p:txBody>
      </p:sp>
      <p:sp>
        <p:nvSpPr>
          <p:cNvPr id="384" name="Google Shape;384;p12"/>
          <p:cNvSpPr/>
          <p:nvPr/>
        </p:nvSpPr>
        <p:spPr>
          <a:xfrm>
            <a:off x="4663600" y="4704217"/>
            <a:ext cx="3390300" cy="675000"/>
          </a:xfrm>
          <a:prstGeom prst="roundRect">
            <a:avLst>
              <a:gd fmla="val 14545" name="adj"/>
            </a:avLst>
          </a:prstGeom>
          <a:solidFill>
            <a:srgbClr val="F5DCD0"/>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385" name="Google Shape;385;p12"/>
          <p:cNvSpPr/>
          <p:nvPr/>
        </p:nvSpPr>
        <p:spPr>
          <a:xfrm>
            <a:off x="4812465" y="4753291"/>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100"/>
              <a:buFont typeface="Calibri"/>
              <a:buNone/>
            </a:pPr>
            <a:r>
              <a:rPr b="1" i="0" lang="en-US" sz="1800" u="none" cap="none" strike="noStrike">
                <a:solidFill>
                  <a:srgbClr val="A84B2F"/>
                </a:solidFill>
                <a:latin typeface="Calibri"/>
                <a:ea typeface="Calibri"/>
                <a:cs typeface="Calibri"/>
                <a:sym typeface="Calibri"/>
              </a:rPr>
              <a:t>IFN-γ</a:t>
            </a:r>
            <a:endParaRPr b="0" i="0" sz="1800" u="none" cap="none" strike="noStrike">
              <a:solidFill>
                <a:schemeClr val="dk1"/>
              </a:solidFill>
              <a:latin typeface="Calibri"/>
              <a:ea typeface="Calibri"/>
              <a:cs typeface="Calibri"/>
              <a:sym typeface="Calibri"/>
            </a:endParaRPr>
          </a:p>
        </p:txBody>
      </p:sp>
      <p:sp>
        <p:nvSpPr>
          <p:cNvPr id="386" name="Google Shape;386;p12"/>
          <p:cNvSpPr/>
          <p:nvPr/>
        </p:nvSpPr>
        <p:spPr>
          <a:xfrm>
            <a:off x="4812465" y="5047737"/>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IFN tipo II</a:t>
            </a:r>
            <a:endParaRPr b="0" i="0" sz="1650" u="none" cap="none" strike="noStrike">
              <a:solidFill>
                <a:schemeClr val="dk1"/>
              </a:solidFill>
              <a:latin typeface="Calibri"/>
              <a:ea typeface="Calibri"/>
              <a:cs typeface="Calibri"/>
              <a:sym typeface="Calibri"/>
            </a:endParaRPr>
          </a:p>
        </p:txBody>
      </p:sp>
      <p:sp>
        <p:nvSpPr>
          <p:cNvPr id="387" name="Google Shape;387;p12"/>
          <p:cNvSpPr/>
          <p:nvPr/>
        </p:nvSpPr>
        <p:spPr>
          <a:xfrm>
            <a:off x="4663600" y="5501674"/>
            <a:ext cx="3390300" cy="675000"/>
          </a:xfrm>
          <a:prstGeom prst="roundRect">
            <a:avLst>
              <a:gd fmla="val 14545" name="adj"/>
            </a:avLst>
          </a:prstGeom>
          <a:solidFill>
            <a:srgbClr val="F5DCD0"/>
          </a:solidFill>
          <a:ln cap="flat" cmpd="sng" w="12700">
            <a:solidFill>
              <a:srgbClr val="F5DC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388" name="Google Shape;388;p12"/>
          <p:cNvSpPr/>
          <p:nvPr/>
        </p:nvSpPr>
        <p:spPr>
          <a:xfrm>
            <a:off x="4812465" y="5550748"/>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100"/>
              <a:buFont typeface="Calibri"/>
              <a:buNone/>
            </a:pPr>
            <a:r>
              <a:rPr b="1" i="0" lang="en-US" sz="1800" u="none" cap="none" strike="noStrike">
                <a:solidFill>
                  <a:srgbClr val="A84B2F"/>
                </a:solidFill>
                <a:latin typeface="Calibri"/>
                <a:ea typeface="Calibri"/>
                <a:cs typeface="Calibri"/>
                <a:sym typeface="Calibri"/>
              </a:rPr>
              <a:t>BAFF</a:t>
            </a:r>
            <a:endParaRPr b="0" i="0" sz="1800" u="none" cap="none" strike="noStrike">
              <a:solidFill>
                <a:schemeClr val="dk1"/>
              </a:solidFill>
              <a:latin typeface="Calibri"/>
              <a:ea typeface="Calibri"/>
              <a:cs typeface="Calibri"/>
              <a:sym typeface="Calibri"/>
            </a:endParaRPr>
          </a:p>
        </p:txBody>
      </p:sp>
      <p:sp>
        <p:nvSpPr>
          <p:cNvPr id="389" name="Google Shape;389;p12"/>
          <p:cNvSpPr/>
          <p:nvPr/>
        </p:nvSpPr>
        <p:spPr>
          <a:xfrm>
            <a:off x="4812465" y="5845193"/>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supervivencia de células B</a:t>
            </a:r>
            <a:endParaRPr b="0" i="0" sz="1650" u="none" cap="none" strike="noStrike">
              <a:solidFill>
                <a:schemeClr val="dk1"/>
              </a:solidFill>
              <a:latin typeface="Calibri"/>
              <a:ea typeface="Calibri"/>
              <a:cs typeface="Calibri"/>
              <a:sym typeface="Calibri"/>
            </a:endParaRPr>
          </a:p>
        </p:txBody>
      </p:sp>
      <p:sp>
        <p:nvSpPr>
          <p:cNvPr id="390" name="Google Shape;390;p12"/>
          <p:cNvSpPr/>
          <p:nvPr/>
        </p:nvSpPr>
        <p:spPr>
          <a:xfrm>
            <a:off x="8252746" y="2618561"/>
            <a:ext cx="3390300" cy="429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100"/>
              <a:buFont typeface="Calibri"/>
              <a:buNone/>
            </a:pPr>
            <a:r>
              <a:rPr b="1" i="0" lang="en-US" sz="1800" u="none" cap="none" strike="noStrike">
                <a:solidFill>
                  <a:srgbClr val="0F6B78"/>
                </a:solidFill>
                <a:latin typeface="Calibri"/>
                <a:ea typeface="Calibri"/>
                <a:cs typeface="Calibri"/>
                <a:sym typeface="Calibri"/>
              </a:rPr>
              <a:t>Peso negativo  ↓</a:t>
            </a:r>
            <a:endParaRPr b="0" i="0" sz="1800" u="none" cap="none" strike="noStrike">
              <a:solidFill>
                <a:schemeClr val="dk1"/>
              </a:solidFill>
              <a:latin typeface="Calibri"/>
              <a:ea typeface="Calibri"/>
              <a:cs typeface="Calibri"/>
              <a:sym typeface="Calibri"/>
            </a:endParaRPr>
          </a:p>
        </p:txBody>
      </p:sp>
      <p:sp>
        <p:nvSpPr>
          <p:cNvPr id="391" name="Google Shape;391;p12"/>
          <p:cNvSpPr/>
          <p:nvPr/>
        </p:nvSpPr>
        <p:spPr>
          <a:xfrm>
            <a:off x="8252746" y="3109303"/>
            <a:ext cx="3390300" cy="675000"/>
          </a:xfrm>
          <a:prstGeom prst="roundRect">
            <a:avLst>
              <a:gd fmla="val 14545" name="adj"/>
            </a:avLst>
          </a:prstGeom>
          <a:solidFill>
            <a:srgbClr val="D6E4E6"/>
          </a:solidFill>
          <a:ln cap="flat" cmpd="sng" w="12700">
            <a:solidFill>
              <a:srgbClr val="D6E4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392" name="Google Shape;392;p12"/>
          <p:cNvSpPr/>
          <p:nvPr/>
        </p:nvSpPr>
        <p:spPr>
          <a:xfrm>
            <a:off x="8401611" y="3158378"/>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100"/>
              <a:buFont typeface="Calibri"/>
              <a:buNone/>
            </a:pPr>
            <a:r>
              <a:rPr b="1" i="0" lang="en-US" sz="1800" u="none" cap="none" strike="noStrike">
                <a:solidFill>
                  <a:srgbClr val="0F6B78"/>
                </a:solidFill>
                <a:latin typeface="Calibri"/>
                <a:ea typeface="Calibri"/>
                <a:cs typeface="Calibri"/>
                <a:sym typeface="Calibri"/>
              </a:rPr>
              <a:t>HDL</a:t>
            </a:r>
            <a:endParaRPr b="0" i="0" sz="1800" u="none" cap="none" strike="noStrike">
              <a:solidFill>
                <a:schemeClr val="dk1"/>
              </a:solidFill>
              <a:latin typeface="Calibri"/>
              <a:ea typeface="Calibri"/>
              <a:cs typeface="Calibri"/>
              <a:sym typeface="Calibri"/>
            </a:endParaRPr>
          </a:p>
        </p:txBody>
      </p:sp>
      <p:sp>
        <p:nvSpPr>
          <p:cNvPr id="393" name="Google Shape;393;p12"/>
          <p:cNvSpPr/>
          <p:nvPr/>
        </p:nvSpPr>
        <p:spPr>
          <a:xfrm>
            <a:off x="8401611" y="3452823"/>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colesterol HDL</a:t>
            </a:r>
            <a:endParaRPr b="0" i="0" sz="1650" u="none" cap="none" strike="noStrike">
              <a:solidFill>
                <a:schemeClr val="dk1"/>
              </a:solidFill>
              <a:latin typeface="Calibri"/>
              <a:ea typeface="Calibri"/>
              <a:cs typeface="Calibri"/>
              <a:sym typeface="Calibri"/>
            </a:endParaRPr>
          </a:p>
        </p:txBody>
      </p:sp>
      <p:sp>
        <p:nvSpPr>
          <p:cNvPr id="394" name="Google Shape;394;p12"/>
          <p:cNvSpPr/>
          <p:nvPr/>
        </p:nvSpPr>
        <p:spPr>
          <a:xfrm>
            <a:off x="8252746" y="3906760"/>
            <a:ext cx="3390300" cy="675000"/>
          </a:xfrm>
          <a:prstGeom prst="roundRect">
            <a:avLst>
              <a:gd fmla="val 14545" name="adj"/>
            </a:avLst>
          </a:prstGeom>
          <a:solidFill>
            <a:srgbClr val="D6E4E6"/>
          </a:solidFill>
          <a:ln cap="flat" cmpd="sng" w="12700">
            <a:solidFill>
              <a:srgbClr val="D6E4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395" name="Google Shape;395;p12"/>
          <p:cNvSpPr/>
          <p:nvPr/>
        </p:nvSpPr>
        <p:spPr>
          <a:xfrm>
            <a:off x="8401611" y="3955834"/>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100"/>
              <a:buFont typeface="Calibri"/>
              <a:buNone/>
            </a:pPr>
            <a:r>
              <a:rPr b="1" i="0" lang="en-US" sz="1800" u="none" cap="none" strike="noStrike">
                <a:solidFill>
                  <a:srgbClr val="0F6B78"/>
                </a:solidFill>
                <a:latin typeface="Calibri"/>
                <a:ea typeface="Calibri"/>
                <a:cs typeface="Calibri"/>
                <a:sym typeface="Calibri"/>
              </a:rPr>
              <a:t>Apo A-I</a:t>
            </a:r>
            <a:endParaRPr b="0" i="0" sz="1800" u="none" cap="none" strike="noStrike">
              <a:solidFill>
                <a:schemeClr val="dk1"/>
              </a:solidFill>
              <a:latin typeface="Calibri"/>
              <a:ea typeface="Calibri"/>
              <a:cs typeface="Calibri"/>
              <a:sym typeface="Calibri"/>
            </a:endParaRPr>
          </a:p>
        </p:txBody>
      </p:sp>
      <p:sp>
        <p:nvSpPr>
          <p:cNvPr id="396" name="Google Shape;396;p12"/>
          <p:cNvSpPr/>
          <p:nvPr/>
        </p:nvSpPr>
        <p:spPr>
          <a:xfrm>
            <a:off x="8401611" y="4250280"/>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apolipoproteína A-I</a:t>
            </a:r>
            <a:endParaRPr b="0" i="0" sz="1650" u="none" cap="none" strike="noStrike">
              <a:solidFill>
                <a:schemeClr val="dk1"/>
              </a:solidFill>
              <a:latin typeface="Calibri"/>
              <a:ea typeface="Calibri"/>
              <a:cs typeface="Calibri"/>
              <a:sym typeface="Calibri"/>
            </a:endParaRPr>
          </a:p>
        </p:txBody>
      </p:sp>
      <p:sp>
        <p:nvSpPr>
          <p:cNvPr id="397" name="Google Shape;397;p12"/>
          <p:cNvSpPr/>
          <p:nvPr/>
        </p:nvSpPr>
        <p:spPr>
          <a:xfrm>
            <a:off x="8252746" y="4704217"/>
            <a:ext cx="3390300" cy="675000"/>
          </a:xfrm>
          <a:prstGeom prst="roundRect">
            <a:avLst>
              <a:gd fmla="val 14545" name="adj"/>
            </a:avLst>
          </a:prstGeom>
          <a:solidFill>
            <a:srgbClr val="D6E4E6"/>
          </a:solidFill>
          <a:ln cap="flat" cmpd="sng" w="12700">
            <a:solidFill>
              <a:srgbClr val="D6E4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398" name="Google Shape;398;p12"/>
          <p:cNvSpPr/>
          <p:nvPr/>
        </p:nvSpPr>
        <p:spPr>
          <a:xfrm>
            <a:off x="8401611" y="4753291"/>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100"/>
              <a:buFont typeface="Calibri"/>
              <a:buNone/>
            </a:pPr>
            <a:r>
              <a:rPr b="1" i="0" lang="en-US" sz="1800" u="none" cap="none" strike="noStrike">
                <a:solidFill>
                  <a:srgbClr val="0F6B78"/>
                </a:solidFill>
                <a:latin typeface="Calibri"/>
                <a:ea typeface="Calibri"/>
                <a:cs typeface="Calibri"/>
                <a:sym typeface="Calibri"/>
              </a:rPr>
              <a:t>C3</a:t>
            </a:r>
            <a:endParaRPr b="0" i="0" sz="1800" u="none" cap="none" strike="noStrike">
              <a:solidFill>
                <a:schemeClr val="dk1"/>
              </a:solidFill>
              <a:latin typeface="Calibri"/>
              <a:ea typeface="Calibri"/>
              <a:cs typeface="Calibri"/>
              <a:sym typeface="Calibri"/>
            </a:endParaRPr>
          </a:p>
        </p:txBody>
      </p:sp>
      <p:sp>
        <p:nvSpPr>
          <p:cNvPr id="399" name="Google Shape;399;p12"/>
          <p:cNvSpPr/>
          <p:nvPr/>
        </p:nvSpPr>
        <p:spPr>
          <a:xfrm>
            <a:off x="8401611" y="5047737"/>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complemento C3</a:t>
            </a:r>
            <a:endParaRPr b="0" i="0" sz="1650" u="none" cap="none" strike="noStrike">
              <a:solidFill>
                <a:schemeClr val="dk1"/>
              </a:solidFill>
              <a:latin typeface="Calibri"/>
              <a:ea typeface="Calibri"/>
              <a:cs typeface="Calibri"/>
              <a:sym typeface="Calibri"/>
            </a:endParaRPr>
          </a:p>
        </p:txBody>
      </p:sp>
      <p:sp>
        <p:nvSpPr>
          <p:cNvPr id="400" name="Google Shape;400;p12"/>
          <p:cNvSpPr/>
          <p:nvPr/>
        </p:nvSpPr>
        <p:spPr>
          <a:xfrm>
            <a:off x="8252746" y="5501674"/>
            <a:ext cx="3390300" cy="675000"/>
          </a:xfrm>
          <a:prstGeom prst="roundRect">
            <a:avLst>
              <a:gd fmla="val 14545" name="adj"/>
            </a:avLst>
          </a:prstGeom>
          <a:solidFill>
            <a:srgbClr val="D6E4E6"/>
          </a:solidFill>
          <a:ln cap="flat" cmpd="sng" w="12700">
            <a:solidFill>
              <a:srgbClr val="D6E4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01" name="Google Shape;401;p12"/>
          <p:cNvSpPr/>
          <p:nvPr/>
        </p:nvSpPr>
        <p:spPr>
          <a:xfrm>
            <a:off x="8401611" y="5550748"/>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100"/>
              <a:buFont typeface="Calibri"/>
              <a:buNone/>
            </a:pPr>
            <a:r>
              <a:rPr b="1" i="0" lang="en-US" sz="1800" u="none" cap="none" strike="noStrike">
                <a:solidFill>
                  <a:srgbClr val="0F6B78"/>
                </a:solidFill>
                <a:latin typeface="Calibri"/>
                <a:ea typeface="Calibri"/>
                <a:cs typeface="Calibri"/>
                <a:sym typeface="Calibri"/>
              </a:rPr>
              <a:t>C4</a:t>
            </a:r>
            <a:endParaRPr b="0" i="0" sz="1800" u="none" cap="none" strike="noStrike">
              <a:solidFill>
                <a:schemeClr val="dk1"/>
              </a:solidFill>
              <a:latin typeface="Calibri"/>
              <a:ea typeface="Calibri"/>
              <a:cs typeface="Calibri"/>
              <a:sym typeface="Calibri"/>
            </a:endParaRPr>
          </a:p>
        </p:txBody>
      </p:sp>
      <p:sp>
        <p:nvSpPr>
          <p:cNvPr id="402" name="Google Shape;402;p12"/>
          <p:cNvSpPr/>
          <p:nvPr/>
        </p:nvSpPr>
        <p:spPr>
          <a:xfrm>
            <a:off x="8401611" y="5845193"/>
            <a:ext cx="3092700" cy="30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50"/>
              <a:buFont typeface="Calibri"/>
              <a:buNone/>
            </a:pPr>
            <a:r>
              <a:rPr b="0" i="0" lang="en-US" sz="1650" u="none" cap="none" strike="noStrike">
                <a:solidFill>
                  <a:srgbClr val="6B707A"/>
                </a:solidFill>
                <a:latin typeface="Calibri"/>
                <a:ea typeface="Calibri"/>
                <a:cs typeface="Calibri"/>
                <a:sym typeface="Calibri"/>
              </a:rPr>
              <a:t>complemento C4</a:t>
            </a:r>
            <a:endParaRPr b="0" i="0" sz="1650" u="none" cap="none" strike="noStrike">
              <a:solidFill>
                <a:schemeClr val="dk1"/>
              </a:solidFill>
              <a:latin typeface="Calibri"/>
              <a:ea typeface="Calibri"/>
              <a:cs typeface="Calibri"/>
              <a:sym typeface="Calibri"/>
            </a:endParaRPr>
          </a:p>
        </p:txBody>
      </p:sp>
      <p:sp>
        <p:nvSpPr>
          <p:cNvPr id="403" name="Google Shape;403;p12"/>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2"/>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a:t>
            </a:r>
            <a:r>
              <a:rPr b="0" i="0" lang="en-US" sz="900" u="none" cap="none" strike="noStrike">
                <a:solidFill>
                  <a:srgbClr val="6B707A"/>
                </a:solidFill>
                <a:latin typeface="Calibri"/>
                <a:ea typeface="Calibri"/>
                <a:cs typeface="Calibri"/>
                <a:sym typeface="Calibri"/>
              </a:rPr>
              <a:t> · TFM Bioinformática y Bioestadística</a:t>
            </a:r>
            <a:endParaRPr b="0" i="0" sz="900" u="none" cap="none" strike="noStrike">
              <a:solidFill>
                <a:schemeClr val="dk1"/>
              </a:solidFill>
              <a:latin typeface="Calibri"/>
              <a:ea typeface="Calibri"/>
              <a:cs typeface="Calibri"/>
              <a:sym typeface="Calibri"/>
            </a:endParaRPr>
          </a:p>
        </p:txBody>
      </p:sp>
      <p:sp>
        <p:nvSpPr>
          <p:cNvPr id="405" name="Google Shape;405;p12"/>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410" name="Shape 410"/>
        <p:cNvGrpSpPr/>
        <p:nvPr/>
      </p:nvGrpSpPr>
      <p:grpSpPr>
        <a:xfrm>
          <a:off x="0" y="0"/>
          <a:ext cx="0" cy="0"/>
          <a:chOff x="0" y="0"/>
          <a:chExt cx="0" cy="0"/>
        </a:xfrm>
      </p:grpSpPr>
      <p:sp>
        <p:nvSpPr>
          <p:cNvPr id="411" name="Google Shape;411;p13"/>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DIABLO · ARQUITECTURA</a:t>
            </a:r>
            <a:endParaRPr b="0" i="0" sz="1000" u="none" cap="none" strike="noStrike">
              <a:solidFill>
                <a:schemeClr val="dk1"/>
              </a:solidFill>
              <a:latin typeface="Calibri"/>
              <a:ea typeface="Calibri"/>
              <a:cs typeface="Calibri"/>
              <a:sym typeface="Calibri"/>
            </a:endParaRPr>
          </a:p>
        </p:txBody>
      </p:sp>
      <p:sp>
        <p:nvSpPr>
          <p:cNvPr id="412" name="Google Shape;412;p13"/>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2</a:t>
            </a:r>
            <a:r>
              <a:rPr b="0" i="0" lang="en-US" sz="1000" u="none" cap="none" strike="noStrike">
                <a:solidFill>
                  <a:srgbClr val="6B707A"/>
                </a:solidFill>
                <a:latin typeface="Calibri"/>
                <a:ea typeface="Calibri"/>
                <a:cs typeface="Calibri"/>
                <a:sym typeface="Calibri"/>
              </a:rPr>
              <a:t> / 20</a:t>
            </a:r>
            <a:endParaRPr b="0" i="0" sz="1000" u="none" cap="none" strike="noStrike">
              <a:solidFill>
                <a:schemeClr val="dk1"/>
              </a:solidFill>
              <a:latin typeface="Calibri"/>
              <a:ea typeface="Calibri"/>
              <a:cs typeface="Calibri"/>
              <a:sym typeface="Calibri"/>
            </a:endParaRPr>
          </a:p>
        </p:txBody>
      </p:sp>
      <p:sp>
        <p:nvSpPr>
          <p:cNvPr id="413" name="Google Shape;413;p13"/>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DIABLO: integración supervisada para 5 desenlaces</a:t>
            </a:r>
            <a:endParaRPr b="0" i="0" sz="3200" u="none" cap="none" strike="noStrike">
              <a:solidFill>
                <a:schemeClr val="dk1"/>
              </a:solidFill>
              <a:latin typeface="Calibri"/>
              <a:ea typeface="Calibri"/>
              <a:cs typeface="Calibri"/>
              <a:sym typeface="Calibri"/>
            </a:endParaRPr>
          </a:p>
        </p:txBody>
      </p:sp>
      <p:sp>
        <p:nvSpPr>
          <p:cNvPr id="415" name="Google Shape;415;p13"/>
          <p:cNvSpPr/>
          <p:nvPr/>
        </p:nvSpPr>
        <p:spPr>
          <a:xfrm>
            <a:off x="548640" y="169164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1800" u="none" cap="none" strike="noStrike">
                <a:solidFill>
                  <a:srgbClr val="6B707A"/>
                </a:solidFill>
                <a:latin typeface="Calibri"/>
                <a:ea typeface="Calibri"/>
                <a:cs typeface="Calibri"/>
                <a:sym typeface="Calibri"/>
              </a:rPr>
              <a:t>Dos bloques ómicos, cinco modelos paralelos, cinco lecturas clínicas.</a:t>
            </a:r>
            <a:endParaRPr b="0" i="0" sz="1800" u="none" cap="none" strike="noStrike">
              <a:solidFill>
                <a:schemeClr val="dk1"/>
              </a:solidFill>
              <a:latin typeface="Calibri"/>
              <a:ea typeface="Calibri"/>
              <a:cs typeface="Calibri"/>
              <a:sym typeface="Calibri"/>
            </a:endParaRPr>
          </a:p>
        </p:txBody>
      </p:sp>
      <p:sp>
        <p:nvSpPr>
          <p:cNvPr id="416" name="Google Shape;416;p13"/>
          <p:cNvSpPr/>
          <p:nvPr/>
        </p:nvSpPr>
        <p:spPr>
          <a:xfrm>
            <a:off x="731520" y="2743200"/>
            <a:ext cx="2377440" cy="1097280"/>
          </a:xfrm>
          <a:prstGeom prst="roundRect">
            <a:avLst>
              <a:gd fmla="val 8333" name="adj"/>
            </a:avLst>
          </a:prstGeom>
          <a:solidFill>
            <a:srgbClr val="C7DCDF"/>
          </a:solidFill>
          <a:ln cap="flat" cmpd="sng" w="12700">
            <a:solidFill>
              <a:srgbClr val="C7DCD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17" name="Google Shape;417;p13"/>
          <p:cNvSpPr/>
          <p:nvPr/>
        </p:nvSpPr>
        <p:spPr>
          <a:xfrm>
            <a:off x="731520" y="2834640"/>
            <a:ext cx="23774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400"/>
              <a:buFont typeface="Calibri"/>
              <a:buNone/>
            </a:pPr>
            <a:r>
              <a:rPr b="1" i="0" lang="en-US" sz="2100" u="none" cap="none" strike="noStrike">
                <a:solidFill>
                  <a:srgbClr val="2E3138"/>
                </a:solidFill>
                <a:latin typeface="Calibri"/>
                <a:ea typeface="Calibri"/>
                <a:cs typeface="Calibri"/>
                <a:sym typeface="Calibri"/>
              </a:rPr>
              <a:t>Transcriptoma</a:t>
            </a:r>
            <a:endParaRPr b="0" i="0" sz="2100" u="none" cap="none" strike="noStrike">
              <a:solidFill>
                <a:schemeClr val="dk1"/>
              </a:solidFill>
              <a:latin typeface="Calibri"/>
              <a:ea typeface="Calibri"/>
              <a:cs typeface="Calibri"/>
              <a:sym typeface="Calibri"/>
            </a:endParaRPr>
          </a:p>
        </p:txBody>
      </p:sp>
      <p:sp>
        <p:nvSpPr>
          <p:cNvPr id="418" name="Google Shape;418;p13"/>
          <p:cNvSpPr/>
          <p:nvPr/>
        </p:nvSpPr>
        <p:spPr>
          <a:xfrm>
            <a:off x="731520" y="3200400"/>
            <a:ext cx="23774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200"/>
              <a:buFont typeface="Calibri"/>
              <a:buNone/>
            </a:pPr>
            <a:r>
              <a:rPr b="0" i="0" lang="en-US" sz="1900" u="none" cap="none" strike="noStrike">
                <a:solidFill>
                  <a:srgbClr val="2E3138"/>
                </a:solidFill>
                <a:latin typeface="Calibri"/>
                <a:ea typeface="Calibri"/>
                <a:cs typeface="Calibri"/>
                <a:sym typeface="Calibri"/>
              </a:rPr>
              <a:t>72 ISGs</a:t>
            </a:r>
            <a:endParaRPr b="0" i="0" sz="1900" u="none" cap="none" strike="noStrike">
              <a:solidFill>
                <a:schemeClr val="dk1"/>
              </a:solidFill>
              <a:latin typeface="Calibri"/>
              <a:ea typeface="Calibri"/>
              <a:cs typeface="Calibri"/>
              <a:sym typeface="Calibri"/>
            </a:endParaRPr>
          </a:p>
        </p:txBody>
      </p:sp>
      <p:sp>
        <p:nvSpPr>
          <p:cNvPr id="419" name="Google Shape;419;p13"/>
          <p:cNvSpPr/>
          <p:nvPr/>
        </p:nvSpPr>
        <p:spPr>
          <a:xfrm>
            <a:off x="731520" y="4206240"/>
            <a:ext cx="2377440" cy="1097280"/>
          </a:xfrm>
          <a:prstGeom prst="roundRect">
            <a:avLst>
              <a:gd fmla="val 8333" name="adj"/>
            </a:avLst>
          </a:prstGeom>
          <a:solidFill>
            <a:srgbClr val="E8DCD2"/>
          </a:solidFill>
          <a:ln cap="flat" cmpd="sng" w="12700">
            <a:solidFill>
              <a:srgbClr val="E8DC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0" name="Google Shape;420;p13"/>
          <p:cNvSpPr/>
          <p:nvPr/>
        </p:nvSpPr>
        <p:spPr>
          <a:xfrm>
            <a:off x="731520" y="4297680"/>
            <a:ext cx="23774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400"/>
              <a:buFont typeface="Calibri"/>
              <a:buNone/>
            </a:pPr>
            <a:r>
              <a:rPr b="1" i="0" lang="en-US" sz="2100" u="none" cap="none" strike="noStrike">
                <a:solidFill>
                  <a:srgbClr val="2E3138"/>
                </a:solidFill>
                <a:latin typeface="Calibri"/>
                <a:ea typeface="Calibri"/>
                <a:cs typeface="Calibri"/>
                <a:sym typeface="Calibri"/>
              </a:rPr>
              <a:t>Proteoma sérico</a:t>
            </a:r>
            <a:endParaRPr b="0" i="0" sz="2100" u="none" cap="none" strike="noStrike">
              <a:solidFill>
                <a:schemeClr val="dk1"/>
              </a:solidFill>
              <a:latin typeface="Calibri"/>
              <a:ea typeface="Calibri"/>
              <a:cs typeface="Calibri"/>
              <a:sym typeface="Calibri"/>
            </a:endParaRPr>
          </a:p>
        </p:txBody>
      </p:sp>
      <p:sp>
        <p:nvSpPr>
          <p:cNvPr id="421" name="Google Shape;421;p13"/>
          <p:cNvSpPr/>
          <p:nvPr/>
        </p:nvSpPr>
        <p:spPr>
          <a:xfrm>
            <a:off x="731520" y="4663440"/>
            <a:ext cx="237744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E3138"/>
              </a:buClr>
              <a:buSzPts val="1200"/>
              <a:buFont typeface="Calibri"/>
              <a:buNone/>
            </a:pPr>
            <a:r>
              <a:rPr b="0" i="0" lang="en-US" sz="1900" u="none" cap="none" strike="noStrike">
                <a:solidFill>
                  <a:srgbClr val="2E3138"/>
                </a:solidFill>
                <a:latin typeface="Calibri"/>
                <a:ea typeface="Calibri"/>
                <a:cs typeface="Calibri"/>
                <a:sym typeface="Calibri"/>
              </a:rPr>
              <a:t>18 variables</a:t>
            </a:r>
            <a:endParaRPr b="0" i="0" sz="1900" u="none" cap="none" strike="noStrike">
              <a:solidFill>
                <a:schemeClr val="dk1"/>
              </a:solidFill>
              <a:latin typeface="Calibri"/>
              <a:ea typeface="Calibri"/>
              <a:cs typeface="Calibri"/>
              <a:sym typeface="Calibri"/>
            </a:endParaRPr>
          </a:p>
        </p:txBody>
      </p:sp>
      <p:sp>
        <p:nvSpPr>
          <p:cNvPr id="422" name="Google Shape;422;p13"/>
          <p:cNvSpPr/>
          <p:nvPr/>
        </p:nvSpPr>
        <p:spPr>
          <a:xfrm>
            <a:off x="4206240" y="3474720"/>
            <a:ext cx="2377440" cy="1097280"/>
          </a:xfrm>
          <a:prstGeom prst="roundRect">
            <a:avLst>
              <a:gd fmla="val 8333" name="adj"/>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p>
        </p:txBody>
      </p:sp>
      <p:sp>
        <p:nvSpPr>
          <p:cNvPr id="423" name="Google Shape;423;p13"/>
          <p:cNvSpPr/>
          <p:nvPr/>
        </p:nvSpPr>
        <p:spPr>
          <a:xfrm>
            <a:off x="4206240" y="3566160"/>
            <a:ext cx="23774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800"/>
              <a:buFont typeface="Calibri"/>
              <a:buNone/>
            </a:pPr>
            <a:r>
              <a:rPr b="1" i="0" lang="en-US" sz="2500" u="none" cap="none" strike="noStrike">
                <a:solidFill>
                  <a:srgbClr val="FFFFFF"/>
                </a:solidFill>
                <a:latin typeface="Calibri"/>
                <a:ea typeface="Calibri"/>
                <a:cs typeface="Calibri"/>
                <a:sym typeface="Calibri"/>
              </a:rPr>
              <a:t>DIABLO</a:t>
            </a:r>
            <a:endParaRPr b="0" i="0" sz="2500" u="none" cap="none" strike="noStrike">
              <a:solidFill>
                <a:schemeClr val="dk1"/>
              </a:solidFill>
              <a:latin typeface="Calibri"/>
              <a:ea typeface="Calibri"/>
              <a:cs typeface="Calibri"/>
              <a:sym typeface="Calibri"/>
            </a:endParaRPr>
          </a:p>
        </p:txBody>
      </p:sp>
      <p:sp>
        <p:nvSpPr>
          <p:cNvPr id="424" name="Google Shape;424;p13"/>
          <p:cNvSpPr/>
          <p:nvPr/>
        </p:nvSpPr>
        <p:spPr>
          <a:xfrm>
            <a:off x="4206240" y="4023360"/>
            <a:ext cx="237744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0" i="0" lang="en-US" sz="1900" u="none" cap="none" strike="noStrike">
                <a:solidFill>
                  <a:srgbClr val="FFFFFF"/>
                </a:solidFill>
                <a:latin typeface="Calibri"/>
                <a:ea typeface="Calibri"/>
                <a:cs typeface="Calibri"/>
                <a:sym typeface="Calibri"/>
              </a:rPr>
              <a:t>5 modelos</a:t>
            </a:r>
            <a:endParaRPr b="0" i="0" sz="1900" u="none" cap="none" strike="noStrike">
              <a:solidFill>
                <a:schemeClr val="dk1"/>
              </a:solidFill>
              <a:latin typeface="Calibri"/>
              <a:ea typeface="Calibri"/>
              <a:cs typeface="Calibri"/>
              <a:sym typeface="Calibri"/>
            </a:endParaRPr>
          </a:p>
        </p:txBody>
      </p:sp>
      <p:cxnSp>
        <p:nvCxnSpPr>
          <p:cNvPr id="425" name="Google Shape;425;p13"/>
          <p:cNvCxnSpPr/>
          <p:nvPr/>
        </p:nvCxnSpPr>
        <p:spPr>
          <a:xfrm>
            <a:off x="3108960" y="3291840"/>
            <a:ext cx="1097280" cy="731520"/>
          </a:xfrm>
          <a:prstGeom prst="straightConnector1">
            <a:avLst/>
          </a:prstGeom>
          <a:noFill/>
          <a:ln cap="flat" cmpd="sng" w="19050">
            <a:solidFill>
              <a:srgbClr val="2E3138"/>
            </a:solidFill>
            <a:prstDash val="solid"/>
            <a:round/>
            <a:headEnd len="sm" w="sm" type="none"/>
            <a:tailEnd len="med" w="med" type="triangle"/>
          </a:ln>
        </p:spPr>
      </p:cxnSp>
      <p:cxnSp>
        <p:nvCxnSpPr>
          <p:cNvPr id="426" name="Google Shape;426;p13"/>
          <p:cNvCxnSpPr/>
          <p:nvPr/>
        </p:nvCxnSpPr>
        <p:spPr>
          <a:xfrm flipH="1" rot="10800000">
            <a:off x="3108960" y="4023360"/>
            <a:ext cx="1097280" cy="731520"/>
          </a:xfrm>
          <a:prstGeom prst="straightConnector1">
            <a:avLst/>
          </a:prstGeom>
          <a:noFill/>
          <a:ln cap="flat" cmpd="sng" w="19050">
            <a:solidFill>
              <a:srgbClr val="2E3138"/>
            </a:solidFill>
            <a:prstDash val="solid"/>
            <a:round/>
            <a:headEnd len="sm" w="sm" type="none"/>
            <a:tailEnd len="med" w="med" type="triangle"/>
          </a:ln>
        </p:spPr>
      </p:cxnSp>
      <p:sp>
        <p:nvSpPr>
          <p:cNvPr id="427" name="Google Shape;427;p13"/>
          <p:cNvSpPr/>
          <p:nvPr/>
        </p:nvSpPr>
        <p:spPr>
          <a:xfrm>
            <a:off x="7315200" y="2226564"/>
            <a:ext cx="4297680" cy="594360"/>
          </a:xfrm>
          <a:prstGeom prst="roundRect">
            <a:avLst>
              <a:gd fmla="val 12308"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28" name="Google Shape;428;p13"/>
          <p:cNvSpPr/>
          <p:nvPr/>
        </p:nvSpPr>
        <p:spPr>
          <a:xfrm>
            <a:off x="7543800" y="2226564"/>
            <a:ext cx="39319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800" u="none" cap="none" strike="noStrike">
                <a:solidFill>
                  <a:srgbClr val="2E3138"/>
                </a:solidFill>
                <a:latin typeface="Calibri"/>
                <a:ea typeface="Calibri"/>
                <a:cs typeface="Calibri"/>
                <a:sym typeface="Calibri"/>
              </a:rPr>
              <a:t>SLEDAI-2K</a:t>
            </a:r>
            <a:endParaRPr b="0" i="0" sz="1800" u="none" cap="none" strike="noStrike">
              <a:solidFill>
                <a:schemeClr val="dk1"/>
              </a:solidFill>
              <a:latin typeface="Calibri"/>
              <a:ea typeface="Calibri"/>
              <a:cs typeface="Calibri"/>
              <a:sym typeface="Calibri"/>
            </a:endParaRPr>
          </a:p>
        </p:txBody>
      </p:sp>
      <p:cxnSp>
        <p:nvCxnSpPr>
          <p:cNvPr id="429" name="Google Shape;429;p13"/>
          <p:cNvCxnSpPr/>
          <p:nvPr/>
        </p:nvCxnSpPr>
        <p:spPr>
          <a:xfrm flipH="1" rot="10800000">
            <a:off x="6583680" y="2523744"/>
            <a:ext cx="731520" cy="1499616"/>
          </a:xfrm>
          <a:prstGeom prst="straightConnector1">
            <a:avLst/>
          </a:prstGeom>
          <a:noFill/>
          <a:ln cap="flat" cmpd="sng" w="12700">
            <a:solidFill>
              <a:srgbClr val="2E3138"/>
            </a:solidFill>
            <a:prstDash val="solid"/>
            <a:round/>
            <a:headEnd len="sm" w="sm" type="none"/>
            <a:tailEnd len="med" w="med" type="triangle"/>
          </a:ln>
        </p:spPr>
      </p:cxnSp>
      <p:sp>
        <p:nvSpPr>
          <p:cNvPr id="430" name="Google Shape;430;p13"/>
          <p:cNvSpPr/>
          <p:nvPr/>
        </p:nvSpPr>
        <p:spPr>
          <a:xfrm>
            <a:off x="7315200" y="2930652"/>
            <a:ext cx="4297680" cy="594360"/>
          </a:xfrm>
          <a:prstGeom prst="roundRect">
            <a:avLst>
              <a:gd fmla="val 12308"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31" name="Google Shape;431;p13"/>
          <p:cNvSpPr/>
          <p:nvPr/>
        </p:nvSpPr>
        <p:spPr>
          <a:xfrm>
            <a:off x="7543800" y="2930652"/>
            <a:ext cx="39319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800" u="none" cap="none" strike="noStrike">
                <a:solidFill>
                  <a:srgbClr val="2E3138"/>
                </a:solidFill>
                <a:latin typeface="Calibri"/>
                <a:ea typeface="Calibri"/>
                <a:cs typeface="Calibri"/>
                <a:sym typeface="Calibri"/>
              </a:rPr>
              <a:t>SLE-DAS</a:t>
            </a:r>
            <a:endParaRPr b="0" i="0" sz="1800" u="none" cap="none" strike="noStrike">
              <a:solidFill>
                <a:schemeClr val="dk1"/>
              </a:solidFill>
              <a:latin typeface="Calibri"/>
              <a:ea typeface="Calibri"/>
              <a:cs typeface="Calibri"/>
              <a:sym typeface="Calibri"/>
            </a:endParaRPr>
          </a:p>
        </p:txBody>
      </p:sp>
      <p:cxnSp>
        <p:nvCxnSpPr>
          <p:cNvPr id="432" name="Google Shape;432;p13"/>
          <p:cNvCxnSpPr/>
          <p:nvPr/>
        </p:nvCxnSpPr>
        <p:spPr>
          <a:xfrm flipH="1" rot="10800000">
            <a:off x="6583680" y="3227832"/>
            <a:ext cx="731520" cy="795528"/>
          </a:xfrm>
          <a:prstGeom prst="straightConnector1">
            <a:avLst/>
          </a:prstGeom>
          <a:noFill/>
          <a:ln cap="flat" cmpd="sng" w="12700">
            <a:solidFill>
              <a:srgbClr val="2E3138"/>
            </a:solidFill>
            <a:prstDash val="solid"/>
            <a:round/>
            <a:headEnd len="sm" w="sm" type="none"/>
            <a:tailEnd len="med" w="med" type="triangle"/>
          </a:ln>
        </p:spPr>
      </p:cxnSp>
      <p:sp>
        <p:nvSpPr>
          <p:cNvPr id="433" name="Google Shape;433;p13"/>
          <p:cNvSpPr/>
          <p:nvPr/>
        </p:nvSpPr>
        <p:spPr>
          <a:xfrm>
            <a:off x="7315200" y="3634740"/>
            <a:ext cx="4297680" cy="594360"/>
          </a:xfrm>
          <a:prstGeom prst="roundRect">
            <a:avLst>
              <a:gd fmla="val 12308"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34" name="Google Shape;434;p13"/>
          <p:cNvSpPr/>
          <p:nvPr/>
        </p:nvSpPr>
        <p:spPr>
          <a:xfrm>
            <a:off x="7543800" y="3634740"/>
            <a:ext cx="39319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800" u="none" cap="none" strike="noStrike">
                <a:solidFill>
                  <a:srgbClr val="2E3138"/>
                </a:solidFill>
                <a:latin typeface="Calibri"/>
                <a:ea typeface="Calibri"/>
                <a:cs typeface="Calibri"/>
                <a:sym typeface="Calibri"/>
              </a:rPr>
              <a:t>SLICC-DI</a:t>
            </a:r>
            <a:endParaRPr b="0" i="0" sz="1800" u="none" cap="none" strike="noStrike">
              <a:solidFill>
                <a:schemeClr val="dk1"/>
              </a:solidFill>
              <a:latin typeface="Calibri"/>
              <a:ea typeface="Calibri"/>
              <a:cs typeface="Calibri"/>
              <a:sym typeface="Calibri"/>
            </a:endParaRPr>
          </a:p>
        </p:txBody>
      </p:sp>
      <p:cxnSp>
        <p:nvCxnSpPr>
          <p:cNvPr id="435" name="Google Shape;435;p13"/>
          <p:cNvCxnSpPr/>
          <p:nvPr/>
        </p:nvCxnSpPr>
        <p:spPr>
          <a:xfrm flipH="1" rot="10800000">
            <a:off x="6583680" y="3931920"/>
            <a:ext cx="731520" cy="91440"/>
          </a:xfrm>
          <a:prstGeom prst="straightConnector1">
            <a:avLst/>
          </a:prstGeom>
          <a:noFill/>
          <a:ln cap="flat" cmpd="sng" w="12700">
            <a:solidFill>
              <a:srgbClr val="2E3138"/>
            </a:solidFill>
            <a:prstDash val="solid"/>
            <a:round/>
            <a:headEnd len="sm" w="sm" type="none"/>
            <a:tailEnd len="med" w="med" type="triangle"/>
          </a:ln>
        </p:spPr>
      </p:cxnSp>
      <p:sp>
        <p:nvSpPr>
          <p:cNvPr id="436" name="Google Shape;436;p13"/>
          <p:cNvSpPr/>
          <p:nvPr/>
        </p:nvSpPr>
        <p:spPr>
          <a:xfrm>
            <a:off x="7315200" y="4338828"/>
            <a:ext cx="4297680" cy="594360"/>
          </a:xfrm>
          <a:prstGeom prst="roundRect">
            <a:avLst>
              <a:gd fmla="val 12308"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37" name="Google Shape;437;p13"/>
          <p:cNvSpPr/>
          <p:nvPr/>
        </p:nvSpPr>
        <p:spPr>
          <a:xfrm>
            <a:off x="7543800" y="4338828"/>
            <a:ext cx="39319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800" u="none" cap="none" strike="noStrike">
                <a:solidFill>
                  <a:srgbClr val="2E3138"/>
                </a:solidFill>
                <a:latin typeface="Calibri"/>
                <a:ea typeface="Calibri"/>
                <a:cs typeface="Calibri"/>
                <a:sym typeface="Calibri"/>
              </a:rPr>
              <a:t>DORIS</a:t>
            </a:r>
            <a:endParaRPr b="0" i="0" sz="1800" u="none" cap="none" strike="noStrike">
              <a:solidFill>
                <a:schemeClr val="dk1"/>
              </a:solidFill>
              <a:latin typeface="Calibri"/>
              <a:ea typeface="Calibri"/>
              <a:cs typeface="Calibri"/>
              <a:sym typeface="Calibri"/>
            </a:endParaRPr>
          </a:p>
        </p:txBody>
      </p:sp>
      <p:cxnSp>
        <p:nvCxnSpPr>
          <p:cNvPr id="438" name="Google Shape;438;p13"/>
          <p:cNvCxnSpPr/>
          <p:nvPr/>
        </p:nvCxnSpPr>
        <p:spPr>
          <a:xfrm>
            <a:off x="6583680" y="4023360"/>
            <a:ext cx="731520" cy="612648"/>
          </a:xfrm>
          <a:prstGeom prst="straightConnector1">
            <a:avLst/>
          </a:prstGeom>
          <a:noFill/>
          <a:ln cap="flat" cmpd="sng" w="12700">
            <a:solidFill>
              <a:srgbClr val="2E3138"/>
            </a:solidFill>
            <a:prstDash val="solid"/>
            <a:round/>
            <a:headEnd len="sm" w="sm" type="none"/>
            <a:tailEnd len="med" w="med" type="triangle"/>
          </a:ln>
        </p:spPr>
      </p:cxnSp>
      <p:sp>
        <p:nvSpPr>
          <p:cNvPr id="439" name="Google Shape;439;p13"/>
          <p:cNvSpPr/>
          <p:nvPr/>
        </p:nvSpPr>
        <p:spPr>
          <a:xfrm>
            <a:off x="7315200" y="5042930"/>
            <a:ext cx="4297800" cy="868800"/>
          </a:xfrm>
          <a:prstGeom prst="roundRect">
            <a:avLst>
              <a:gd fmla="val 12308"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40" name="Google Shape;440;p13"/>
          <p:cNvSpPr/>
          <p:nvPr/>
        </p:nvSpPr>
        <p:spPr>
          <a:xfrm>
            <a:off x="7543800" y="5042930"/>
            <a:ext cx="39318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300"/>
              <a:buFont typeface="Calibri"/>
              <a:buNone/>
            </a:pPr>
            <a:r>
              <a:rPr b="1" i="0" lang="en-US" sz="1800" u="none" cap="none" strike="noStrike">
                <a:solidFill>
                  <a:srgbClr val="2E3138"/>
                </a:solidFill>
                <a:latin typeface="Calibri"/>
                <a:ea typeface="Calibri"/>
                <a:cs typeface="Calibri"/>
                <a:sym typeface="Calibri"/>
              </a:rPr>
              <a:t>Remisión estricta </a:t>
            </a:r>
            <a:r>
              <a:rPr b="1" lang="en-US" sz="1800">
                <a:solidFill>
                  <a:srgbClr val="2E3138"/>
                </a:solidFill>
                <a:latin typeface="Calibri"/>
                <a:ea typeface="Calibri"/>
                <a:cs typeface="Calibri"/>
                <a:sym typeface="Calibri"/>
              </a:rPr>
              <a:t>(</a:t>
            </a:r>
            <a:r>
              <a:rPr b="1" i="0" lang="en-US" sz="1800" u="none" cap="none" strike="noStrike">
                <a:solidFill>
                  <a:srgbClr val="2E3138"/>
                </a:solidFill>
                <a:latin typeface="Calibri"/>
                <a:ea typeface="Calibri"/>
                <a:cs typeface="Calibri"/>
                <a:sym typeface="Calibri"/>
              </a:rPr>
              <a:t>SLEDAI-2K = 0, SLE-DAS &lt; 2,08 y S</a:t>
            </a:r>
            <a:r>
              <a:rPr b="1" lang="en-US" sz="1800">
                <a:solidFill>
                  <a:srgbClr val="2E3138"/>
                </a:solidFill>
                <a:latin typeface="Calibri"/>
                <a:ea typeface="Calibri"/>
                <a:cs typeface="Calibri"/>
                <a:sym typeface="Calibri"/>
              </a:rPr>
              <a:t>LICC-</a:t>
            </a:r>
            <a:r>
              <a:rPr b="1" i="0" lang="en-US" sz="1800" u="none" cap="none" strike="noStrike">
                <a:solidFill>
                  <a:srgbClr val="2E3138"/>
                </a:solidFill>
                <a:latin typeface="Calibri"/>
                <a:ea typeface="Calibri"/>
                <a:cs typeface="Calibri"/>
                <a:sym typeface="Calibri"/>
              </a:rPr>
              <a:t>DI = 0)</a:t>
            </a:r>
            <a:endParaRPr b="0" i="0" sz="1800" u="none" cap="none" strike="noStrike">
              <a:solidFill>
                <a:schemeClr val="dk1"/>
              </a:solidFill>
              <a:latin typeface="Calibri"/>
              <a:ea typeface="Calibri"/>
              <a:cs typeface="Calibri"/>
              <a:sym typeface="Calibri"/>
            </a:endParaRPr>
          </a:p>
        </p:txBody>
      </p:sp>
      <p:cxnSp>
        <p:nvCxnSpPr>
          <p:cNvPr id="441" name="Google Shape;441;p13"/>
          <p:cNvCxnSpPr/>
          <p:nvPr/>
        </p:nvCxnSpPr>
        <p:spPr>
          <a:xfrm>
            <a:off x="6583680" y="4023360"/>
            <a:ext cx="731520" cy="1316736"/>
          </a:xfrm>
          <a:prstGeom prst="straightConnector1">
            <a:avLst/>
          </a:prstGeom>
          <a:noFill/>
          <a:ln cap="flat" cmpd="sng" w="12700">
            <a:solidFill>
              <a:srgbClr val="2E3138"/>
            </a:solidFill>
            <a:prstDash val="solid"/>
            <a:round/>
            <a:headEnd len="sm" w="sm" type="none"/>
            <a:tailEnd len="med" w="med" type="triangle"/>
          </a:ln>
        </p:spPr>
      </p:cxnSp>
      <p:sp>
        <p:nvSpPr>
          <p:cNvPr id="442" name="Google Shape;442;p13"/>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444" name="Google Shape;444;p13"/>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449" name="Shape 449"/>
        <p:cNvGrpSpPr/>
        <p:nvPr/>
      </p:nvGrpSpPr>
      <p:grpSpPr>
        <a:xfrm>
          <a:off x="0" y="0"/>
          <a:ext cx="0" cy="0"/>
          <a:chOff x="0" y="0"/>
          <a:chExt cx="0" cy="0"/>
        </a:xfrm>
      </p:grpSpPr>
      <p:sp>
        <p:nvSpPr>
          <p:cNvPr id="450" name="Google Shape;450;p14"/>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DIABLO · ACTIVIDAD</a:t>
            </a:r>
            <a:endParaRPr b="0" i="0" sz="1000" u="none" cap="none" strike="noStrike">
              <a:solidFill>
                <a:schemeClr val="dk1"/>
              </a:solidFill>
              <a:latin typeface="Calibri"/>
              <a:ea typeface="Calibri"/>
              <a:cs typeface="Calibri"/>
              <a:sym typeface="Calibri"/>
            </a:endParaRPr>
          </a:p>
        </p:txBody>
      </p:sp>
      <p:sp>
        <p:nvSpPr>
          <p:cNvPr id="451" name="Google Shape;451;p14"/>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3 </a:t>
            </a:r>
            <a:r>
              <a:rPr b="0" i="0" lang="en-US" sz="1000" u="none" cap="none" strike="noStrike">
                <a:solidFill>
                  <a:srgbClr val="6B707A"/>
                </a:solidFill>
                <a:latin typeface="Calibri"/>
                <a:ea typeface="Calibri"/>
                <a:cs typeface="Calibri"/>
                <a:sym typeface="Calibri"/>
              </a:rPr>
              <a:t>/ 20</a:t>
            </a:r>
            <a:endParaRPr b="0" i="0" sz="1000" u="none" cap="none" strike="noStrike">
              <a:solidFill>
                <a:schemeClr val="dk1"/>
              </a:solidFill>
              <a:latin typeface="Calibri"/>
              <a:ea typeface="Calibri"/>
              <a:cs typeface="Calibri"/>
              <a:sym typeface="Calibri"/>
            </a:endParaRPr>
          </a:p>
        </p:txBody>
      </p:sp>
      <p:sp>
        <p:nvSpPr>
          <p:cNvPr id="452" name="Google Shape;452;p14"/>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4"/>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DIABLO en actividad clínica</a:t>
            </a:r>
            <a:endParaRPr b="0" i="0" sz="3200" u="none" cap="none" strike="noStrike">
              <a:solidFill>
                <a:schemeClr val="dk1"/>
              </a:solidFill>
              <a:latin typeface="Calibri"/>
              <a:ea typeface="Calibri"/>
              <a:cs typeface="Calibri"/>
              <a:sym typeface="Calibri"/>
            </a:endParaRPr>
          </a:p>
        </p:txBody>
      </p:sp>
      <p:sp>
        <p:nvSpPr>
          <p:cNvPr id="454" name="Google Shape;454;p14"/>
          <p:cNvSpPr/>
          <p:nvPr/>
        </p:nvSpPr>
        <p:spPr>
          <a:xfrm>
            <a:off x="548650" y="1691660"/>
            <a:ext cx="11094300" cy="70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lang="en-US" sz="1800">
                <a:solidFill>
                  <a:srgbClr val="6B707A"/>
                </a:solidFill>
                <a:latin typeface="Calibri"/>
                <a:ea typeface="Calibri"/>
                <a:cs typeface="Calibri"/>
                <a:sym typeface="Calibri"/>
              </a:rPr>
              <a:t>Mismo eje IFN transcriptómico, distinta firma sérica según el índice clínico</a:t>
            </a:r>
            <a:endParaRPr sz="1800">
              <a:solidFill>
                <a:srgbClr val="6B707A"/>
              </a:solidFill>
              <a:latin typeface="Calibri"/>
              <a:ea typeface="Calibri"/>
              <a:cs typeface="Calibri"/>
              <a:sym typeface="Calibri"/>
            </a:endParaRPr>
          </a:p>
          <a:p>
            <a:pPr indent="0" lvl="0" marL="0" marR="0" rtl="0" algn="l">
              <a:spcBef>
                <a:spcPts val="0"/>
              </a:spcBef>
              <a:spcAft>
                <a:spcPts val="0"/>
              </a:spcAft>
              <a:buClr>
                <a:srgbClr val="6B707A"/>
              </a:buClr>
              <a:buSzPts val="1600"/>
              <a:buFont typeface="Calibri"/>
              <a:buNone/>
            </a:pPr>
            <a:r>
              <a:rPr lang="en-US" sz="1800">
                <a:solidFill>
                  <a:srgbClr val="6B707A"/>
                </a:solidFill>
                <a:latin typeface="Calibri"/>
                <a:ea typeface="Calibri"/>
                <a:cs typeface="Calibri"/>
                <a:sym typeface="Calibri"/>
              </a:rPr>
              <a:t>Genes ISGs canónicos en ambos modelos → coherencia transcriptómica entre índices</a:t>
            </a:r>
            <a:endParaRPr sz="1800">
              <a:solidFill>
                <a:srgbClr val="6B707A"/>
              </a:solidFill>
              <a:latin typeface="Calibri"/>
              <a:ea typeface="Calibri"/>
              <a:cs typeface="Calibri"/>
              <a:sym typeface="Calibri"/>
            </a:endParaRPr>
          </a:p>
        </p:txBody>
      </p:sp>
      <p:sp>
        <p:nvSpPr>
          <p:cNvPr id="455" name="Google Shape;455;p14"/>
          <p:cNvSpPr/>
          <p:nvPr/>
        </p:nvSpPr>
        <p:spPr>
          <a:xfrm>
            <a:off x="548640" y="2607005"/>
            <a:ext cx="5486400" cy="3566100"/>
          </a:xfrm>
          <a:prstGeom prst="roundRect">
            <a:avLst>
              <a:gd fmla="val 3077"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56" name="Google Shape;456;p14"/>
          <p:cNvSpPr/>
          <p:nvPr/>
        </p:nvSpPr>
        <p:spPr>
          <a:xfrm>
            <a:off x="822960" y="2835605"/>
            <a:ext cx="164700" cy="320100"/>
          </a:xfrm>
          <a:prstGeom prst="rect">
            <a:avLst/>
          </a:prstGeom>
          <a:solidFill>
            <a:srgbClr val="0F6B78"/>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57" name="Google Shape;457;p14"/>
          <p:cNvSpPr/>
          <p:nvPr/>
        </p:nvSpPr>
        <p:spPr>
          <a:xfrm>
            <a:off x="1051560" y="2789885"/>
            <a:ext cx="4755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2300" u="none" cap="none" strike="noStrike">
                <a:solidFill>
                  <a:srgbClr val="2E3138"/>
                </a:solidFill>
                <a:latin typeface="Calibri"/>
                <a:ea typeface="Calibri"/>
                <a:cs typeface="Calibri"/>
                <a:sym typeface="Calibri"/>
              </a:rPr>
              <a:t>SLEDAI-2K</a:t>
            </a:r>
            <a:endParaRPr b="0" i="0" sz="2300" u="none" cap="none" strike="noStrike">
              <a:solidFill>
                <a:schemeClr val="dk1"/>
              </a:solidFill>
              <a:latin typeface="Calibri"/>
              <a:ea typeface="Calibri"/>
              <a:cs typeface="Calibri"/>
              <a:sym typeface="Calibri"/>
            </a:endParaRPr>
          </a:p>
        </p:txBody>
      </p:sp>
      <p:sp>
        <p:nvSpPr>
          <p:cNvPr id="458" name="Google Shape;458;p14"/>
          <p:cNvSpPr/>
          <p:nvPr/>
        </p:nvSpPr>
        <p:spPr>
          <a:xfrm>
            <a:off x="822960" y="3384245"/>
            <a:ext cx="4937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TRANSCRIPTOMA (C1 + C2 = 75,4%)</a:t>
            </a:r>
            <a:endParaRPr b="0" i="0" sz="1500" u="none" cap="none" strike="noStrike">
              <a:solidFill>
                <a:schemeClr val="dk1"/>
              </a:solidFill>
              <a:latin typeface="Calibri"/>
              <a:ea typeface="Calibri"/>
              <a:cs typeface="Calibri"/>
              <a:sym typeface="Calibri"/>
            </a:endParaRPr>
          </a:p>
        </p:txBody>
      </p:sp>
      <p:sp>
        <p:nvSpPr>
          <p:cNvPr id="459" name="Google Shape;459;p14"/>
          <p:cNvSpPr/>
          <p:nvPr/>
        </p:nvSpPr>
        <p:spPr>
          <a:xfrm>
            <a:off x="822960" y="3658565"/>
            <a:ext cx="4937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500"/>
              <a:buFont typeface="Calibri"/>
              <a:buNone/>
            </a:pPr>
            <a:r>
              <a:rPr b="1" i="0" lang="en-US" sz="2000" u="none" cap="none" strike="noStrike">
                <a:solidFill>
                  <a:srgbClr val="0F6B78"/>
                </a:solidFill>
                <a:latin typeface="Calibri"/>
                <a:ea typeface="Calibri"/>
                <a:cs typeface="Calibri"/>
                <a:sym typeface="Calibri"/>
              </a:rPr>
              <a:t>eje IFN</a:t>
            </a:r>
            <a:r>
              <a:rPr b="1" lang="en-US" sz="2000">
                <a:solidFill>
                  <a:srgbClr val="0F6B78"/>
                </a:solidFill>
                <a:latin typeface="Calibri"/>
                <a:ea typeface="Calibri"/>
                <a:cs typeface="Calibri"/>
                <a:sym typeface="Calibri"/>
              </a:rPr>
              <a:t> (IFITM1, </a:t>
            </a:r>
            <a:r>
              <a:rPr b="1" lang="en-US" sz="2000">
                <a:solidFill>
                  <a:srgbClr val="0F6B78"/>
                </a:solidFill>
                <a:latin typeface="Calibri"/>
                <a:ea typeface="Calibri"/>
                <a:cs typeface="Calibri"/>
                <a:sym typeface="Calibri"/>
              </a:rPr>
              <a:t>TRIM38, </a:t>
            </a:r>
            <a:r>
              <a:rPr b="1" lang="en-US" sz="2000">
                <a:solidFill>
                  <a:srgbClr val="0F6B78"/>
                </a:solidFill>
                <a:latin typeface="Calibri"/>
                <a:ea typeface="Calibri"/>
                <a:cs typeface="Calibri"/>
                <a:sym typeface="Calibri"/>
              </a:rPr>
              <a:t>EIFAK2)</a:t>
            </a:r>
            <a:endParaRPr b="0" i="0" sz="2000" u="none" cap="none" strike="noStrike">
              <a:solidFill>
                <a:schemeClr val="dk1"/>
              </a:solidFill>
              <a:latin typeface="Calibri"/>
              <a:ea typeface="Calibri"/>
              <a:cs typeface="Calibri"/>
              <a:sym typeface="Calibri"/>
            </a:endParaRPr>
          </a:p>
        </p:txBody>
      </p:sp>
      <p:sp>
        <p:nvSpPr>
          <p:cNvPr id="460" name="Google Shape;460;p14"/>
          <p:cNvSpPr/>
          <p:nvPr/>
        </p:nvSpPr>
        <p:spPr>
          <a:xfrm>
            <a:off x="822960" y="4298645"/>
            <a:ext cx="4937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PROTEOMA </a:t>
            </a:r>
            <a:r>
              <a:rPr b="1" lang="en-US" sz="1500">
                <a:solidFill>
                  <a:srgbClr val="6B707A"/>
                </a:solidFill>
                <a:latin typeface="Calibri"/>
                <a:ea typeface="Calibri"/>
                <a:cs typeface="Calibri"/>
                <a:sym typeface="Calibri"/>
              </a:rPr>
              <a:t>(C1 + C2 = 25,06%)</a:t>
            </a:r>
            <a:endParaRPr b="0" i="0" sz="1500" u="none" cap="none" strike="noStrike">
              <a:solidFill>
                <a:schemeClr val="dk1"/>
              </a:solidFill>
              <a:latin typeface="Calibri"/>
              <a:ea typeface="Calibri"/>
              <a:cs typeface="Calibri"/>
              <a:sym typeface="Calibri"/>
            </a:endParaRPr>
          </a:p>
        </p:txBody>
      </p:sp>
      <p:sp>
        <p:nvSpPr>
          <p:cNvPr id="461" name="Google Shape;461;p14"/>
          <p:cNvSpPr/>
          <p:nvPr/>
        </p:nvSpPr>
        <p:spPr>
          <a:xfrm>
            <a:off x="822960" y="4572965"/>
            <a:ext cx="4937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500"/>
              <a:buFont typeface="Calibri"/>
              <a:buNone/>
            </a:pPr>
            <a:r>
              <a:rPr b="1" i="0" lang="en-US" sz="2000" u="none" cap="none" strike="noStrike">
                <a:solidFill>
                  <a:srgbClr val="A84B2F"/>
                </a:solidFill>
                <a:latin typeface="Calibri"/>
                <a:ea typeface="Calibri"/>
                <a:cs typeface="Calibri"/>
                <a:sym typeface="Calibri"/>
              </a:rPr>
              <a:t>C3 · C4 (complemento)</a:t>
            </a:r>
            <a:endParaRPr b="0" i="0" sz="2000" u="none" cap="none" strike="noStrike">
              <a:solidFill>
                <a:schemeClr val="dk1"/>
              </a:solidFill>
              <a:latin typeface="Calibri"/>
              <a:ea typeface="Calibri"/>
              <a:cs typeface="Calibri"/>
              <a:sym typeface="Calibri"/>
            </a:endParaRPr>
          </a:p>
        </p:txBody>
      </p:sp>
      <p:sp>
        <p:nvSpPr>
          <p:cNvPr id="462" name="Google Shape;462;p14"/>
          <p:cNvSpPr/>
          <p:nvPr/>
        </p:nvSpPr>
        <p:spPr>
          <a:xfrm>
            <a:off x="822960" y="5304485"/>
            <a:ext cx="4937700" cy="18300"/>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63" name="Google Shape;463;p14"/>
          <p:cNvSpPr/>
          <p:nvPr/>
        </p:nvSpPr>
        <p:spPr>
          <a:xfrm>
            <a:off x="822960" y="5441645"/>
            <a:ext cx="49377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E3138"/>
              </a:buClr>
              <a:buSzPts val="1300"/>
              <a:buFont typeface="Calibri"/>
              <a:buNone/>
            </a:pPr>
            <a:r>
              <a:rPr b="0" i="0" lang="en-US" u="none" cap="none" strike="noStrike">
                <a:solidFill>
                  <a:srgbClr val="2E3138"/>
                </a:solidFill>
                <a:latin typeface="Calibri"/>
                <a:ea typeface="Calibri"/>
                <a:cs typeface="Calibri"/>
                <a:sym typeface="Calibri"/>
              </a:rPr>
              <a:t>Actividad clínica clásica asociada al consumo de complemento.</a:t>
            </a:r>
            <a:endParaRPr b="0" i="0" u="none" cap="none" strike="noStrike">
              <a:solidFill>
                <a:schemeClr val="dk1"/>
              </a:solidFill>
              <a:latin typeface="Calibri"/>
              <a:ea typeface="Calibri"/>
              <a:cs typeface="Calibri"/>
              <a:sym typeface="Calibri"/>
            </a:endParaRPr>
          </a:p>
        </p:txBody>
      </p:sp>
      <p:sp>
        <p:nvSpPr>
          <p:cNvPr id="464" name="Google Shape;464;p14"/>
          <p:cNvSpPr/>
          <p:nvPr/>
        </p:nvSpPr>
        <p:spPr>
          <a:xfrm>
            <a:off x="6400800" y="2607005"/>
            <a:ext cx="5486400" cy="3566100"/>
          </a:xfrm>
          <a:prstGeom prst="roundRect">
            <a:avLst>
              <a:gd fmla="val 3077"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65" name="Google Shape;465;p14"/>
          <p:cNvSpPr/>
          <p:nvPr/>
        </p:nvSpPr>
        <p:spPr>
          <a:xfrm>
            <a:off x="6675120" y="2835605"/>
            <a:ext cx="164700" cy="32010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66" name="Google Shape;466;p14"/>
          <p:cNvSpPr/>
          <p:nvPr/>
        </p:nvSpPr>
        <p:spPr>
          <a:xfrm>
            <a:off x="6903720" y="2789885"/>
            <a:ext cx="4755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2300" u="none" cap="none" strike="noStrike">
                <a:solidFill>
                  <a:srgbClr val="2E3138"/>
                </a:solidFill>
                <a:latin typeface="Calibri"/>
                <a:ea typeface="Calibri"/>
                <a:cs typeface="Calibri"/>
                <a:sym typeface="Calibri"/>
              </a:rPr>
              <a:t>SLE-DAS</a:t>
            </a:r>
            <a:endParaRPr b="0" i="0" sz="2300" u="none" cap="none" strike="noStrike">
              <a:solidFill>
                <a:schemeClr val="dk1"/>
              </a:solidFill>
              <a:latin typeface="Calibri"/>
              <a:ea typeface="Calibri"/>
              <a:cs typeface="Calibri"/>
              <a:sym typeface="Calibri"/>
            </a:endParaRPr>
          </a:p>
        </p:txBody>
      </p:sp>
      <p:sp>
        <p:nvSpPr>
          <p:cNvPr id="467" name="Google Shape;467;p14"/>
          <p:cNvSpPr/>
          <p:nvPr/>
        </p:nvSpPr>
        <p:spPr>
          <a:xfrm>
            <a:off x="6675120" y="3384245"/>
            <a:ext cx="4937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TRANSCRIPTOMA </a:t>
            </a:r>
            <a:r>
              <a:rPr b="1" lang="en-US" sz="1500">
                <a:solidFill>
                  <a:srgbClr val="6B707A"/>
                </a:solidFill>
                <a:latin typeface="Calibri"/>
                <a:ea typeface="Calibri"/>
                <a:cs typeface="Calibri"/>
                <a:sym typeface="Calibri"/>
              </a:rPr>
              <a:t>(C1 + C2 = 75,98%)</a:t>
            </a:r>
            <a:endParaRPr b="0" i="0" sz="1500" u="none" cap="none" strike="noStrike">
              <a:solidFill>
                <a:schemeClr val="dk1"/>
              </a:solidFill>
              <a:latin typeface="Calibri"/>
              <a:ea typeface="Calibri"/>
              <a:cs typeface="Calibri"/>
              <a:sym typeface="Calibri"/>
            </a:endParaRPr>
          </a:p>
        </p:txBody>
      </p:sp>
      <p:sp>
        <p:nvSpPr>
          <p:cNvPr id="468" name="Google Shape;468;p14"/>
          <p:cNvSpPr/>
          <p:nvPr/>
        </p:nvSpPr>
        <p:spPr>
          <a:xfrm>
            <a:off x="6675120" y="3658565"/>
            <a:ext cx="49377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500"/>
              <a:buFont typeface="Calibri"/>
              <a:buNone/>
            </a:pPr>
            <a:r>
              <a:rPr b="1" i="0" lang="en-US" sz="2000" u="none" cap="none" strike="noStrike">
                <a:solidFill>
                  <a:srgbClr val="0F6B78"/>
                </a:solidFill>
                <a:latin typeface="Calibri"/>
                <a:ea typeface="Calibri"/>
                <a:cs typeface="Calibri"/>
                <a:sym typeface="Calibri"/>
              </a:rPr>
              <a:t>eje IFN</a:t>
            </a:r>
            <a:r>
              <a:rPr b="1" lang="en-US" sz="2000">
                <a:solidFill>
                  <a:srgbClr val="0F6B78"/>
                </a:solidFill>
                <a:latin typeface="Calibri"/>
                <a:ea typeface="Calibri"/>
                <a:cs typeface="Calibri"/>
                <a:sym typeface="Calibri"/>
              </a:rPr>
              <a:t> (IFI27, USP18, SP100)</a:t>
            </a:r>
            <a:endParaRPr b="0" i="0" sz="2000" u="none" cap="none" strike="noStrike">
              <a:solidFill>
                <a:schemeClr val="dk1"/>
              </a:solidFill>
              <a:latin typeface="Calibri"/>
              <a:ea typeface="Calibri"/>
              <a:cs typeface="Calibri"/>
              <a:sym typeface="Calibri"/>
            </a:endParaRPr>
          </a:p>
        </p:txBody>
      </p:sp>
      <p:sp>
        <p:nvSpPr>
          <p:cNvPr id="469" name="Google Shape;469;p14"/>
          <p:cNvSpPr/>
          <p:nvPr/>
        </p:nvSpPr>
        <p:spPr>
          <a:xfrm>
            <a:off x="6675120" y="4298645"/>
            <a:ext cx="49377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PROTEOMA </a:t>
            </a:r>
            <a:r>
              <a:rPr b="1" lang="en-US" sz="1500">
                <a:solidFill>
                  <a:srgbClr val="6B707A"/>
                </a:solidFill>
                <a:latin typeface="Calibri"/>
                <a:ea typeface="Calibri"/>
                <a:cs typeface="Calibri"/>
                <a:sym typeface="Calibri"/>
              </a:rPr>
              <a:t>(C1 + C2 = 19,22%)</a:t>
            </a:r>
            <a:endParaRPr b="0" i="0" sz="1500" u="none" cap="none" strike="noStrike">
              <a:solidFill>
                <a:schemeClr val="dk1"/>
              </a:solidFill>
              <a:latin typeface="Calibri"/>
              <a:ea typeface="Calibri"/>
              <a:cs typeface="Calibri"/>
              <a:sym typeface="Calibri"/>
            </a:endParaRPr>
          </a:p>
        </p:txBody>
      </p:sp>
      <p:sp>
        <p:nvSpPr>
          <p:cNvPr id="470" name="Google Shape;470;p14"/>
          <p:cNvSpPr/>
          <p:nvPr/>
        </p:nvSpPr>
        <p:spPr>
          <a:xfrm>
            <a:off x="6675120" y="4572965"/>
            <a:ext cx="49377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500"/>
              <a:buFont typeface="Calibri"/>
              <a:buNone/>
            </a:pPr>
            <a:r>
              <a:rPr b="1" i="0" lang="en-US" sz="2000" u="none" cap="none" strike="noStrike">
                <a:solidFill>
                  <a:srgbClr val="A84B2F"/>
                </a:solidFill>
                <a:latin typeface="Calibri"/>
                <a:ea typeface="Calibri"/>
                <a:cs typeface="Calibri"/>
                <a:sym typeface="Calibri"/>
              </a:rPr>
              <a:t>Apo A-I · HDL (perfil lipídico)</a:t>
            </a:r>
            <a:endParaRPr b="0" i="0" sz="2000" u="none" cap="none" strike="noStrike">
              <a:solidFill>
                <a:schemeClr val="dk1"/>
              </a:solidFill>
              <a:latin typeface="Calibri"/>
              <a:ea typeface="Calibri"/>
              <a:cs typeface="Calibri"/>
              <a:sym typeface="Calibri"/>
            </a:endParaRPr>
          </a:p>
        </p:txBody>
      </p:sp>
      <p:sp>
        <p:nvSpPr>
          <p:cNvPr id="471" name="Google Shape;471;p14"/>
          <p:cNvSpPr/>
          <p:nvPr/>
        </p:nvSpPr>
        <p:spPr>
          <a:xfrm>
            <a:off x="6675120" y="5304485"/>
            <a:ext cx="4937700" cy="18300"/>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72" name="Google Shape;472;p14"/>
          <p:cNvSpPr/>
          <p:nvPr/>
        </p:nvSpPr>
        <p:spPr>
          <a:xfrm>
            <a:off x="6675120" y="5441645"/>
            <a:ext cx="49377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E3138"/>
              </a:buClr>
              <a:buSzPts val="1300"/>
              <a:buFont typeface="Calibri"/>
              <a:buNone/>
            </a:pPr>
            <a:r>
              <a:rPr b="0" i="0" lang="en-US" u="none" cap="none" strike="noStrike">
                <a:solidFill>
                  <a:srgbClr val="2E3138"/>
                </a:solidFill>
                <a:latin typeface="Calibri"/>
                <a:ea typeface="Calibri"/>
                <a:cs typeface="Calibri"/>
                <a:sym typeface="Calibri"/>
              </a:rPr>
              <a:t>Actividad clínica más sensible captura la huella metabólica.</a:t>
            </a:r>
            <a:endParaRPr b="0" i="0" u="none" cap="none" strike="noStrike">
              <a:solidFill>
                <a:schemeClr val="dk1"/>
              </a:solidFill>
              <a:latin typeface="Calibri"/>
              <a:ea typeface="Calibri"/>
              <a:cs typeface="Calibri"/>
              <a:sym typeface="Calibri"/>
            </a:endParaRPr>
          </a:p>
        </p:txBody>
      </p:sp>
      <p:sp>
        <p:nvSpPr>
          <p:cNvPr id="473" name="Google Shape;473;p14"/>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4"/>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475" name="Google Shape;475;p14"/>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480" name="Shape 480"/>
        <p:cNvGrpSpPr/>
        <p:nvPr/>
      </p:nvGrpSpPr>
      <p:grpSpPr>
        <a:xfrm>
          <a:off x="0" y="0"/>
          <a:ext cx="0" cy="0"/>
          <a:chOff x="0" y="0"/>
          <a:chExt cx="0" cy="0"/>
        </a:xfrm>
      </p:grpSpPr>
      <p:sp>
        <p:nvSpPr>
          <p:cNvPr id="481" name="Google Shape;481;p15"/>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DIABLO · DAÑO</a:t>
            </a:r>
            <a:endParaRPr b="0" i="0" sz="1000" u="none" cap="none" strike="noStrike">
              <a:solidFill>
                <a:schemeClr val="dk1"/>
              </a:solidFill>
              <a:latin typeface="Calibri"/>
              <a:ea typeface="Calibri"/>
              <a:cs typeface="Calibri"/>
              <a:sym typeface="Calibri"/>
            </a:endParaRPr>
          </a:p>
        </p:txBody>
      </p:sp>
      <p:sp>
        <p:nvSpPr>
          <p:cNvPr id="482" name="Google Shape;482;p15"/>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4</a:t>
            </a:r>
            <a:r>
              <a:rPr b="0" i="0" lang="en-US" sz="1000" u="none" cap="none" strike="noStrike">
                <a:solidFill>
                  <a:srgbClr val="6B707A"/>
                </a:solidFill>
                <a:latin typeface="Calibri"/>
                <a:ea typeface="Calibri"/>
                <a:cs typeface="Calibri"/>
                <a:sym typeface="Calibri"/>
              </a:rPr>
              <a:t> / 20</a:t>
            </a:r>
            <a:endParaRPr b="0" i="0" sz="1000" u="none" cap="none" strike="noStrike">
              <a:solidFill>
                <a:schemeClr val="dk1"/>
              </a:solidFill>
              <a:latin typeface="Calibri"/>
              <a:ea typeface="Calibri"/>
              <a:cs typeface="Calibri"/>
              <a:sym typeface="Calibri"/>
            </a:endParaRPr>
          </a:p>
        </p:txBody>
      </p:sp>
      <p:sp>
        <p:nvSpPr>
          <p:cNvPr id="483" name="Google Shape;483;p15"/>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5"/>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DIABLO en daño acumulado: SLICC-DI</a:t>
            </a:r>
            <a:endParaRPr b="0" i="0" sz="3200" u="none" cap="none" strike="noStrike">
              <a:solidFill>
                <a:schemeClr val="dk1"/>
              </a:solidFill>
              <a:latin typeface="Calibri"/>
              <a:ea typeface="Calibri"/>
              <a:cs typeface="Calibri"/>
              <a:sym typeface="Calibri"/>
            </a:endParaRPr>
          </a:p>
        </p:txBody>
      </p:sp>
      <p:sp>
        <p:nvSpPr>
          <p:cNvPr id="485" name="Google Shape;485;p15"/>
          <p:cNvSpPr/>
          <p:nvPr/>
        </p:nvSpPr>
        <p:spPr>
          <a:xfrm>
            <a:off x="548640" y="169164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lang="en-US" sz="1800">
                <a:solidFill>
                  <a:srgbClr val="6B707A"/>
                </a:solidFill>
                <a:latin typeface="Calibri"/>
                <a:ea typeface="Calibri"/>
                <a:cs typeface="Calibri"/>
                <a:sym typeface="Calibri"/>
              </a:rPr>
              <a:t>Cuando el desenlace es daño, el proteoma añade una señal renal al eje IFN</a:t>
            </a:r>
            <a:endParaRPr b="0" i="0" sz="1800" u="none" cap="none" strike="noStrike">
              <a:solidFill>
                <a:schemeClr val="dk1"/>
              </a:solidFill>
              <a:latin typeface="Calibri"/>
              <a:ea typeface="Calibri"/>
              <a:cs typeface="Calibri"/>
              <a:sym typeface="Calibri"/>
            </a:endParaRPr>
          </a:p>
        </p:txBody>
      </p:sp>
      <p:sp>
        <p:nvSpPr>
          <p:cNvPr id="486" name="Google Shape;486;p15"/>
          <p:cNvSpPr/>
          <p:nvPr/>
        </p:nvSpPr>
        <p:spPr>
          <a:xfrm>
            <a:off x="548640" y="2331720"/>
            <a:ext cx="6858000" cy="3931920"/>
          </a:xfrm>
          <a:prstGeom prst="roundRect">
            <a:avLst>
              <a:gd fmla="val 2791"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87" name="Google Shape;487;p15"/>
          <p:cNvSpPr/>
          <p:nvPr/>
        </p:nvSpPr>
        <p:spPr>
          <a:xfrm>
            <a:off x="868680" y="2606040"/>
            <a:ext cx="182880" cy="36576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88" name="Google Shape;488;p15"/>
          <p:cNvSpPr/>
          <p:nvPr/>
        </p:nvSpPr>
        <p:spPr>
          <a:xfrm>
            <a:off x="1097280" y="2560320"/>
            <a:ext cx="60350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2200"/>
              <a:buFont typeface="Calibri"/>
              <a:buNone/>
            </a:pPr>
            <a:r>
              <a:rPr b="1" i="0" lang="en-US" sz="2300" u="none" cap="none" strike="noStrike">
                <a:solidFill>
                  <a:srgbClr val="2E3138"/>
                </a:solidFill>
                <a:latin typeface="Calibri"/>
                <a:ea typeface="Calibri"/>
                <a:cs typeface="Calibri"/>
                <a:sym typeface="Calibri"/>
              </a:rPr>
              <a:t>SLICC-DI</a:t>
            </a:r>
            <a:endParaRPr b="0" i="0" sz="2300" u="none" cap="none" strike="noStrike">
              <a:solidFill>
                <a:schemeClr val="dk1"/>
              </a:solidFill>
              <a:latin typeface="Calibri"/>
              <a:ea typeface="Calibri"/>
              <a:cs typeface="Calibri"/>
              <a:sym typeface="Calibri"/>
            </a:endParaRPr>
          </a:p>
        </p:txBody>
      </p:sp>
      <p:sp>
        <p:nvSpPr>
          <p:cNvPr id="489" name="Google Shape;489;p15"/>
          <p:cNvSpPr/>
          <p:nvPr/>
        </p:nvSpPr>
        <p:spPr>
          <a:xfrm>
            <a:off x="914400" y="3246120"/>
            <a:ext cx="6126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TRANSCRIPTOMA </a:t>
            </a:r>
            <a:r>
              <a:rPr b="1" lang="en-US" sz="1500">
                <a:solidFill>
                  <a:srgbClr val="6B707A"/>
                </a:solidFill>
                <a:latin typeface="Calibri"/>
                <a:ea typeface="Calibri"/>
                <a:cs typeface="Calibri"/>
                <a:sym typeface="Calibri"/>
              </a:rPr>
              <a:t>(C1 + C2 = 77,3%)</a:t>
            </a:r>
            <a:endParaRPr i="0" sz="1500" u="none" cap="none" strike="noStrike">
              <a:solidFill>
                <a:schemeClr val="dk1"/>
              </a:solidFill>
              <a:latin typeface="Calibri"/>
              <a:ea typeface="Calibri"/>
              <a:cs typeface="Calibri"/>
              <a:sym typeface="Calibri"/>
            </a:endParaRPr>
          </a:p>
        </p:txBody>
      </p:sp>
      <p:sp>
        <p:nvSpPr>
          <p:cNvPr id="490" name="Google Shape;490;p15"/>
          <p:cNvSpPr/>
          <p:nvPr/>
        </p:nvSpPr>
        <p:spPr>
          <a:xfrm>
            <a:off x="914400" y="3520440"/>
            <a:ext cx="6126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800"/>
              <a:buFont typeface="Calibri"/>
              <a:buNone/>
            </a:pPr>
            <a:r>
              <a:rPr b="1" i="0" lang="en-US" sz="2000" u="none" cap="none" strike="noStrike">
                <a:solidFill>
                  <a:srgbClr val="0F6B78"/>
                </a:solidFill>
                <a:latin typeface="Calibri"/>
                <a:ea typeface="Calibri"/>
                <a:cs typeface="Calibri"/>
                <a:sym typeface="Calibri"/>
              </a:rPr>
              <a:t>eje IFN</a:t>
            </a:r>
            <a:r>
              <a:rPr b="1" lang="en-US" sz="2000">
                <a:solidFill>
                  <a:srgbClr val="0F6B78"/>
                </a:solidFill>
                <a:latin typeface="Calibri"/>
                <a:ea typeface="Calibri"/>
                <a:cs typeface="Calibri"/>
                <a:sym typeface="Calibri"/>
              </a:rPr>
              <a:t> (TRIM38, PARP9, TAP1)</a:t>
            </a:r>
            <a:endParaRPr b="0" i="0" sz="2000" u="none" cap="none" strike="noStrike">
              <a:solidFill>
                <a:schemeClr val="dk1"/>
              </a:solidFill>
              <a:latin typeface="Calibri"/>
              <a:ea typeface="Calibri"/>
              <a:cs typeface="Calibri"/>
              <a:sym typeface="Calibri"/>
            </a:endParaRPr>
          </a:p>
        </p:txBody>
      </p:sp>
      <p:sp>
        <p:nvSpPr>
          <p:cNvPr id="491" name="Google Shape;491;p15"/>
          <p:cNvSpPr/>
          <p:nvPr/>
        </p:nvSpPr>
        <p:spPr>
          <a:xfrm>
            <a:off x="914400" y="4206240"/>
            <a:ext cx="6126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PROTEOMA </a:t>
            </a:r>
            <a:r>
              <a:rPr b="1" lang="en-US" sz="1500">
                <a:solidFill>
                  <a:srgbClr val="6B707A"/>
                </a:solidFill>
                <a:latin typeface="Calibri"/>
                <a:ea typeface="Calibri"/>
                <a:cs typeface="Calibri"/>
                <a:sym typeface="Calibri"/>
              </a:rPr>
              <a:t>(C1 + C2 = 22,32%)</a:t>
            </a:r>
            <a:endParaRPr b="0" i="0" sz="1500" u="none" cap="none" strike="noStrike">
              <a:solidFill>
                <a:schemeClr val="dk1"/>
              </a:solidFill>
              <a:latin typeface="Calibri"/>
              <a:ea typeface="Calibri"/>
              <a:cs typeface="Calibri"/>
              <a:sym typeface="Calibri"/>
            </a:endParaRPr>
          </a:p>
        </p:txBody>
      </p:sp>
      <p:sp>
        <p:nvSpPr>
          <p:cNvPr id="492" name="Google Shape;492;p15"/>
          <p:cNvSpPr/>
          <p:nvPr/>
        </p:nvSpPr>
        <p:spPr>
          <a:xfrm>
            <a:off x="914400" y="4480560"/>
            <a:ext cx="6126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800"/>
              <a:buFont typeface="Calibri"/>
              <a:buNone/>
            </a:pPr>
            <a:r>
              <a:rPr b="1" i="0" lang="en-US" sz="2000" u="none" cap="none" strike="noStrike">
                <a:solidFill>
                  <a:srgbClr val="A84B2F"/>
                </a:solidFill>
                <a:latin typeface="Calibri"/>
                <a:ea typeface="Calibri"/>
                <a:cs typeface="Calibri"/>
                <a:sym typeface="Calibri"/>
              </a:rPr>
              <a:t>IFN-α  +  creatinina</a:t>
            </a:r>
            <a:endParaRPr b="0" i="0" sz="2000" u="none" cap="none" strike="noStrike">
              <a:solidFill>
                <a:schemeClr val="dk1"/>
              </a:solidFill>
              <a:latin typeface="Calibri"/>
              <a:ea typeface="Calibri"/>
              <a:cs typeface="Calibri"/>
              <a:sym typeface="Calibri"/>
            </a:endParaRPr>
          </a:p>
        </p:txBody>
      </p:sp>
      <p:sp>
        <p:nvSpPr>
          <p:cNvPr id="493" name="Google Shape;493;p15"/>
          <p:cNvSpPr/>
          <p:nvPr/>
        </p:nvSpPr>
        <p:spPr>
          <a:xfrm>
            <a:off x="914400" y="5166360"/>
            <a:ext cx="6126480" cy="18288"/>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494" name="Google Shape;494;p15"/>
          <p:cNvSpPr/>
          <p:nvPr/>
        </p:nvSpPr>
        <p:spPr>
          <a:xfrm>
            <a:off x="914400" y="5303520"/>
            <a:ext cx="6126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400"/>
              <a:buFont typeface="Calibri"/>
              <a:buNone/>
            </a:pPr>
            <a:r>
              <a:rPr b="0" i="0" lang="en-US" sz="1600" u="none" cap="none" strike="noStrike">
                <a:solidFill>
                  <a:srgbClr val="2E3138"/>
                </a:solidFill>
                <a:latin typeface="Calibri"/>
                <a:ea typeface="Calibri"/>
                <a:cs typeface="Calibri"/>
                <a:sym typeface="Calibri"/>
              </a:rPr>
              <a:t>Lectura compatible con daño renal y daño acumulado</a:t>
            </a:r>
            <a:endParaRPr b="0" i="0" sz="1600" u="none" cap="none" strike="noStrike">
              <a:solidFill>
                <a:schemeClr val="dk1"/>
              </a:solidFill>
              <a:latin typeface="Calibri"/>
              <a:ea typeface="Calibri"/>
              <a:cs typeface="Calibri"/>
              <a:sym typeface="Calibri"/>
            </a:endParaRPr>
          </a:p>
        </p:txBody>
      </p:sp>
      <p:sp>
        <p:nvSpPr>
          <p:cNvPr id="495" name="Google Shape;495;p15"/>
          <p:cNvSpPr/>
          <p:nvPr/>
        </p:nvSpPr>
        <p:spPr>
          <a:xfrm>
            <a:off x="7680960" y="2331720"/>
            <a:ext cx="3962095" cy="3931920"/>
          </a:xfrm>
          <a:prstGeom prst="roundRect">
            <a:avLst>
              <a:gd fmla="val 2791"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496" name="Google Shape;496;p15"/>
          <p:cNvSpPr/>
          <p:nvPr/>
        </p:nvSpPr>
        <p:spPr>
          <a:xfrm>
            <a:off x="7955280" y="2606040"/>
            <a:ext cx="341345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400"/>
              <a:buFont typeface="Calibri"/>
              <a:buNone/>
            </a:pPr>
            <a:r>
              <a:rPr b="1" i="0" lang="en-US" sz="1900" u="none" cap="none" strike="noStrike">
                <a:solidFill>
                  <a:srgbClr val="2E3138"/>
                </a:solidFill>
                <a:latin typeface="Calibri"/>
                <a:ea typeface="Calibri"/>
                <a:cs typeface="Calibri"/>
                <a:sym typeface="Calibri"/>
              </a:rPr>
              <a:t>Interpretación</a:t>
            </a:r>
            <a:endParaRPr b="0" i="0" sz="1900" u="none" cap="none" strike="noStrike">
              <a:solidFill>
                <a:schemeClr val="dk1"/>
              </a:solidFill>
              <a:latin typeface="Calibri"/>
              <a:ea typeface="Calibri"/>
              <a:cs typeface="Calibri"/>
              <a:sym typeface="Calibri"/>
            </a:endParaRPr>
          </a:p>
        </p:txBody>
      </p:sp>
      <p:sp>
        <p:nvSpPr>
          <p:cNvPr id="497" name="Google Shape;497;p15"/>
          <p:cNvSpPr/>
          <p:nvPr/>
        </p:nvSpPr>
        <p:spPr>
          <a:xfrm>
            <a:off x="7955280" y="3108960"/>
            <a:ext cx="3413455" cy="3017520"/>
          </a:xfrm>
          <a:prstGeom prst="rect">
            <a:avLst/>
          </a:prstGeom>
          <a:noFill/>
          <a:ln>
            <a:noFill/>
          </a:ln>
        </p:spPr>
        <p:txBody>
          <a:bodyPr anchorCtr="0" anchor="t" bIns="45700" lIns="91425" spcFirstLastPara="1" rIns="91425" wrap="square" tIns="45700">
            <a:noAutofit/>
          </a:bodyPr>
          <a:lstStyle/>
          <a:p>
            <a:pPr indent="-374650" lvl="0" marL="342900" marR="0" rtl="0" algn="l">
              <a:lnSpc>
                <a:spcPct val="135000"/>
              </a:lnSpc>
              <a:spcBef>
                <a:spcPts val="0"/>
              </a:spcBef>
              <a:spcAft>
                <a:spcPts val="0"/>
              </a:spcAft>
              <a:buClr>
                <a:srgbClr val="2E3138"/>
              </a:buClr>
              <a:buSzPts val="1800"/>
              <a:buFont typeface="Calibri"/>
              <a:buChar char="•"/>
            </a:pPr>
            <a:r>
              <a:rPr b="0" i="0" lang="en-US" sz="1800" u="none" cap="none" strike="noStrike">
                <a:solidFill>
                  <a:srgbClr val="2E3138"/>
                </a:solidFill>
                <a:latin typeface="Calibri"/>
                <a:ea typeface="Calibri"/>
                <a:cs typeface="Calibri"/>
                <a:sym typeface="Calibri"/>
              </a:rPr>
              <a:t>Eje IFN transcriptómico se mantiene constante entre desenlaces.</a:t>
            </a:r>
            <a:endParaRPr b="0" i="0" sz="1800" u="none" cap="none" strike="noStrike">
              <a:solidFill>
                <a:schemeClr val="dk1"/>
              </a:solidFill>
              <a:latin typeface="Calibri"/>
              <a:ea typeface="Calibri"/>
              <a:cs typeface="Calibri"/>
              <a:sym typeface="Calibri"/>
            </a:endParaRPr>
          </a:p>
          <a:p>
            <a:pPr indent="-374650" lvl="0" marL="342900" marR="0" rtl="0" algn="l">
              <a:lnSpc>
                <a:spcPct val="135000"/>
              </a:lnSpc>
              <a:spcBef>
                <a:spcPts val="600"/>
              </a:spcBef>
              <a:spcAft>
                <a:spcPts val="0"/>
              </a:spcAft>
              <a:buClr>
                <a:srgbClr val="2E3138"/>
              </a:buClr>
              <a:buSzPts val="1800"/>
              <a:buFont typeface="Calibri"/>
              <a:buChar char="•"/>
            </a:pPr>
            <a:r>
              <a:rPr b="0" i="0" lang="en-US" sz="1800" u="none" cap="none" strike="noStrike">
                <a:solidFill>
                  <a:srgbClr val="2E3138"/>
                </a:solidFill>
                <a:latin typeface="Calibri"/>
                <a:ea typeface="Calibri"/>
                <a:cs typeface="Calibri"/>
                <a:sym typeface="Calibri"/>
              </a:rPr>
              <a:t>El proteoma diferencia daño respecto a actividad pura.</a:t>
            </a:r>
            <a:endParaRPr b="0" i="0" sz="1800" u="none" cap="none" strike="noStrike">
              <a:solidFill>
                <a:schemeClr val="dk1"/>
              </a:solidFill>
              <a:latin typeface="Calibri"/>
              <a:ea typeface="Calibri"/>
              <a:cs typeface="Calibri"/>
              <a:sym typeface="Calibri"/>
            </a:endParaRPr>
          </a:p>
          <a:p>
            <a:pPr indent="-374650" lvl="0" marL="342900" marR="0" rtl="0" algn="l">
              <a:lnSpc>
                <a:spcPct val="135000"/>
              </a:lnSpc>
              <a:spcBef>
                <a:spcPts val="600"/>
              </a:spcBef>
              <a:spcAft>
                <a:spcPts val="0"/>
              </a:spcAft>
              <a:buClr>
                <a:srgbClr val="2E3138"/>
              </a:buClr>
              <a:buSzPts val="1800"/>
              <a:buFont typeface="Calibri"/>
              <a:buChar char="•"/>
            </a:pPr>
            <a:r>
              <a:rPr b="0" i="0" lang="en-US" sz="1800" u="none" cap="none" strike="noStrike">
                <a:solidFill>
                  <a:srgbClr val="2E3138"/>
                </a:solidFill>
                <a:latin typeface="Calibri"/>
                <a:ea typeface="Calibri"/>
                <a:cs typeface="Calibri"/>
                <a:sym typeface="Calibri"/>
              </a:rPr>
              <a:t>La creatinina añade dimensión renal al modelo de daño.</a:t>
            </a:r>
            <a:endParaRPr b="0" i="0" sz="1800" u="none" cap="none" strike="noStrike">
              <a:solidFill>
                <a:schemeClr val="dk1"/>
              </a:solidFill>
              <a:latin typeface="Calibri"/>
              <a:ea typeface="Calibri"/>
              <a:cs typeface="Calibri"/>
              <a:sym typeface="Calibri"/>
            </a:endParaRPr>
          </a:p>
        </p:txBody>
      </p:sp>
      <p:sp>
        <p:nvSpPr>
          <p:cNvPr id="498" name="Google Shape;498;p15"/>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500" name="Google Shape;500;p15"/>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505" name="Shape 505"/>
        <p:cNvGrpSpPr/>
        <p:nvPr/>
      </p:nvGrpSpPr>
      <p:grpSpPr>
        <a:xfrm>
          <a:off x="0" y="0"/>
          <a:ext cx="0" cy="0"/>
          <a:chOff x="0" y="0"/>
          <a:chExt cx="0" cy="0"/>
        </a:xfrm>
      </p:grpSpPr>
      <p:sp>
        <p:nvSpPr>
          <p:cNvPr id="506" name="Google Shape;506;p16"/>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DIABLO · REMISIÓN</a:t>
            </a:r>
            <a:endParaRPr b="0" i="0" sz="1000" u="none" cap="none" strike="noStrike">
              <a:solidFill>
                <a:schemeClr val="dk1"/>
              </a:solidFill>
              <a:latin typeface="Calibri"/>
              <a:ea typeface="Calibri"/>
              <a:cs typeface="Calibri"/>
              <a:sym typeface="Calibri"/>
            </a:endParaRPr>
          </a:p>
        </p:txBody>
      </p:sp>
      <p:sp>
        <p:nvSpPr>
          <p:cNvPr id="507" name="Google Shape;507;p16"/>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5</a:t>
            </a:r>
            <a:r>
              <a:rPr b="0" i="0" lang="en-US" sz="1000" u="none" cap="none" strike="noStrike">
                <a:solidFill>
                  <a:srgbClr val="6B707A"/>
                </a:solidFill>
                <a:latin typeface="Calibri"/>
                <a:ea typeface="Calibri"/>
                <a:cs typeface="Calibri"/>
                <a:sym typeface="Calibri"/>
              </a:rPr>
              <a:t> / 20</a:t>
            </a:r>
            <a:endParaRPr b="0" i="0" sz="1000" u="none" cap="none" strike="noStrike">
              <a:solidFill>
                <a:schemeClr val="dk1"/>
              </a:solidFill>
              <a:latin typeface="Calibri"/>
              <a:ea typeface="Calibri"/>
              <a:cs typeface="Calibri"/>
              <a:sym typeface="Calibri"/>
            </a:endParaRPr>
          </a:p>
        </p:txBody>
      </p:sp>
      <p:sp>
        <p:nvSpPr>
          <p:cNvPr id="508" name="Google Shape;508;p16"/>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DIABLO en remisión: DORIS y remisión estricta</a:t>
            </a:r>
            <a:endParaRPr b="0" i="0" sz="3200" u="none" cap="none" strike="noStrike">
              <a:solidFill>
                <a:schemeClr val="dk1"/>
              </a:solidFill>
              <a:latin typeface="Calibri"/>
              <a:ea typeface="Calibri"/>
              <a:cs typeface="Calibri"/>
              <a:sym typeface="Calibri"/>
            </a:endParaRPr>
          </a:p>
        </p:txBody>
      </p:sp>
      <p:sp>
        <p:nvSpPr>
          <p:cNvPr id="510" name="Google Shape;510;p16"/>
          <p:cNvSpPr/>
          <p:nvPr/>
        </p:nvSpPr>
        <p:spPr>
          <a:xfrm>
            <a:off x="548640" y="169164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1800" u="none" cap="none" strike="noStrike">
                <a:solidFill>
                  <a:srgbClr val="6B707A"/>
                </a:solidFill>
                <a:latin typeface="Calibri"/>
                <a:ea typeface="Calibri"/>
                <a:cs typeface="Calibri"/>
                <a:sym typeface="Calibri"/>
              </a:rPr>
              <a:t>En remisión, el peso transcriptómico cede protagonismo al proteoma.</a:t>
            </a:r>
            <a:endParaRPr b="0" i="0" sz="1800" u="none" cap="none" strike="noStrike">
              <a:solidFill>
                <a:schemeClr val="dk1"/>
              </a:solidFill>
              <a:latin typeface="Calibri"/>
              <a:ea typeface="Calibri"/>
              <a:cs typeface="Calibri"/>
              <a:sym typeface="Calibri"/>
            </a:endParaRPr>
          </a:p>
        </p:txBody>
      </p:sp>
      <p:sp>
        <p:nvSpPr>
          <p:cNvPr id="511" name="Google Shape;511;p16"/>
          <p:cNvSpPr/>
          <p:nvPr/>
        </p:nvSpPr>
        <p:spPr>
          <a:xfrm>
            <a:off x="548640" y="2240280"/>
            <a:ext cx="5486400" cy="3566160"/>
          </a:xfrm>
          <a:prstGeom prst="roundRect">
            <a:avLst>
              <a:gd fmla="val 3077"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2" name="Google Shape;512;p16"/>
          <p:cNvSpPr/>
          <p:nvPr/>
        </p:nvSpPr>
        <p:spPr>
          <a:xfrm>
            <a:off x="822960" y="2468880"/>
            <a:ext cx="164592" cy="320040"/>
          </a:xfrm>
          <a:prstGeom prst="rect">
            <a:avLst/>
          </a:prstGeom>
          <a:solidFill>
            <a:srgbClr val="0F6B78"/>
          </a:solidFill>
          <a:ln cap="flat" cmpd="sng" w="12700">
            <a:solidFill>
              <a:srgbClr val="0F6B7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3" name="Google Shape;513;p16"/>
          <p:cNvSpPr/>
          <p:nvPr/>
        </p:nvSpPr>
        <p:spPr>
          <a:xfrm>
            <a:off x="1051560" y="2423160"/>
            <a:ext cx="47548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2300" u="none" cap="none" strike="noStrike">
                <a:solidFill>
                  <a:srgbClr val="2E3138"/>
                </a:solidFill>
                <a:latin typeface="Calibri"/>
                <a:ea typeface="Calibri"/>
                <a:cs typeface="Calibri"/>
                <a:sym typeface="Calibri"/>
              </a:rPr>
              <a:t>DORIS</a:t>
            </a:r>
            <a:endParaRPr b="0" i="0" sz="2300" u="none" cap="none" strike="noStrike">
              <a:solidFill>
                <a:schemeClr val="dk1"/>
              </a:solidFill>
              <a:latin typeface="Calibri"/>
              <a:ea typeface="Calibri"/>
              <a:cs typeface="Calibri"/>
              <a:sym typeface="Calibri"/>
            </a:endParaRPr>
          </a:p>
        </p:txBody>
      </p:sp>
      <p:sp>
        <p:nvSpPr>
          <p:cNvPr id="514" name="Google Shape;514;p16"/>
          <p:cNvSpPr/>
          <p:nvPr/>
        </p:nvSpPr>
        <p:spPr>
          <a:xfrm>
            <a:off x="822960" y="3017520"/>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TRANSCRIPTOMA </a:t>
            </a:r>
            <a:r>
              <a:rPr b="1" lang="en-US" sz="1500">
                <a:solidFill>
                  <a:srgbClr val="6B707A"/>
                </a:solidFill>
                <a:latin typeface="Calibri"/>
                <a:ea typeface="Calibri"/>
                <a:cs typeface="Calibri"/>
                <a:sym typeface="Calibri"/>
              </a:rPr>
              <a:t>(C1 + C2 = 76,3%)</a:t>
            </a:r>
            <a:endParaRPr b="0" i="0" sz="1500" u="none" cap="none" strike="noStrike">
              <a:solidFill>
                <a:schemeClr val="dk1"/>
              </a:solidFill>
              <a:latin typeface="Calibri"/>
              <a:ea typeface="Calibri"/>
              <a:cs typeface="Calibri"/>
              <a:sym typeface="Calibri"/>
            </a:endParaRPr>
          </a:p>
        </p:txBody>
      </p:sp>
      <p:sp>
        <p:nvSpPr>
          <p:cNvPr id="515" name="Google Shape;515;p16"/>
          <p:cNvSpPr/>
          <p:nvPr/>
        </p:nvSpPr>
        <p:spPr>
          <a:xfrm>
            <a:off x="822960" y="3291840"/>
            <a:ext cx="4937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400"/>
              <a:buFont typeface="Calibri"/>
              <a:buNone/>
            </a:pPr>
            <a:r>
              <a:rPr b="1" lang="en-US" sz="2000">
                <a:solidFill>
                  <a:srgbClr val="0F6B78"/>
                </a:solidFill>
                <a:latin typeface="Calibri"/>
                <a:ea typeface="Calibri"/>
                <a:cs typeface="Calibri"/>
                <a:sym typeface="Calibri"/>
              </a:rPr>
              <a:t>Eje IFN</a:t>
            </a:r>
            <a:r>
              <a:rPr b="1" i="0" lang="en-US" sz="2000" u="none" cap="none" strike="noStrike">
                <a:solidFill>
                  <a:srgbClr val="0F6B78"/>
                </a:solidFill>
                <a:latin typeface="Calibri"/>
                <a:ea typeface="Calibri"/>
                <a:cs typeface="Calibri"/>
                <a:sym typeface="Calibri"/>
              </a:rPr>
              <a:t> (</a:t>
            </a:r>
            <a:r>
              <a:rPr b="1" lang="en-US" sz="2000">
                <a:solidFill>
                  <a:srgbClr val="0F6B78"/>
                </a:solidFill>
                <a:latin typeface="Calibri"/>
                <a:ea typeface="Calibri"/>
                <a:cs typeface="Calibri"/>
                <a:sym typeface="Calibri"/>
              </a:rPr>
              <a:t>IFI27, LGALS3BP, IFI44L</a:t>
            </a:r>
            <a:r>
              <a:rPr b="1" i="0" lang="en-US" sz="2000" u="none" cap="none" strike="noStrike">
                <a:solidFill>
                  <a:srgbClr val="0F6B7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516" name="Google Shape;516;p16"/>
          <p:cNvSpPr/>
          <p:nvPr/>
        </p:nvSpPr>
        <p:spPr>
          <a:xfrm>
            <a:off x="822960" y="3931920"/>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PROTEOMA </a:t>
            </a:r>
            <a:r>
              <a:rPr b="1" lang="en-US" sz="1500">
                <a:solidFill>
                  <a:srgbClr val="6B707A"/>
                </a:solidFill>
                <a:latin typeface="Calibri"/>
                <a:ea typeface="Calibri"/>
                <a:cs typeface="Calibri"/>
                <a:sym typeface="Calibri"/>
              </a:rPr>
              <a:t>(C1 + C2 = 20,48%)</a:t>
            </a:r>
            <a:endParaRPr b="0" i="0" sz="1500" u="none" cap="none" strike="noStrike">
              <a:solidFill>
                <a:schemeClr val="dk1"/>
              </a:solidFill>
              <a:latin typeface="Calibri"/>
              <a:ea typeface="Calibri"/>
              <a:cs typeface="Calibri"/>
              <a:sym typeface="Calibri"/>
            </a:endParaRPr>
          </a:p>
        </p:txBody>
      </p:sp>
      <p:sp>
        <p:nvSpPr>
          <p:cNvPr id="517" name="Google Shape;517;p16"/>
          <p:cNvSpPr/>
          <p:nvPr/>
        </p:nvSpPr>
        <p:spPr>
          <a:xfrm>
            <a:off x="822960" y="4206240"/>
            <a:ext cx="49377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400"/>
              <a:buFont typeface="Calibri"/>
              <a:buNone/>
            </a:pPr>
            <a:r>
              <a:rPr b="1" i="0" lang="en-US" sz="2000" u="none" cap="none" strike="noStrike">
                <a:solidFill>
                  <a:srgbClr val="A84B2F"/>
                </a:solidFill>
                <a:latin typeface="Calibri"/>
                <a:ea typeface="Calibri"/>
                <a:cs typeface="Calibri"/>
                <a:sym typeface="Calibri"/>
              </a:rPr>
              <a:t>IFN-α  +  BAFF  +  señal inflamatoria</a:t>
            </a:r>
            <a:endParaRPr b="0" i="0" sz="2000" u="none" cap="none" strike="noStrike">
              <a:solidFill>
                <a:schemeClr val="dk1"/>
              </a:solidFill>
              <a:latin typeface="Calibri"/>
              <a:ea typeface="Calibri"/>
              <a:cs typeface="Calibri"/>
              <a:sym typeface="Calibri"/>
            </a:endParaRPr>
          </a:p>
        </p:txBody>
      </p:sp>
      <p:sp>
        <p:nvSpPr>
          <p:cNvPr id="518" name="Google Shape;518;p16"/>
          <p:cNvSpPr/>
          <p:nvPr/>
        </p:nvSpPr>
        <p:spPr>
          <a:xfrm>
            <a:off x="822960" y="4937760"/>
            <a:ext cx="4937760" cy="18288"/>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19" name="Google Shape;519;p16"/>
          <p:cNvSpPr/>
          <p:nvPr/>
        </p:nvSpPr>
        <p:spPr>
          <a:xfrm>
            <a:off x="822960" y="5074920"/>
            <a:ext cx="49377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E3138"/>
              </a:buClr>
              <a:buSzPts val="1300"/>
              <a:buFont typeface="Calibri"/>
              <a:buNone/>
            </a:pPr>
            <a:r>
              <a:rPr lang="en-US" sz="1700">
                <a:solidFill>
                  <a:srgbClr val="2E3138"/>
                </a:solidFill>
                <a:latin typeface="Calibri"/>
                <a:ea typeface="Calibri"/>
                <a:cs typeface="Calibri"/>
                <a:sym typeface="Calibri"/>
              </a:rPr>
              <a:t>P</a:t>
            </a:r>
            <a:r>
              <a:rPr b="0" i="0" lang="en-US" sz="1700" u="none" cap="none" strike="noStrike">
                <a:solidFill>
                  <a:srgbClr val="2E3138"/>
                </a:solidFill>
                <a:latin typeface="Calibri"/>
                <a:ea typeface="Calibri"/>
                <a:cs typeface="Calibri"/>
                <a:sym typeface="Calibri"/>
              </a:rPr>
              <a:t>ersistencia de actividad inmunológica residual.</a:t>
            </a:r>
            <a:endParaRPr b="0" i="0" sz="1700" u="none" cap="none" strike="noStrike">
              <a:solidFill>
                <a:schemeClr val="dk1"/>
              </a:solidFill>
              <a:latin typeface="Calibri"/>
              <a:ea typeface="Calibri"/>
              <a:cs typeface="Calibri"/>
              <a:sym typeface="Calibri"/>
            </a:endParaRPr>
          </a:p>
        </p:txBody>
      </p:sp>
      <p:sp>
        <p:nvSpPr>
          <p:cNvPr id="520" name="Google Shape;520;p16"/>
          <p:cNvSpPr/>
          <p:nvPr/>
        </p:nvSpPr>
        <p:spPr>
          <a:xfrm>
            <a:off x="6400800" y="2240280"/>
            <a:ext cx="5486400" cy="3566160"/>
          </a:xfrm>
          <a:prstGeom prst="roundRect">
            <a:avLst>
              <a:gd fmla="val 3077"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1" name="Google Shape;521;p16"/>
          <p:cNvSpPr/>
          <p:nvPr/>
        </p:nvSpPr>
        <p:spPr>
          <a:xfrm>
            <a:off x="6675120" y="2468880"/>
            <a:ext cx="164592" cy="320040"/>
          </a:xfrm>
          <a:prstGeom prst="rect">
            <a:avLst/>
          </a:prstGeom>
          <a:solidFill>
            <a:srgbClr val="A84B2F"/>
          </a:solidFill>
          <a:ln cap="flat" cmpd="sng" w="12700">
            <a:solidFill>
              <a:srgbClr val="A84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2" name="Google Shape;522;p16"/>
          <p:cNvSpPr/>
          <p:nvPr/>
        </p:nvSpPr>
        <p:spPr>
          <a:xfrm>
            <a:off x="6903720" y="2423160"/>
            <a:ext cx="47548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800"/>
              <a:buFont typeface="Calibri"/>
              <a:buNone/>
            </a:pPr>
            <a:r>
              <a:rPr b="1" i="0" lang="en-US" sz="2300" u="none" cap="none" strike="noStrike">
                <a:solidFill>
                  <a:srgbClr val="2E3138"/>
                </a:solidFill>
                <a:latin typeface="Calibri"/>
                <a:ea typeface="Calibri"/>
                <a:cs typeface="Calibri"/>
                <a:sym typeface="Calibri"/>
              </a:rPr>
              <a:t>Remisión estricta</a:t>
            </a:r>
            <a:endParaRPr b="0" i="0" sz="2300" u="none" cap="none" strike="noStrike">
              <a:solidFill>
                <a:schemeClr val="dk1"/>
              </a:solidFill>
              <a:latin typeface="Calibri"/>
              <a:ea typeface="Calibri"/>
              <a:cs typeface="Calibri"/>
              <a:sym typeface="Calibri"/>
            </a:endParaRPr>
          </a:p>
        </p:txBody>
      </p:sp>
      <p:sp>
        <p:nvSpPr>
          <p:cNvPr id="523" name="Google Shape;523;p16"/>
          <p:cNvSpPr/>
          <p:nvPr/>
        </p:nvSpPr>
        <p:spPr>
          <a:xfrm>
            <a:off x="6675120" y="3017520"/>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TRANSCRIPTOMA </a:t>
            </a:r>
            <a:r>
              <a:rPr b="1" lang="en-US" sz="1500">
                <a:solidFill>
                  <a:srgbClr val="6B707A"/>
                </a:solidFill>
                <a:latin typeface="Calibri"/>
                <a:ea typeface="Calibri"/>
                <a:cs typeface="Calibri"/>
                <a:sym typeface="Calibri"/>
              </a:rPr>
              <a:t>(C1 + C2 = 77,1%)</a:t>
            </a:r>
            <a:endParaRPr b="0" i="0" sz="1500" u="none" cap="none" strike="noStrike">
              <a:solidFill>
                <a:schemeClr val="dk1"/>
              </a:solidFill>
              <a:latin typeface="Calibri"/>
              <a:ea typeface="Calibri"/>
              <a:cs typeface="Calibri"/>
              <a:sym typeface="Calibri"/>
            </a:endParaRPr>
          </a:p>
        </p:txBody>
      </p:sp>
      <p:sp>
        <p:nvSpPr>
          <p:cNvPr id="524" name="Google Shape;524;p16"/>
          <p:cNvSpPr/>
          <p:nvPr/>
        </p:nvSpPr>
        <p:spPr>
          <a:xfrm>
            <a:off x="6675120" y="3291840"/>
            <a:ext cx="49377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400"/>
              <a:buFont typeface="Calibri"/>
              <a:buNone/>
            </a:pPr>
            <a:r>
              <a:rPr b="1" lang="en-US" sz="2000">
                <a:solidFill>
                  <a:srgbClr val="0F6B78"/>
                </a:solidFill>
                <a:latin typeface="Calibri"/>
                <a:ea typeface="Calibri"/>
                <a:cs typeface="Calibri"/>
                <a:sym typeface="Calibri"/>
              </a:rPr>
              <a:t>Eje IFN</a:t>
            </a:r>
            <a:r>
              <a:rPr b="1" i="0" lang="en-US" sz="2000" u="none" cap="none" strike="noStrike">
                <a:solidFill>
                  <a:srgbClr val="0F6B78"/>
                </a:solidFill>
                <a:latin typeface="Calibri"/>
                <a:ea typeface="Calibri"/>
                <a:cs typeface="Calibri"/>
                <a:sym typeface="Calibri"/>
              </a:rPr>
              <a:t> (</a:t>
            </a:r>
            <a:r>
              <a:rPr b="1" lang="en-US" sz="2000">
                <a:solidFill>
                  <a:srgbClr val="0F6B78"/>
                </a:solidFill>
                <a:latin typeface="Calibri"/>
                <a:ea typeface="Calibri"/>
                <a:cs typeface="Calibri"/>
                <a:sym typeface="Calibri"/>
              </a:rPr>
              <a:t>TRIM38, IFITM1, TAP1, PARP9</a:t>
            </a:r>
            <a:r>
              <a:rPr b="1" i="0" lang="en-US" sz="2000" u="none" cap="none" strike="noStrike">
                <a:solidFill>
                  <a:srgbClr val="0F6B78"/>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
        <p:nvSpPr>
          <p:cNvPr id="525" name="Google Shape;525;p16"/>
          <p:cNvSpPr/>
          <p:nvPr/>
        </p:nvSpPr>
        <p:spPr>
          <a:xfrm>
            <a:off x="6675120" y="3931920"/>
            <a:ext cx="49377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1" i="0" lang="en-US" sz="1500" u="none" cap="none" strike="noStrike">
                <a:solidFill>
                  <a:srgbClr val="6B707A"/>
                </a:solidFill>
                <a:latin typeface="Calibri"/>
                <a:ea typeface="Calibri"/>
                <a:cs typeface="Calibri"/>
                <a:sym typeface="Calibri"/>
              </a:rPr>
              <a:t>PROTEOMA </a:t>
            </a:r>
            <a:r>
              <a:rPr b="1" lang="en-US" sz="1500">
                <a:solidFill>
                  <a:srgbClr val="6B707A"/>
                </a:solidFill>
                <a:latin typeface="Calibri"/>
                <a:ea typeface="Calibri"/>
                <a:cs typeface="Calibri"/>
                <a:sym typeface="Calibri"/>
              </a:rPr>
              <a:t>(C1 + C2 = 16,02%)</a:t>
            </a:r>
            <a:endParaRPr b="0" i="0" sz="1500" u="none" cap="none" strike="noStrike">
              <a:solidFill>
                <a:schemeClr val="dk1"/>
              </a:solidFill>
              <a:latin typeface="Calibri"/>
              <a:ea typeface="Calibri"/>
              <a:cs typeface="Calibri"/>
              <a:sym typeface="Calibri"/>
            </a:endParaRPr>
          </a:p>
        </p:txBody>
      </p:sp>
      <p:sp>
        <p:nvSpPr>
          <p:cNvPr id="526" name="Google Shape;526;p16"/>
          <p:cNvSpPr/>
          <p:nvPr/>
        </p:nvSpPr>
        <p:spPr>
          <a:xfrm>
            <a:off x="6675120" y="4206240"/>
            <a:ext cx="493776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400"/>
              <a:buFont typeface="Calibri"/>
              <a:buNone/>
            </a:pPr>
            <a:r>
              <a:rPr b="1" i="0" lang="en-US" sz="2000" u="none" cap="none" strike="noStrike">
                <a:solidFill>
                  <a:srgbClr val="A84B2F"/>
                </a:solidFill>
                <a:latin typeface="Calibri"/>
                <a:ea typeface="Calibri"/>
                <a:cs typeface="Calibri"/>
                <a:sym typeface="Calibri"/>
              </a:rPr>
              <a:t>IFN-α  +  BAFF  +  C3</a:t>
            </a:r>
            <a:endParaRPr b="0" i="0" sz="2000" u="none" cap="none" strike="noStrike">
              <a:solidFill>
                <a:schemeClr val="dk1"/>
              </a:solidFill>
              <a:latin typeface="Calibri"/>
              <a:ea typeface="Calibri"/>
              <a:cs typeface="Calibri"/>
              <a:sym typeface="Calibri"/>
            </a:endParaRPr>
          </a:p>
        </p:txBody>
      </p:sp>
      <p:sp>
        <p:nvSpPr>
          <p:cNvPr id="527" name="Google Shape;527;p16"/>
          <p:cNvSpPr/>
          <p:nvPr/>
        </p:nvSpPr>
        <p:spPr>
          <a:xfrm>
            <a:off x="6675120" y="4937760"/>
            <a:ext cx="4937760" cy="18288"/>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28" name="Google Shape;528;p16"/>
          <p:cNvSpPr/>
          <p:nvPr/>
        </p:nvSpPr>
        <p:spPr>
          <a:xfrm>
            <a:off x="6675120" y="5074920"/>
            <a:ext cx="49377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30000"/>
              </a:lnSpc>
              <a:spcBef>
                <a:spcPts val="0"/>
              </a:spcBef>
              <a:spcAft>
                <a:spcPts val="0"/>
              </a:spcAft>
              <a:buClr>
                <a:srgbClr val="2E3138"/>
              </a:buClr>
              <a:buSzPts val="1300"/>
              <a:buFont typeface="Calibri"/>
              <a:buNone/>
            </a:pPr>
            <a:r>
              <a:rPr b="0" i="0" lang="en-US" sz="1700" u="none" cap="none" strike="noStrike">
                <a:solidFill>
                  <a:srgbClr val="2E3138"/>
                </a:solidFill>
                <a:latin typeface="Calibri"/>
                <a:ea typeface="Calibri"/>
                <a:cs typeface="Calibri"/>
                <a:sym typeface="Calibri"/>
              </a:rPr>
              <a:t>Menor separabilidad clínica; señal multi-ómica más sutil.</a:t>
            </a:r>
            <a:endParaRPr b="0" i="0" sz="1700" u="none" cap="none" strike="noStrike">
              <a:solidFill>
                <a:schemeClr val="dk1"/>
              </a:solidFill>
              <a:latin typeface="Calibri"/>
              <a:ea typeface="Calibri"/>
              <a:cs typeface="Calibri"/>
              <a:sym typeface="Calibri"/>
            </a:endParaRPr>
          </a:p>
        </p:txBody>
      </p:sp>
      <p:sp>
        <p:nvSpPr>
          <p:cNvPr id="529" name="Google Shape;529;p16"/>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a:t>
            </a:r>
            <a:r>
              <a:rPr b="0" i="0" lang="en-US" sz="900" u="none" cap="none" strike="noStrike">
                <a:solidFill>
                  <a:srgbClr val="6B707A"/>
                </a:solidFill>
                <a:latin typeface="Calibri"/>
                <a:ea typeface="Calibri"/>
                <a:cs typeface="Calibri"/>
                <a:sym typeface="Calibri"/>
              </a:rPr>
              <a:t> · TFM Bioinformática y Bioestadística</a:t>
            </a:r>
            <a:endParaRPr b="0" i="0" sz="900" u="none" cap="none" strike="noStrike">
              <a:solidFill>
                <a:schemeClr val="dk1"/>
              </a:solidFill>
              <a:latin typeface="Calibri"/>
              <a:ea typeface="Calibri"/>
              <a:cs typeface="Calibri"/>
              <a:sym typeface="Calibri"/>
            </a:endParaRPr>
          </a:p>
        </p:txBody>
      </p:sp>
      <p:sp>
        <p:nvSpPr>
          <p:cNvPr id="531" name="Google Shape;531;p16"/>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536" name="Shape 536"/>
        <p:cNvGrpSpPr/>
        <p:nvPr/>
      </p:nvGrpSpPr>
      <p:grpSpPr>
        <a:xfrm>
          <a:off x="0" y="0"/>
          <a:ext cx="0" cy="0"/>
          <a:chOff x="0" y="0"/>
          <a:chExt cx="0" cy="0"/>
        </a:xfrm>
      </p:grpSpPr>
      <p:sp>
        <p:nvSpPr>
          <p:cNvPr id="537" name="Google Shape;537;p17"/>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DIABLO · SÍNTESIS</a:t>
            </a:r>
            <a:endParaRPr b="0" i="0" sz="1000" u="none" cap="none" strike="noStrike">
              <a:solidFill>
                <a:schemeClr val="dk1"/>
              </a:solidFill>
              <a:latin typeface="Calibri"/>
              <a:ea typeface="Calibri"/>
              <a:cs typeface="Calibri"/>
              <a:sym typeface="Calibri"/>
            </a:endParaRPr>
          </a:p>
        </p:txBody>
      </p:sp>
      <p:sp>
        <p:nvSpPr>
          <p:cNvPr id="538" name="Google Shape;538;p17"/>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6 </a:t>
            </a:r>
            <a:r>
              <a:rPr b="0" i="0" lang="en-US" sz="1000" u="none" cap="none" strike="noStrike">
                <a:solidFill>
                  <a:srgbClr val="6B707A"/>
                </a:solidFill>
                <a:latin typeface="Calibri"/>
                <a:ea typeface="Calibri"/>
                <a:cs typeface="Calibri"/>
                <a:sym typeface="Calibri"/>
              </a:rPr>
              <a:t>/ 20</a:t>
            </a:r>
            <a:endParaRPr b="0" i="0" sz="1000" u="none" cap="none" strike="noStrike">
              <a:solidFill>
                <a:schemeClr val="dk1"/>
              </a:solidFill>
              <a:latin typeface="Calibri"/>
              <a:ea typeface="Calibri"/>
              <a:cs typeface="Calibri"/>
              <a:sym typeface="Calibri"/>
            </a:endParaRPr>
          </a:p>
        </p:txBody>
      </p:sp>
      <p:sp>
        <p:nvSpPr>
          <p:cNvPr id="539" name="Google Shape;539;p17"/>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000"/>
              <a:buFont typeface="Calibri"/>
              <a:buNone/>
            </a:pPr>
            <a:r>
              <a:rPr b="1" i="0" lang="en-US" sz="3000" u="none" cap="none" strike="noStrike">
                <a:solidFill>
                  <a:srgbClr val="2E3138"/>
                </a:solidFill>
                <a:latin typeface="Calibri"/>
                <a:ea typeface="Calibri"/>
                <a:cs typeface="Calibri"/>
                <a:sym typeface="Calibri"/>
              </a:rPr>
              <a:t>Matriz resumen por desenlace</a:t>
            </a:r>
            <a:endParaRPr b="0" i="0" sz="3000" u="none" cap="none" strike="noStrike">
              <a:solidFill>
                <a:schemeClr val="dk1"/>
              </a:solidFill>
              <a:latin typeface="Calibri"/>
              <a:ea typeface="Calibri"/>
              <a:cs typeface="Calibri"/>
              <a:sym typeface="Calibri"/>
            </a:endParaRPr>
          </a:p>
        </p:txBody>
      </p:sp>
      <p:sp>
        <p:nvSpPr>
          <p:cNvPr id="541" name="Google Shape;541;p17"/>
          <p:cNvSpPr/>
          <p:nvPr/>
        </p:nvSpPr>
        <p:spPr>
          <a:xfrm>
            <a:off x="548640" y="169164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1800" u="none" cap="none" strike="noStrike">
                <a:solidFill>
                  <a:srgbClr val="6B707A"/>
                </a:solidFill>
                <a:latin typeface="Calibri"/>
                <a:ea typeface="Calibri"/>
                <a:cs typeface="Calibri"/>
                <a:sym typeface="Calibri"/>
              </a:rPr>
              <a:t>Transcriptoma dominado por el eje IFN; el proteoma aporta la especificidad clínica.</a:t>
            </a:r>
            <a:endParaRPr b="0" i="0" sz="1800" u="none" cap="none" strike="noStrike">
              <a:solidFill>
                <a:schemeClr val="dk1"/>
              </a:solidFill>
              <a:latin typeface="Calibri"/>
              <a:ea typeface="Calibri"/>
              <a:cs typeface="Calibri"/>
              <a:sym typeface="Calibri"/>
            </a:endParaRPr>
          </a:p>
        </p:txBody>
      </p:sp>
      <p:sp>
        <p:nvSpPr>
          <p:cNvPr id="542" name="Google Shape;542;p17"/>
          <p:cNvSpPr/>
          <p:nvPr/>
        </p:nvSpPr>
        <p:spPr>
          <a:xfrm>
            <a:off x="548690" y="2194580"/>
            <a:ext cx="11094300" cy="4023300"/>
          </a:xfrm>
          <a:prstGeom prst="roundRect">
            <a:avLst>
              <a:gd fmla="val 2727"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43" name="Google Shape;543;p17"/>
          <p:cNvSpPr/>
          <p:nvPr/>
        </p:nvSpPr>
        <p:spPr>
          <a:xfrm>
            <a:off x="822900" y="2423150"/>
            <a:ext cx="10545900" cy="594300"/>
          </a:xfrm>
          <a:prstGeom prst="rect">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44" name="Google Shape;544;p17"/>
          <p:cNvSpPr/>
          <p:nvPr/>
        </p:nvSpPr>
        <p:spPr>
          <a:xfrm>
            <a:off x="822960" y="2468880"/>
            <a:ext cx="1920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00"/>
              <a:buFont typeface="Calibri"/>
              <a:buNone/>
            </a:pPr>
            <a:r>
              <a:rPr b="1" i="0" lang="en-US" sz="1900" u="none" cap="none" strike="noStrike">
                <a:solidFill>
                  <a:srgbClr val="2E3138"/>
                </a:solidFill>
                <a:latin typeface="Calibri"/>
                <a:ea typeface="Calibri"/>
                <a:cs typeface="Calibri"/>
                <a:sym typeface="Calibri"/>
              </a:rPr>
              <a:t>DESENLACE</a:t>
            </a:r>
            <a:endParaRPr b="0" i="0" sz="1900" u="none" cap="none" strike="noStrike">
              <a:solidFill>
                <a:schemeClr val="dk1"/>
              </a:solidFill>
              <a:latin typeface="Calibri"/>
              <a:ea typeface="Calibri"/>
              <a:cs typeface="Calibri"/>
              <a:sym typeface="Calibri"/>
            </a:endParaRPr>
          </a:p>
        </p:txBody>
      </p:sp>
      <p:sp>
        <p:nvSpPr>
          <p:cNvPr id="545" name="Google Shape;545;p17"/>
          <p:cNvSpPr/>
          <p:nvPr/>
        </p:nvSpPr>
        <p:spPr>
          <a:xfrm>
            <a:off x="2743200" y="2468880"/>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00"/>
              <a:buFont typeface="Calibri"/>
              <a:buNone/>
            </a:pPr>
            <a:r>
              <a:rPr b="1" i="0" lang="en-US" sz="1900" u="none" cap="none" strike="noStrike">
                <a:solidFill>
                  <a:srgbClr val="2E3138"/>
                </a:solidFill>
                <a:latin typeface="Calibri"/>
                <a:ea typeface="Calibri"/>
                <a:cs typeface="Calibri"/>
                <a:sym typeface="Calibri"/>
              </a:rPr>
              <a:t>TRANSCRIPTOMA</a:t>
            </a:r>
            <a:endParaRPr b="0" i="0" sz="1900" u="none" cap="none" strike="noStrike">
              <a:solidFill>
                <a:schemeClr val="dk1"/>
              </a:solidFill>
              <a:latin typeface="Calibri"/>
              <a:ea typeface="Calibri"/>
              <a:cs typeface="Calibri"/>
              <a:sym typeface="Calibri"/>
            </a:endParaRPr>
          </a:p>
        </p:txBody>
      </p:sp>
      <p:sp>
        <p:nvSpPr>
          <p:cNvPr id="546" name="Google Shape;546;p17"/>
          <p:cNvSpPr/>
          <p:nvPr/>
        </p:nvSpPr>
        <p:spPr>
          <a:xfrm>
            <a:off x="5120640" y="2468880"/>
            <a:ext cx="25603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00"/>
              <a:buFont typeface="Calibri"/>
              <a:buNone/>
            </a:pPr>
            <a:r>
              <a:rPr b="1" i="0" lang="en-US" sz="1900" u="none" cap="none" strike="noStrike">
                <a:solidFill>
                  <a:srgbClr val="2E3138"/>
                </a:solidFill>
                <a:latin typeface="Calibri"/>
                <a:ea typeface="Calibri"/>
                <a:cs typeface="Calibri"/>
                <a:sym typeface="Calibri"/>
              </a:rPr>
              <a:t>PROTEOMA</a:t>
            </a:r>
            <a:endParaRPr b="0" i="0" sz="1900" u="none" cap="none" strike="noStrike">
              <a:solidFill>
                <a:schemeClr val="dk1"/>
              </a:solidFill>
              <a:latin typeface="Calibri"/>
              <a:ea typeface="Calibri"/>
              <a:cs typeface="Calibri"/>
              <a:sym typeface="Calibri"/>
            </a:endParaRPr>
          </a:p>
        </p:txBody>
      </p:sp>
      <p:sp>
        <p:nvSpPr>
          <p:cNvPr id="547" name="Google Shape;547;p17"/>
          <p:cNvSpPr/>
          <p:nvPr/>
        </p:nvSpPr>
        <p:spPr>
          <a:xfrm>
            <a:off x="7680950" y="2468875"/>
            <a:ext cx="3596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00"/>
              <a:buFont typeface="Calibri"/>
              <a:buNone/>
            </a:pPr>
            <a:r>
              <a:rPr b="1" lang="en-US" sz="1900">
                <a:solidFill>
                  <a:srgbClr val="2E3138"/>
                </a:solidFill>
                <a:latin typeface="Calibri"/>
                <a:ea typeface="Calibri"/>
                <a:cs typeface="Calibri"/>
                <a:sym typeface="Calibri"/>
              </a:rPr>
              <a:t>ESPECIFICIDAD CLÍNICA</a:t>
            </a:r>
            <a:endParaRPr b="0" i="0" sz="1900" u="none" cap="none" strike="noStrike">
              <a:solidFill>
                <a:schemeClr val="dk1"/>
              </a:solidFill>
              <a:latin typeface="Calibri"/>
              <a:ea typeface="Calibri"/>
              <a:cs typeface="Calibri"/>
              <a:sym typeface="Calibri"/>
            </a:endParaRPr>
          </a:p>
        </p:txBody>
      </p:sp>
      <p:sp>
        <p:nvSpPr>
          <p:cNvPr id="548" name="Google Shape;548;p17"/>
          <p:cNvSpPr/>
          <p:nvPr/>
        </p:nvSpPr>
        <p:spPr>
          <a:xfrm>
            <a:off x="822960" y="3044952"/>
            <a:ext cx="10545775" cy="41148"/>
          </a:xfrm>
          <a:prstGeom prst="rect">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49" name="Google Shape;549;p17"/>
          <p:cNvSpPr/>
          <p:nvPr/>
        </p:nvSpPr>
        <p:spPr>
          <a:xfrm>
            <a:off x="868680" y="3108960"/>
            <a:ext cx="18288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SLEDAI-2K</a:t>
            </a:r>
            <a:endParaRPr b="0" i="0" sz="1750" u="none" cap="none" strike="noStrike">
              <a:solidFill>
                <a:schemeClr val="dk1"/>
              </a:solidFill>
              <a:latin typeface="Calibri"/>
              <a:ea typeface="Calibri"/>
              <a:cs typeface="Calibri"/>
              <a:sym typeface="Calibri"/>
            </a:endParaRPr>
          </a:p>
        </p:txBody>
      </p:sp>
      <p:sp>
        <p:nvSpPr>
          <p:cNvPr id="550" name="Google Shape;550;p17"/>
          <p:cNvSpPr/>
          <p:nvPr/>
        </p:nvSpPr>
        <p:spPr>
          <a:xfrm>
            <a:off x="2788920" y="3108960"/>
            <a:ext cx="22860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b="0" i="0" lang="en-US" sz="1750" u="none" cap="none" strike="noStrike">
                <a:solidFill>
                  <a:srgbClr val="0F6B78"/>
                </a:solidFill>
                <a:latin typeface="Calibri"/>
                <a:ea typeface="Calibri"/>
                <a:cs typeface="Calibri"/>
                <a:sym typeface="Calibri"/>
              </a:rPr>
              <a:t>ISGs · eje IFN</a:t>
            </a:r>
            <a:endParaRPr b="0" i="0" sz="1750" u="none" cap="none" strike="noStrike">
              <a:solidFill>
                <a:schemeClr val="dk1"/>
              </a:solidFill>
              <a:latin typeface="Calibri"/>
              <a:ea typeface="Calibri"/>
              <a:cs typeface="Calibri"/>
              <a:sym typeface="Calibri"/>
            </a:endParaRPr>
          </a:p>
        </p:txBody>
      </p:sp>
      <p:sp>
        <p:nvSpPr>
          <p:cNvPr id="551" name="Google Shape;551;p17"/>
          <p:cNvSpPr/>
          <p:nvPr/>
        </p:nvSpPr>
        <p:spPr>
          <a:xfrm>
            <a:off x="5166360" y="3108960"/>
            <a:ext cx="246888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b="0" i="0" lang="en-US" sz="1750" u="none" cap="none" strike="noStrike">
                <a:solidFill>
                  <a:srgbClr val="A84B2F"/>
                </a:solidFill>
                <a:latin typeface="Calibri"/>
                <a:ea typeface="Calibri"/>
                <a:cs typeface="Calibri"/>
                <a:sym typeface="Calibri"/>
              </a:rPr>
              <a:t>C3 · C4</a:t>
            </a:r>
            <a:endParaRPr b="0" i="0" sz="1750" u="none" cap="none" strike="noStrike">
              <a:solidFill>
                <a:schemeClr val="dk1"/>
              </a:solidFill>
              <a:latin typeface="Calibri"/>
              <a:ea typeface="Calibri"/>
              <a:cs typeface="Calibri"/>
              <a:sym typeface="Calibri"/>
            </a:endParaRPr>
          </a:p>
        </p:txBody>
      </p:sp>
      <p:sp>
        <p:nvSpPr>
          <p:cNvPr id="552" name="Google Shape;552;p17"/>
          <p:cNvSpPr/>
          <p:nvPr/>
        </p:nvSpPr>
        <p:spPr>
          <a:xfrm>
            <a:off x="7726680" y="3108960"/>
            <a:ext cx="35964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0" i="0" lang="en-US" sz="1750" u="none" cap="none" strike="noStrike">
                <a:solidFill>
                  <a:srgbClr val="2E3138"/>
                </a:solidFill>
                <a:latin typeface="Calibri"/>
                <a:ea typeface="Calibri"/>
                <a:cs typeface="Calibri"/>
                <a:sym typeface="Calibri"/>
              </a:rPr>
              <a:t>Actividad </a:t>
            </a:r>
            <a:r>
              <a:rPr lang="en-US" sz="1750">
                <a:solidFill>
                  <a:srgbClr val="2E3138"/>
                </a:solidFill>
                <a:latin typeface="Calibri"/>
                <a:ea typeface="Calibri"/>
                <a:cs typeface="Calibri"/>
                <a:sym typeface="Calibri"/>
              </a:rPr>
              <a:t>c</a:t>
            </a:r>
            <a:r>
              <a:rPr b="0" i="0" lang="en-US" sz="1750" u="none" cap="none" strike="noStrike">
                <a:solidFill>
                  <a:srgbClr val="2E3138"/>
                </a:solidFill>
                <a:latin typeface="Calibri"/>
                <a:ea typeface="Calibri"/>
                <a:cs typeface="Calibri"/>
                <a:sym typeface="Calibri"/>
              </a:rPr>
              <a:t>on consumo de complemento</a:t>
            </a:r>
            <a:endParaRPr b="0" i="0" sz="1750" u="none" cap="none" strike="noStrike">
              <a:solidFill>
                <a:schemeClr val="dk1"/>
              </a:solidFill>
              <a:latin typeface="Calibri"/>
              <a:ea typeface="Calibri"/>
              <a:cs typeface="Calibri"/>
              <a:sym typeface="Calibri"/>
            </a:endParaRPr>
          </a:p>
        </p:txBody>
      </p:sp>
      <p:sp>
        <p:nvSpPr>
          <p:cNvPr id="553" name="Google Shape;553;p17"/>
          <p:cNvSpPr/>
          <p:nvPr/>
        </p:nvSpPr>
        <p:spPr>
          <a:xfrm>
            <a:off x="777240" y="3712464"/>
            <a:ext cx="10637215" cy="603504"/>
          </a:xfrm>
          <a:prstGeom prst="rect">
            <a:avLst/>
          </a:prstGeom>
          <a:solidFill>
            <a:srgbClr val="F2F3F5"/>
          </a:solidFill>
          <a:ln cap="flat" cmpd="sng" w="12700">
            <a:solidFill>
              <a:srgbClr val="F2F3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54" name="Google Shape;554;p17"/>
          <p:cNvSpPr/>
          <p:nvPr/>
        </p:nvSpPr>
        <p:spPr>
          <a:xfrm>
            <a:off x="868680" y="3712464"/>
            <a:ext cx="18288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SLE-DAS</a:t>
            </a:r>
            <a:endParaRPr b="0" i="0" sz="1750" u="none" cap="none" strike="noStrike">
              <a:solidFill>
                <a:schemeClr val="dk1"/>
              </a:solidFill>
              <a:latin typeface="Calibri"/>
              <a:ea typeface="Calibri"/>
              <a:cs typeface="Calibri"/>
              <a:sym typeface="Calibri"/>
            </a:endParaRPr>
          </a:p>
        </p:txBody>
      </p:sp>
      <p:sp>
        <p:nvSpPr>
          <p:cNvPr id="555" name="Google Shape;555;p17"/>
          <p:cNvSpPr/>
          <p:nvPr/>
        </p:nvSpPr>
        <p:spPr>
          <a:xfrm>
            <a:off x="2788920" y="3712464"/>
            <a:ext cx="22860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b="0" i="0" lang="en-US" sz="1750" u="none" cap="none" strike="noStrike">
                <a:solidFill>
                  <a:srgbClr val="0F6B78"/>
                </a:solidFill>
                <a:latin typeface="Calibri"/>
                <a:ea typeface="Calibri"/>
                <a:cs typeface="Calibri"/>
                <a:sym typeface="Calibri"/>
              </a:rPr>
              <a:t>ISGs · eje IFN</a:t>
            </a:r>
            <a:endParaRPr b="0" i="0" sz="1750" u="none" cap="none" strike="noStrike">
              <a:solidFill>
                <a:schemeClr val="dk1"/>
              </a:solidFill>
              <a:latin typeface="Calibri"/>
              <a:ea typeface="Calibri"/>
              <a:cs typeface="Calibri"/>
              <a:sym typeface="Calibri"/>
            </a:endParaRPr>
          </a:p>
        </p:txBody>
      </p:sp>
      <p:sp>
        <p:nvSpPr>
          <p:cNvPr id="556" name="Google Shape;556;p17"/>
          <p:cNvSpPr/>
          <p:nvPr/>
        </p:nvSpPr>
        <p:spPr>
          <a:xfrm>
            <a:off x="5166360" y="3712464"/>
            <a:ext cx="246888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b="0" i="0" lang="en-US" sz="1750" u="none" cap="none" strike="noStrike">
                <a:solidFill>
                  <a:srgbClr val="A84B2F"/>
                </a:solidFill>
                <a:latin typeface="Calibri"/>
                <a:ea typeface="Calibri"/>
                <a:cs typeface="Calibri"/>
                <a:sym typeface="Calibri"/>
              </a:rPr>
              <a:t>Apo A-I · HDL</a:t>
            </a:r>
            <a:endParaRPr b="0" i="0" sz="1750" u="none" cap="none" strike="noStrike">
              <a:solidFill>
                <a:schemeClr val="dk1"/>
              </a:solidFill>
              <a:latin typeface="Calibri"/>
              <a:ea typeface="Calibri"/>
              <a:cs typeface="Calibri"/>
              <a:sym typeface="Calibri"/>
            </a:endParaRPr>
          </a:p>
        </p:txBody>
      </p:sp>
      <p:sp>
        <p:nvSpPr>
          <p:cNvPr id="557" name="Google Shape;557;p17"/>
          <p:cNvSpPr/>
          <p:nvPr/>
        </p:nvSpPr>
        <p:spPr>
          <a:xfrm>
            <a:off x="7726680" y="3712464"/>
            <a:ext cx="3596335"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0" i="0" lang="en-US" sz="1750" u="none" cap="none" strike="noStrike">
                <a:solidFill>
                  <a:srgbClr val="2E3138"/>
                </a:solidFill>
                <a:latin typeface="Calibri"/>
                <a:ea typeface="Calibri"/>
                <a:cs typeface="Calibri"/>
                <a:sym typeface="Calibri"/>
              </a:rPr>
              <a:t>Actividad con huella metabólica</a:t>
            </a:r>
            <a:endParaRPr b="0" i="0" sz="1750" u="none" cap="none" strike="noStrike">
              <a:solidFill>
                <a:schemeClr val="dk1"/>
              </a:solidFill>
              <a:latin typeface="Calibri"/>
              <a:ea typeface="Calibri"/>
              <a:cs typeface="Calibri"/>
              <a:sym typeface="Calibri"/>
            </a:endParaRPr>
          </a:p>
        </p:txBody>
      </p:sp>
      <p:sp>
        <p:nvSpPr>
          <p:cNvPr id="558" name="Google Shape;558;p17"/>
          <p:cNvSpPr/>
          <p:nvPr/>
        </p:nvSpPr>
        <p:spPr>
          <a:xfrm>
            <a:off x="868680" y="4315968"/>
            <a:ext cx="18288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SLICC-DI</a:t>
            </a:r>
            <a:endParaRPr b="0" i="0" sz="1750" u="none" cap="none" strike="noStrike">
              <a:solidFill>
                <a:schemeClr val="dk1"/>
              </a:solidFill>
              <a:latin typeface="Calibri"/>
              <a:ea typeface="Calibri"/>
              <a:cs typeface="Calibri"/>
              <a:sym typeface="Calibri"/>
            </a:endParaRPr>
          </a:p>
        </p:txBody>
      </p:sp>
      <p:sp>
        <p:nvSpPr>
          <p:cNvPr id="559" name="Google Shape;559;p17"/>
          <p:cNvSpPr/>
          <p:nvPr/>
        </p:nvSpPr>
        <p:spPr>
          <a:xfrm>
            <a:off x="2788920" y="4315968"/>
            <a:ext cx="22860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b="0" i="0" lang="en-US" sz="1750" u="none" cap="none" strike="noStrike">
                <a:solidFill>
                  <a:srgbClr val="0F6B78"/>
                </a:solidFill>
                <a:latin typeface="Calibri"/>
                <a:ea typeface="Calibri"/>
                <a:cs typeface="Calibri"/>
                <a:sym typeface="Calibri"/>
              </a:rPr>
              <a:t>ISGs · eje IFN</a:t>
            </a:r>
            <a:endParaRPr b="0" i="0" sz="1750" u="none" cap="none" strike="noStrike">
              <a:solidFill>
                <a:schemeClr val="dk1"/>
              </a:solidFill>
              <a:latin typeface="Calibri"/>
              <a:ea typeface="Calibri"/>
              <a:cs typeface="Calibri"/>
              <a:sym typeface="Calibri"/>
            </a:endParaRPr>
          </a:p>
        </p:txBody>
      </p:sp>
      <p:sp>
        <p:nvSpPr>
          <p:cNvPr id="560" name="Google Shape;560;p17"/>
          <p:cNvSpPr/>
          <p:nvPr/>
        </p:nvSpPr>
        <p:spPr>
          <a:xfrm>
            <a:off x="5166360" y="4315968"/>
            <a:ext cx="246888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b="0" i="0" lang="en-US" sz="1750" u="none" cap="none" strike="noStrike">
                <a:solidFill>
                  <a:srgbClr val="A84B2F"/>
                </a:solidFill>
                <a:latin typeface="Calibri"/>
                <a:ea typeface="Calibri"/>
                <a:cs typeface="Calibri"/>
                <a:sym typeface="Calibri"/>
              </a:rPr>
              <a:t>IFN-α · creatinina</a:t>
            </a:r>
            <a:endParaRPr b="0" i="0" sz="1750" u="none" cap="none" strike="noStrike">
              <a:solidFill>
                <a:schemeClr val="dk1"/>
              </a:solidFill>
              <a:latin typeface="Calibri"/>
              <a:ea typeface="Calibri"/>
              <a:cs typeface="Calibri"/>
              <a:sym typeface="Calibri"/>
            </a:endParaRPr>
          </a:p>
        </p:txBody>
      </p:sp>
      <p:sp>
        <p:nvSpPr>
          <p:cNvPr id="561" name="Google Shape;561;p17"/>
          <p:cNvSpPr/>
          <p:nvPr/>
        </p:nvSpPr>
        <p:spPr>
          <a:xfrm>
            <a:off x="7726680" y="4315968"/>
            <a:ext cx="3596335"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0" i="0" lang="en-US" sz="1750" u="none" cap="none" strike="noStrike">
                <a:solidFill>
                  <a:srgbClr val="2E3138"/>
                </a:solidFill>
                <a:latin typeface="Calibri"/>
                <a:ea typeface="Calibri"/>
                <a:cs typeface="Calibri"/>
                <a:sym typeface="Calibri"/>
              </a:rPr>
              <a:t>Daño acumulado con señal renal</a:t>
            </a:r>
            <a:endParaRPr b="0" i="0" sz="1750" u="none" cap="none" strike="noStrike">
              <a:solidFill>
                <a:schemeClr val="dk1"/>
              </a:solidFill>
              <a:latin typeface="Calibri"/>
              <a:ea typeface="Calibri"/>
              <a:cs typeface="Calibri"/>
              <a:sym typeface="Calibri"/>
            </a:endParaRPr>
          </a:p>
        </p:txBody>
      </p:sp>
      <p:sp>
        <p:nvSpPr>
          <p:cNvPr id="562" name="Google Shape;562;p17"/>
          <p:cNvSpPr/>
          <p:nvPr/>
        </p:nvSpPr>
        <p:spPr>
          <a:xfrm>
            <a:off x="777240" y="4919472"/>
            <a:ext cx="10637215" cy="603504"/>
          </a:xfrm>
          <a:prstGeom prst="rect">
            <a:avLst/>
          </a:prstGeom>
          <a:solidFill>
            <a:srgbClr val="F2F3F5"/>
          </a:solidFill>
          <a:ln cap="flat" cmpd="sng" w="12700">
            <a:solidFill>
              <a:srgbClr val="F2F3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563" name="Google Shape;563;p17"/>
          <p:cNvSpPr/>
          <p:nvPr/>
        </p:nvSpPr>
        <p:spPr>
          <a:xfrm>
            <a:off x="868680" y="4919472"/>
            <a:ext cx="18288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DORIS</a:t>
            </a:r>
            <a:endParaRPr b="0" i="0" sz="1750" u="none" cap="none" strike="noStrike">
              <a:solidFill>
                <a:schemeClr val="dk1"/>
              </a:solidFill>
              <a:latin typeface="Calibri"/>
              <a:ea typeface="Calibri"/>
              <a:cs typeface="Calibri"/>
              <a:sym typeface="Calibri"/>
            </a:endParaRPr>
          </a:p>
        </p:txBody>
      </p:sp>
      <p:sp>
        <p:nvSpPr>
          <p:cNvPr id="564" name="Google Shape;564;p17"/>
          <p:cNvSpPr/>
          <p:nvPr/>
        </p:nvSpPr>
        <p:spPr>
          <a:xfrm>
            <a:off x="2788920" y="4919472"/>
            <a:ext cx="22860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b="0" i="0" lang="en-US" sz="1750" u="none" cap="none" strike="noStrike">
                <a:solidFill>
                  <a:srgbClr val="0F6B78"/>
                </a:solidFill>
                <a:latin typeface="Calibri"/>
                <a:ea typeface="Calibri"/>
                <a:cs typeface="Calibri"/>
                <a:sym typeface="Calibri"/>
              </a:rPr>
              <a:t>ISGs ·</a:t>
            </a:r>
            <a:r>
              <a:rPr lang="en-US" sz="1750">
                <a:solidFill>
                  <a:srgbClr val="0F6B78"/>
                </a:solidFill>
                <a:latin typeface="Calibri"/>
                <a:ea typeface="Calibri"/>
                <a:cs typeface="Calibri"/>
                <a:sym typeface="Calibri"/>
              </a:rPr>
              <a:t> eje IFN</a:t>
            </a:r>
            <a:endParaRPr b="0" i="0" sz="1750" u="none" cap="none" strike="noStrike">
              <a:solidFill>
                <a:schemeClr val="dk1"/>
              </a:solidFill>
              <a:latin typeface="Calibri"/>
              <a:ea typeface="Calibri"/>
              <a:cs typeface="Calibri"/>
              <a:sym typeface="Calibri"/>
            </a:endParaRPr>
          </a:p>
        </p:txBody>
      </p:sp>
      <p:sp>
        <p:nvSpPr>
          <p:cNvPr id="565" name="Google Shape;565;p17"/>
          <p:cNvSpPr/>
          <p:nvPr/>
        </p:nvSpPr>
        <p:spPr>
          <a:xfrm>
            <a:off x="5166349" y="4919475"/>
            <a:ext cx="2799300" cy="603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b="0" i="0" lang="en-US" sz="1750" u="none" cap="none" strike="noStrike">
                <a:solidFill>
                  <a:srgbClr val="A84B2F"/>
                </a:solidFill>
                <a:latin typeface="Calibri"/>
                <a:ea typeface="Calibri"/>
                <a:cs typeface="Calibri"/>
                <a:sym typeface="Calibri"/>
              </a:rPr>
              <a:t>IFN-α · BAFF · inflamación</a:t>
            </a:r>
            <a:endParaRPr b="0" i="0" sz="1750" u="none" cap="none" strike="noStrike">
              <a:solidFill>
                <a:schemeClr val="dk1"/>
              </a:solidFill>
              <a:latin typeface="Calibri"/>
              <a:ea typeface="Calibri"/>
              <a:cs typeface="Calibri"/>
              <a:sym typeface="Calibri"/>
            </a:endParaRPr>
          </a:p>
        </p:txBody>
      </p:sp>
      <p:sp>
        <p:nvSpPr>
          <p:cNvPr id="566" name="Google Shape;566;p17"/>
          <p:cNvSpPr/>
          <p:nvPr/>
        </p:nvSpPr>
        <p:spPr>
          <a:xfrm>
            <a:off x="7726680" y="4919472"/>
            <a:ext cx="3596335"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0" i="0" lang="en-US" sz="1750" u="none" cap="none" strike="noStrike">
                <a:solidFill>
                  <a:srgbClr val="2E3138"/>
                </a:solidFill>
                <a:latin typeface="Calibri"/>
                <a:ea typeface="Calibri"/>
                <a:cs typeface="Calibri"/>
                <a:sym typeface="Calibri"/>
              </a:rPr>
              <a:t>Actividad inmunológica residual</a:t>
            </a:r>
            <a:endParaRPr b="0" i="0" sz="1750" u="none" cap="none" strike="noStrike">
              <a:solidFill>
                <a:schemeClr val="dk1"/>
              </a:solidFill>
              <a:latin typeface="Calibri"/>
              <a:ea typeface="Calibri"/>
              <a:cs typeface="Calibri"/>
              <a:sym typeface="Calibri"/>
            </a:endParaRPr>
          </a:p>
        </p:txBody>
      </p:sp>
      <p:sp>
        <p:nvSpPr>
          <p:cNvPr id="567" name="Google Shape;567;p17"/>
          <p:cNvSpPr/>
          <p:nvPr/>
        </p:nvSpPr>
        <p:spPr>
          <a:xfrm>
            <a:off x="868680" y="5522976"/>
            <a:ext cx="18288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Remisión estricta</a:t>
            </a:r>
            <a:endParaRPr b="0" i="0" sz="1750" u="none" cap="none" strike="noStrike">
              <a:solidFill>
                <a:schemeClr val="dk1"/>
              </a:solidFill>
              <a:latin typeface="Calibri"/>
              <a:ea typeface="Calibri"/>
              <a:cs typeface="Calibri"/>
              <a:sym typeface="Calibri"/>
            </a:endParaRPr>
          </a:p>
        </p:txBody>
      </p:sp>
      <p:sp>
        <p:nvSpPr>
          <p:cNvPr id="568" name="Google Shape;568;p17"/>
          <p:cNvSpPr/>
          <p:nvPr/>
        </p:nvSpPr>
        <p:spPr>
          <a:xfrm>
            <a:off x="2788920" y="5522976"/>
            <a:ext cx="22860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b="0" i="0" lang="en-US" sz="1750" u="none" cap="none" strike="noStrike">
                <a:solidFill>
                  <a:srgbClr val="0F6B78"/>
                </a:solidFill>
                <a:latin typeface="Calibri"/>
                <a:ea typeface="Calibri"/>
                <a:cs typeface="Calibri"/>
                <a:sym typeface="Calibri"/>
              </a:rPr>
              <a:t>ISGs </a:t>
            </a:r>
            <a:r>
              <a:rPr lang="en-US" sz="1750">
                <a:solidFill>
                  <a:srgbClr val="0F6B78"/>
                </a:solidFill>
                <a:latin typeface="Calibri"/>
                <a:ea typeface="Calibri"/>
                <a:cs typeface="Calibri"/>
                <a:sym typeface="Calibri"/>
              </a:rPr>
              <a:t>· eje IFN</a:t>
            </a:r>
            <a:endParaRPr b="0" i="0" sz="1750" u="none" cap="none" strike="noStrike">
              <a:solidFill>
                <a:schemeClr val="dk1"/>
              </a:solidFill>
              <a:latin typeface="Calibri"/>
              <a:ea typeface="Calibri"/>
              <a:cs typeface="Calibri"/>
              <a:sym typeface="Calibri"/>
            </a:endParaRPr>
          </a:p>
        </p:txBody>
      </p:sp>
      <p:sp>
        <p:nvSpPr>
          <p:cNvPr id="569" name="Google Shape;569;p17"/>
          <p:cNvSpPr/>
          <p:nvPr/>
        </p:nvSpPr>
        <p:spPr>
          <a:xfrm>
            <a:off x="5166360" y="5522976"/>
            <a:ext cx="246888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b="0" i="0" lang="en-US" sz="1750" u="none" cap="none" strike="noStrike">
                <a:solidFill>
                  <a:srgbClr val="A84B2F"/>
                </a:solidFill>
                <a:latin typeface="Calibri"/>
                <a:ea typeface="Calibri"/>
                <a:cs typeface="Calibri"/>
                <a:sym typeface="Calibri"/>
              </a:rPr>
              <a:t>IFN-α · BAFF · C3</a:t>
            </a:r>
            <a:endParaRPr b="0" i="0" sz="1750" u="none" cap="none" strike="noStrike">
              <a:solidFill>
                <a:schemeClr val="dk1"/>
              </a:solidFill>
              <a:latin typeface="Calibri"/>
              <a:ea typeface="Calibri"/>
              <a:cs typeface="Calibri"/>
              <a:sym typeface="Calibri"/>
            </a:endParaRPr>
          </a:p>
        </p:txBody>
      </p:sp>
      <p:sp>
        <p:nvSpPr>
          <p:cNvPr id="570" name="Google Shape;570;p17"/>
          <p:cNvSpPr/>
          <p:nvPr/>
        </p:nvSpPr>
        <p:spPr>
          <a:xfrm>
            <a:off x="7726680" y="5522976"/>
            <a:ext cx="3596335"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0" i="0" lang="en-US" sz="1750" u="none" cap="none" strike="noStrike">
                <a:solidFill>
                  <a:srgbClr val="2E3138"/>
                </a:solidFill>
                <a:latin typeface="Calibri"/>
                <a:ea typeface="Calibri"/>
                <a:cs typeface="Calibri"/>
                <a:sym typeface="Calibri"/>
              </a:rPr>
              <a:t>Señal multi-ómica más sutil</a:t>
            </a:r>
            <a:endParaRPr b="0" i="0" sz="1750" u="none" cap="none" strike="noStrike">
              <a:solidFill>
                <a:schemeClr val="dk1"/>
              </a:solidFill>
              <a:latin typeface="Calibri"/>
              <a:ea typeface="Calibri"/>
              <a:cs typeface="Calibri"/>
              <a:sym typeface="Calibri"/>
            </a:endParaRPr>
          </a:p>
        </p:txBody>
      </p:sp>
      <p:sp>
        <p:nvSpPr>
          <p:cNvPr id="571" name="Google Shape;571;p17"/>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7"/>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a:t>
            </a:r>
            <a:r>
              <a:rPr b="0" i="0" lang="en-US" sz="900" u="none" cap="none" strike="noStrike">
                <a:solidFill>
                  <a:srgbClr val="6B707A"/>
                </a:solidFill>
                <a:latin typeface="Calibri"/>
                <a:ea typeface="Calibri"/>
                <a:cs typeface="Calibri"/>
                <a:sym typeface="Calibri"/>
              </a:rPr>
              <a:t> · TFM Bioinformática y Bioestadística</a:t>
            </a:r>
            <a:endParaRPr b="0" i="0" sz="900" u="none" cap="none" strike="noStrike">
              <a:solidFill>
                <a:schemeClr val="dk1"/>
              </a:solidFill>
              <a:latin typeface="Calibri"/>
              <a:ea typeface="Calibri"/>
              <a:cs typeface="Calibri"/>
              <a:sym typeface="Calibri"/>
            </a:endParaRPr>
          </a:p>
        </p:txBody>
      </p:sp>
      <p:sp>
        <p:nvSpPr>
          <p:cNvPr id="573" name="Google Shape;573;p17"/>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578" name="Shape 578"/>
        <p:cNvGrpSpPr/>
        <p:nvPr/>
      </p:nvGrpSpPr>
      <p:grpSpPr>
        <a:xfrm>
          <a:off x="0" y="0"/>
          <a:ext cx="0" cy="0"/>
          <a:chOff x="0" y="0"/>
          <a:chExt cx="0" cy="0"/>
        </a:xfrm>
      </p:grpSpPr>
      <p:sp>
        <p:nvSpPr>
          <p:cNvPr id="579" name="Google Shape;579;p18"/>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DIABLO · RENDIMIENTO</a:t>
            </a:r>
            <a:endParaRPr b="0" i="0" sz="1000" u="none" cap="none" strike="noStrike">
              <a:solidFill>
                <a:schemeClr val="dk1"/>
              </a:solidFill>
              <a:latin typeface="Calibri"/>
              <a:ea typeface="Calibri"/>
              <a:cs typeface="Calibri"/>
              <a:sym typeface="Calibri"/>
            </a:endParaRPr>
          </a:p>
        </p:txBody>
      </p:sp>
      <p:sp>
        <p:nvSpPr>
          <p:cNvPr id="580" name="Google Shape;580;p18"/>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7</a:t>
            </a:r>
            <a:r>
              <a:rPr b="0" i="0" lang="en-US" sz="1000" u="none" cap="none" strike="noStrike">
                <a:solidFill>
                  <a:srgbClr val="6B707A"/>
                </a:solidFill>
                <a:latin typeface="Calibri"/>
                <a:ea typeface="Calibri"/>
                <a:cs typeface="Calibri"/>
                <a:sym typeface="Calibri"/>
              </a:rPr>
              <a:t> / 20</a:t>
            </a:r>
            <a:endParaRPr b="0" i="0" sz="1000" u="none" cap="none" strike="noStrike">
              <a:solidFill>
                <a:schemeClr val="dk1"/>
              </a:solidFill>
              <a:latin typeface="Calibri"/>
              <a:ea typeface="Calibri"/>
              <a:cs typeface="Calibri"/>
              <a:sym typeface="Calibri"/>
            </a:endParaRPr>
          </a:p>
        </p:txBody>
      </p:sp>
      <p:sp>
        <p:nvSpPr>
          <p:cNvPr id="581" name="Google Shape;581;p18"/>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548640" y="868680"/>
            <a:ext cx="11094415"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DIABLO interpreta mejor de lo que predice</a:t>
            </a:r>
            <a:endParaRPr b="0" i="0" sz="3200" u="none" cap="none" strike="noStrike">
              <a:solidFill>
                <a:schemeClr val="dk1"/>
              </a:solidFill>
              <a:latin typeface="Calibri"/>
              <a:ea typeface="Calibri"/>
              <a:cs typeface="Calibri"/>
              <a:sym typeface="Calibri"/>
            </a:endParaRPr>
          </a:p>
        </p:txBody>
      </p:sp>
      <p:sp>
        <p:nvSpPr>
          <p:cNvPr id="583" name="Google Shape;583;p18"/>
          <p:cNvSpPr/>
          <p:nvPr/>
        </p:nvSpPr>
        <p:spPr>
          <a:xfrm>
            <a:off x="548640" y="169164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b="0" i="0" lang="en-US" sz="1800" u="none" cap="none" strike="noStrike">
                <a:solidFill>
                  <a:srgbClr val="6B707A"/>
                </a:solidFill>
                <a:latin typeface="Calibri"/>
                <a:ea typeface="Calibri"/>
                <a:cs typeface="Calibri"/>
                <a:sym typeface="Calibri"/>
              </a:rPr>
              <a:t>Rendimientos discriminativos modestos; el valor está en la lectura biológica.</a:t>
            </a:r>
            <a:endParaRPr b="0" i="0" sz="1800" u="none" cap="none" strike="noStrike">
              <a:solidFill>
                <a:schemeClr val="dk1"/>
              </a:solidFill>
              <a:latin typeface="Calibri"/>
              <a:ea typeface="Calibri"/>
              <a:cs typeface="Calibri"/>
              <a:sym typeface="Calibri"/>
            </a:endParaRPr>
          </a:p>
        </p:txBody>
      </p:sp>
      <p:sp>
        <p:nvSpPr>
          <p:cNvPr id="584" name="Google Shape;584;p18"/>
          <p:cNvSpPr/>
          <p:nvPr/>
        </p:nvSpPr>
        <p:spPr>
          <a:xfrm>
            <a:off x="663774" y="2194588"/>
            <a:ext cx="4389000" cy="4023300"/>
          </a:xfrm>
          <a:prstGeom prst="roundRect">
            <a:avLst>
              <a:gd fmla="val 2727"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585" name="Google Shape;585;p18"/>
          <p:cNvSpPr/>
          <p:nvPr/>
        </p:nvSpPr>
        <p:spPr>
          <a:xfrm>
            <a:off x="822960" y="2377440"/>
            <a:ext cx="43891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400"/>
              <a:buFont typeface="Calibri"/>
              <a:buNone/>
            </a:pPr>
            <a:r>
              <a:rPr b="1" i="0" lang="en-US" sz="2000" u="none" cap="none" strike="noStrike">
                <a:solidFill>
                  <a:srgbClr val="2E3138"/>
                </a:solidFill>
                <a:latin typeface="Calibri"/>
                <a:ea typeface="Calibri"/>
                <a:cs typeface="Calibri"/>
                <a:sym typeface="Calibri"/>
              </a:rPr>
              <a:t>Rendimiento global</a:t>
            </a:r>
            <a:endParaRPr b="0" i="0" sz="2000" u="none" cap="none" strike="noStrike">
              <a:solidFill>
                <a:schemeClr val="dk1"/>
              </a:solidFill>
              <a:latin typeface="Calibri"/>
              <a:ea typeface="Calibri"/>
              <a:cs typeface="Calibri"/>
              <a:sym typeface="Calibri"/>
            </a:endParaRPr>
          </a:p>
        </p:txBody>
      </p:sp>
      <p:sp>
        <p:nvSpPr>
          <p:cNvPr id="586" name="Google Shape;586;p18"/>
          <p:cNvSpPr/>
          <p:nvPr/>
        </p:nvSpPr>
        <p:spPr>
          <a:xfrm>
            <a:off x="822960" y="2834640"/>
            <a:ext cx="438912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100"/>
              <a:buFont typeface="Calibri"/>
              <a:buNone/>
            </a:pPr>
            <a:r>
              <a:rPr b="1" i="0" lang="en-US" sz="1900" u="none" cap="none" strike="noStrike">
                <a:solidFill>
                  <a:srgbClr val="6B707A"/>
                </a:solidFill>
                <a:latin typeface="Calibri"/>
                <a:ea typeface="Calibri"/>
                <a:cs typeface="Calibri"/>
                <a:sym typeface="Calibri"/>
              </a:rPr>
              <a:t>BER</a:t>
            </a:r>
            <a:endParaRPr b="0" i="0" sz="1900" u="none" cap="none" strike="noStrike">
              <a:solidFill>
                <a:schemeClr val="dk1"/>
              </a:solidFill>
              <a:latin typeface="Calibri"/>
              <a:ea typeface="Calibri"/>
              <a:cs typeface="Calibri"/>
              <a:sym typeface="Calibri"/>
            </a:endParaRPr>
          </a:p>
        </p:txBody>
      </p:sp>
      <p:sp>
        <p:nvSpPr>
          <p:cNvPr id="587" name="Google Shape;587;p18"/>
          <p:cNvSpPr/>
          <p:nvPr/>
        </p:nvSpPr>
        <p:spPr>
          <a:xfrm>
            <a:off x="822960" y="3108960"/>
            <a:ext cx="4389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600"/>
              <a:buFont typeface="Calibri"/>
              <a:buNone/>
            </a:pPr>
            <a:r>
              <a:rPr b="1" i="0" lang="en-US" sz="3900" u="none" cap="none" strike="noStrike">
                <a:solidFill>
                  <a:srgbClr val="2E3138"/>
                </a:solidFill>
                <a:latin typeface="Calibri"/>
                <a:ea typeface="Calibri"/>
                <a:cs typeface="Calibri"/>
                <a:sym typeface="Calibri"/>
              </a:rPr>
              <a:t>0,398 – 0,452</a:t>
            </a:r>
            <a:endParaRPr b="0" i="0" sz="3900" u="none" cap="none" strike="noStrike">
              <a:solidFill>
                <a:schemeClr val="dk1"/>
              </a:solidFill>
              <a:latin typeface="Calibri"/>
              <a:ea typeface="Calibri"/>
              <a:cs typeface="Calibri"/>
              <a:sym typeface="Calibri"/>
            </a:endParaRPr>
          </a:p>
        </p:txBody>
      </p:sp>
      <p:sp>
        <p:nvSpPr>
          <p:cNvPr id="588" name="Google Shape;588;p18"/>
          <p:cNvSpPr/>
          <p:nvPr/>
        </p:nvSpPr>
        <p:spPr>
          <a:xfrm>
            <a:off x="822950" y="3794753"/>
            <a:ext cx="43890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100"/>
              <a:buFont typeface="Calibri"/>
              <a:buNone/>
            </a:pPr>
            <a:r>
              <a:rPr b="0" i="0" lang="en-US" u="none" cap="none" strike="noStrike">
                <a:solidFill>
                  <a:srgbClr val="6B707A"/>
                </a:solidFill>
                <a:latin typeface="Calibri"/>
                <a:ea typeface="Calibri"/>
                <a:cs typeface="Calibri"/>
                <a:sym typeface="Calibri"/>
              </a:rPr>
              <a:t>Balanced Error Rate por desenlace</a:t>
            </a:r>
            <a:endParaRPr b="0" i="0" u="none" cap="none" strike="noStrike">
              <a:solidFill>
                <a:srgbClr val="6B707A"/>
              </a:solidFill>
              <a:latin typeface="Calibri"/>
              <a:ea typeface="Calibri"/>
              <a:cs typeface="Calibri"/>
              <a:sym typeface="Calibri"/>
            </a:endParaRPr>
          </a:p>
          <a:p>
            <a:pPr indent="0" lvl="0" marL="0" marR="0" rtl="0" algn="l">
              <a:spcBef>
                <a:spcPts val="0"/>
              </a:spcBef>
              <a:spcAft>
                <a:spcPts val="0"/>
              </a:spcAft>
              <a:buClr>
                <a:srgbClr val="6B707A"/>
              </a:buClr>
              <a:buSzPts val="1100"/>
              <a:buFont typeface="Calibri"/>
              <a:buNone/>
            </a:pPr>
            <a:r>
              <a:rPr lang="en-US">
                <a:solidFill>
                  <a:srgbClr val="6B707A"/>
                </a:solidFill>
                <a:latin typeface="Calibri"/>
                <a:ea typeface="Calibri"/>
                <a:cs typeface="Calibri"/>
                <a:sym typeface="Calibri"/>
              </a:rPr>
              <a:t>BER = 0,5 equivale a clasificación aleatoria</a:t>
            </a:r>
            <a:endParaRPr>
              <a:solidFill>
                <a:srgbClr val="6B707A"/>
              </a:solidFill>
              <a:latin typeface="Calibri"/>
              <a:ea typeface="Calibri"/>
              <a:cs typeface="Calibri"/>
              <a:sym typeface="Calibri"/>
            </a:endParaRPr>
          </a:p>
        </p:txBody>
      </p:sp>
      <p:sp>
        <p:nvSpPr>
          <p:cNvPr id="589" name="Google Shape;589;p18"/>
          <p:cNvSpPr/>
          <p:nvPr/>
        </p:nvSpPr>
        <p:spPr>
          <a:xfrm>
            <a:off x="822960" y="4579680"/>
            <a:ext cx="4389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100"/>
              <a:buFont typeface="Calibri"/>
              <a:buNone/>
            </a:pPr>
            <a:r>
              <a:rPr b="1" i="0" lang="en-US" sz="1800" u="none" cap="none" strike="noStrike">
                <a:solidFill>
                  <a:srgbClr val="6B707A"/>
                </a:solidFill>
                <a:latin typeface="Calibri"/>
                <a:ea typeface="Calibri"/>
                <a:cs typeface="Calibri"/>
                <a:sym typeface="Calibri"/>
              </a:rPr>
              <a:t>AUROC</a:t>
            </a:r>
            <a:endParaRPr b="0" i="0" sz="1800" u="none" cap="none" strike="noStrike">
              <a:solidFill>
                <a:schemeClr val="dk1"/>
              </a:solidFill>
              <a:latin typeface="Calibri"/>
              <a:ea typeface="Calibri"/>
              <a:cs typeface="Calibri"/>
              <a:sym typeface="Calibri"/>
            </a:endParaRPr>
          </a:p>
        </p:txBody>
      </p:sp>
      <p:sp>
        <p:nvSpPr>
          <p:cNvPr id="590" name="Google Shape;590;p18"/>
          <p:cNvSpPr/>
          <p:nvPr/>
        </p:nvSpPr>
        <p:spPr>
          <a:xfrm>
            <a:off x="822960" y="4854000"/>
            <a:ext cx="43890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3600"/>
              <a:buFont typeface="Calibri"/>
              <a:buNone/>
            </a:pPr>
            <a:r>
              <a:rPr b="1" i="0" lang="en-US" sz="3900" u="none" cap="none" strike="noStrike">
                <a:solidFill>
                  <a:srgbClr val="A84B2F"/>
                </a:solidFill>
                <a:latin typeface="Calibri"/>
                <a:ea typeface="Calibri"/>
                <a:cs typeface="Calibri"/>
                <a:sym typeface="Calibri"/>
              </a:rPr>
              <a:t>0,55 – 0,69</a:t>
            </a:r>
            <a:endParaRPr b="0" i="0" sz="3900" u="none" cap="none" strike="noStrike">
              <a:solidFill>
                <a:schemeClr val="dk1"/>
              </a:solidFill>
              <a:latin typeface="Calibri"/>
              <a:ea typeface="Calibri"/>
              <a:cs typeface="Calibri"/>
              <a:sym typeface="Calibri"/>
            </a:endParaRPr>
          </a:p>
        </p:txBody>
      </p:sp>
      <p:sp>
        <p:nvSpPr>
          <p:cNvPr id="591" name="Google Shape;591;p18"/>
          <p:cNvSpPr/>
          <p:nvPr/>
        </p:nvSpPr>
        <p:spPr>
          <a:xfrm>
            <a:off x="822960" y="5539800"/>
            <a:ext cx="43890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100"/>
              <a:buFont typeface="Calibri"/>
              <a:buNone/>
            </a:pPr>
            <a:r>
              <a:rPr b="0" i="0" lang="en-US" u="none" cap="none" strike="noStrike">
                <a:solidFill>
                  <a:srgbClr val="6B707A"/>
                </a:solidFill>
                <a:latin typeface="Calibri"/>
                <a:ea typeface="Calibri"/>
                <a:cs typeface="Calibri"/>
                <a:sym typeface="Calibri"/>
              </a:rPr>
              <a:t>ningún modelo alcanza AUROC ≥ 0,70</a:t>
            </a:r>
            <a:endParaRPr b="0" i="0" u="none" cap="none" strike="noStrike">
              <a:solidFill>
                <a:schemeClr val="dk1"/>
              </a:solidFill>
              <a:latin typeface="Calibri"/>
              <a:ea typeface="Calibri"/>
              <a:cs typeface="Calibri"/>
              <a:sym typeface="Calibri"/>
            </a:endParaRPr>
          </a:p>
        </p:txBody>
      </p:sp>
      <p:sp>
        <p:nvSpPr>
          <p:cNvPr id="592" name="Google Shape;592;p18"/>
          <p:cNvSpPr/>
          <p:nvPr/>
        </p:nvSpPr>
        <p:spPr>
          <a:xfrm>
            <a:off x="5212075" y="2240275"/>
            <a:ext cx="6431100" cy="4023300"/>
          </a:xfrm>
          <a:prstGeom prst="roundRect">
            <a:avLst>
              <a:gd fmla="val 2727"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sp>
        <p:nvSpPr>
          <p:cNvPr id="593" name="Google Shape;593;p18"/>
          <p:cNvSpPr/>
          <p:nvPr/>
        </p:nvSpPr>
        <p:spPr>
          <a:xfrm>
            <a:off x="5605828" y="2423156"/>
            <a:ext cx="56436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600"/>
              <a:buFont typeface="Calibri"/>
              <a:buNone/>
            </a:pPr>
            <a:r>
              <a:rPr b="1" i="0" lang="en-US" sz="2000" u="none" cap="none" strike="noStrike">
                <a:solidFill>
                  <a:srgbClr val="2E3138"/>
                </a:solidFill>
                <a:latin typeface="Calibri"/>
                <a:ea typeface="Calibri"/>
                <a:cs typeface="Calibri"/>
                <a:sym typeface="Calibri"/>
              </a:rPr>
              <a:t>Valor principal de DIABLO</a:t>
            </a:r>
            <a:endParaRPr b="0" i="0" sz="2000" u="none" cap="none" strike="noStrike">
              <a:solidFill>
                <a:schemeClr val="dk1"/>
              </a:solidFill>
              <a:latin typeface="Calibri"/>
              <a:ea typeface="Calibri"/>
              <a:cs typeface="Calibri"/>
              <a:sym typeface="Calibri"/>
            </a:endParaRPr>
          </a:p>
        </p:txBody>
      </p:sp>
      <p:sp>
        <p:nvSpPr>
          <p:cNvPr id="594" name="Google Shape;594;p18"/>
          <p:cNvSpPr/>
          <p:nvPr/>
        </p:nvSpPr>
        <p:spPr>
          <a:xfrm>
            <a:off x="5605828" y="2880357"/>
            <a:ext cx="5643600" cy="640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2200"/>
              <a:buFont typeface="Calibri"/>
              <a:buNone/>
            </a:pPr>
            <a:r>
              <a:rPr b="1" i="0" lang="en-US" sz="2500" u="none" cap="none" strike="noStrike">
                <a:solidFill>
                  <a:srgbClr val="0F6B78"/>
                </a:solidFill>
                <a:latin typeface="Calibri"/>
                <a:ea typeface="Calibri"/>
                <a:cs typeface="Calibri"/>
                <a:sym typeface="Calibri"/>
              </a:rPr>
              <a:t>Interpretación biológica integrada</a:t>
            </a:r>
            <a:endParaRPr b="0" i="0" sz="2500" u="none" cap="none" strike="noStrike">
              <a:solidFill>
                <a:schemeClr val="dk1"/>
              </a:solidFill>
              <a:latin typeface="Calibri"/>
              <a:ea typeface="Calibri"/>
              <a:cs typeface="Calibri"/>
              <a:sym typeface="Calibri"/>
            </a:endParaRPr>
          </a:p>
        </p:txBody>
      </p:sp>
      <p:sp>
        <p:nvSpPr>
          <p:cNvPr id="595" name="Google Shape;595;p18"/>
          <p:cNvSpPr/>
          <p:nvPr/>
        </p:nvSpPr>
        <p:spPr>
          <a:xfrm>
            <a:off x="5605828" y="3611880"/>
            <a:ext cx="5643600" cy="2331600"/>
          </a:xfrm>
          <a:prstGeom prst="rect">
            <a:avLst/>
          </a:prstGeom>
          <a:noFill/>
          <a:ln>
            <a:noFill/>
          </a:ln>
        </p:spPr>
        <p:txBody>
          <a:bodyPr anchorCtr="0" anchor="t" bIns="45700" lIns="91425" spcFirstLastPara="1" rIns="91425" wrap="square" tIns="45700">
            <a:noAutofit/>
          </a:bodyPr>
          <a:lstStyle/>
          <a:p>
            <a:pPr indent="-342900" lvl="0" marL="457200" marR="0" rtl="0" algn="just">
              <a:lnSpc>
                <a:spcPct val="115000"/>
              </a:lnSpc>
              <a:spcBef>
                <a:spcPts val="0"/>
              </a:spcBef>
              <a:spcAft>
                <a:spcPts val="0"/>
              </a:spcAft>
              <a:buClr>
                <a:srgbClr val="2E3138"/>
              </a:buClr>
              <a:buSzPts val="1800"/>
              <a:buFont typeface="Calibri"/>
              <a:buChar char="●"/>
            </a:pPr>
            <a:r>
              <a:rPr b="0" i="0" lang="en-US" sz="1800" u="none" cap="none" strike="noStrike">
                <a:solidFill>
                  <a:srgbClr val="2E3138"/>
                </a:solidFill>
                <a:latin typeface="Calibri"/>
                <a:ea typeface="Calibri"/>
                <a:cs typeface="Calibri"/>
                <a:sym typeface="Calibri"/>
              </a:rPr>
              <a:t>Revela qué bloque ómico domina cada desenlace.</a:t>
            </a:r>
            <a:endParaRPr b="0" i="0" sz="1800" u="none" cap="none" strike="noStrike">
              <a:solidFill>
                <a:schemeClr val="dk1"/>
              </a:solidFill>
              <a:latin typeface="Calibri"/>
              <a:ea typeface="Calibri"/>
              <a:cs typeface="Calibri"/>
              <a:sym typeface="Calibri"/>
            </a:endParaRPr>
          </a:p>
          <a:p>
            <a:pPr indent="-342900" lvl="0" marL="457200" marR="0" rtl="0" algn="just">
              <a:lnSpc>
                <a:spcPct val="115000"/>
              </a:lnSpc>
              <a:spcBef>
                <a:spcPts val="0"/>
              </a:spcBef>
              <a:spcAft>
                <a:spcPts val="0"/>
              </a:spcAft>
              <a:buClr>
                <a:srgbClr val="2E3138"/>
              </a:buClr>
              <a:buSzPts val="1800"/>
              <a:buFont typeface="Calibri"/>
              <a:buChar char="●"/>
            </a:pPr>
            <a:r>
              <a:rPr b="0" i="0" lang="en-US" sz="1800" u="none" cap="none" strike="noStrike">
                <a:solidFill>
                  <a:srgbClr val="2E3138"/>
                </a:solidFill>
                <a:latin typeface="Calibri"/>
                <a:ea typeface="Calibri"/>
                <a:cs typeface="Calibri"/>
                <a:sym typeface="Calibri"/>
              </a:rPr>
              <a:t>Identifica firmas multi-ómicas reproducibles entre modelos.</a:t>
            </a:r>
            <a:endParaRPr b="0" i="0" sz="1800" u="none" cap="none" strike="noStrike">
              <a:solidFill>
                <a:schemeClr val="dk1"/>
              </a:solidFill>
              <a:latin typeface="Calibri"/>
              <a:ea typeface="Calibri"/>
              <a:cs typeface="Calibri"/>
              <a:sym typeface="Calibri"/>
            </a:endParaRPr>
          </a:p>
          <a:p>
            <a:pPr indent="-342900" lvl="0" marL="457200" marR="0" rtl="0" algn="just">
              <a:lnSpc>
                <a:spcPct val="115000"/>
              </a:lnSpc>
              <a:spcBef>
                <a:spcPts val="0"/>
              </a:spcBef>
              <a:spcAft>
                <a:spcPts val="0"/>
              </a:spcAft>
              <a:buClr>
                <a:srgbClr val="2E3138"/>
              </a:buClr>
              <a:buSzPts val="1800"/>
              <a:buFont typeface="Calibri"/>
              <a:buChar char="●"/>
            </a:pPr>
            <a:r>
              <a:rPr b="0" i="0" lang="en-US" sz="1800" u="none" cap="none" strike="noStrike">
                <a:solidFill>
                  <a:srgbClr val="2E3138"/>
                </a:solidFill>
                <a:latin typeface="Calibri"/>
                <a:ea typeface="Calibri"/>
                <a:cs typeface="Calibri"/>
                <a:sym typeface="Calibri"/>
              </a:rPr>
              <a:t>No sustituye un biomarcador único: contextualiza el eje IFN.</a:t>
            </a:r>
            <a:endParaRPr b="0" i="0" sz="1800" u="none" cap="none" strike="noStrike">
              <a:solidFill>
                <a:schemeClr val="dk1"/>
              </a:solidFill>
              <a:latin typeface="Calibri"/>
              <a:ea typeface="Calibri"/>
              <a:cs typeface="Calibri"/>
              <a:sym typeface="Calibri"/>
            </a:endParaRPr>
          </a:p>
          <a:p>
            <a:pPr indent="-342900" lvl="0" marL="457200" marR="0" rtl="0" algn="just">
              <a:lnSpc>
                <a:spcPct val="115000"/>
              </a:lnSpc>
              <a:spcBef>
                <a:spcPts val="0"/>
              </a:spcBef>
              <a:spcAft>
                <a:spcPts val="0"/>
              </a:spcAft>
              <a:buClr>
                <a:srgbClr val="2E3138"/>
              </a:buClr>
              <a:buSzPts val="1800"/>
              <a:buFont typeface="Calibri"/>
              <a:buChar char="●"/>
            </a:pPr>
            <a:r>
              <a:rPr lang="en-US" sz="1800">
                <a:solidFill>
                  <a:srgbClr val="2E3138"/>
                </a:solidFill>
                <a:latin typeface="Calibri"/>
                <a:ea typeface="Calibri"/>
                <a:cs typeface="Calibri"/>
                <a:sym typeface="Calibri"/>
              </a:rPr>
              <a:t>El valor está en la lectura biológica integrada, no en la clasificación clínica</a:t>
            </a:r>
            <a:endParaRPr b="0" i="0" sz="1800" u="none" cap="none" strike="noStrike">
              <a:solidFill>
                <a:schemeClr val="dk1"/>
              </a:solidFill>
              <a:latin typeface="Calibri"/>
              <a:ea typeface="Calibri"/>
              <a:cs typeface="Calibri"/>
              <a:sym typeface="Calibri"/>
            </a:endParaRPr>
          </a:p>
        </p:txBody>
      </p:sp>
      <p:sp>
        <p:nvSpPr>
          <p:cNvPr id="596" name="Google Shape;596;p18"/>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8"/>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598" name="Google Shape;598;p18"/>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603" name="Shape 603"/>
        <p:cNvGrpSpPr/>
        <p:nvPr/>
      </p:nvGrpSpPr>
      <p:grpSpPr>
        <a:xfrm>
          <a:off x="0" y="0"/>
          <a:ext cx="0" cy="0"/>
          <a:chOff x="0" y="0"/>
          <a:chExt cx="0" cy="0"/>
        </a:xfrm>
      </p:grpSpPr>
      <p:sp>
        <p:nvSpPr>
          <p:cNvPr id="604" name="Google Shape;604;g3e5a2eb6d59_1_169"/>
          <p:cNvSpPr/>
          <p:nvPr/>
        </p:nvSpPr>
        <p:spPr>
          <a:xfrm>
            <a:off x="548640" y="320040"/>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LASSO</a:t>
            </a:r>
            <a:endParaRPr b="0" i="0" sz="1000" u="none" cap="none" strike="noStrike">
              <a:solidFill>
                <a:schemeClr val="dk1"/>
              </a:solidFill>
              <a:latin typeface="Calibri"/>
              <a:ea typeface="Calibri"/>
              <a:cs typeface="Calibri"/>
              <a:sym typeface="Calibri"/>
            </a:endParaRPr>
          </a:p>
        </p:txBody>
      </p:sp>
      <p:sp>
        <p:nvSpPr>
          <p:cNvPr id="605" name="Google Shape;605;g3e5a2eb6d59_1_169"/>
          <p:cNvSpPr/>
          <p:nvPr/>
        </p:nvSpPr>
        <p:spPr>
          <a:xfrm>
            <a:off x="10911535" y="320040"/>
            <a:ext cx="7314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a:t>
            </a:r>
            <a:r>
              <a:rPr lang="en-US" sz="1000">
                <a:solidFill>
                  <a:srgbClr val="6B707A"/>
                </a:solidFill>
                <a:latin typeface="Calibri"/>
                <a:ea typeface="Calibri"/>
                <a:cs typeface="Calibri"/>
                <a:sym typeface="Calibri"/>
              </a:rPr>
              <a:t>8 </a:t>
            </a:r>
            <a:r>
              <a:rPr b="0" i="0" lang="en-US" sz="1000" u="none" cap="none" strike="noStrike">
                <a:solidFill>
                  <a:srgbClr val="6B707A"/>
                </a:solidFill>
                <a:latin typeface="Calibri"/>
                <a:ea typeface="Calibri"/>
                <a:cs typeface="Calibri"/>
                <a:sym typeface="Calibri"/>
              </a:rPr>
              <a:t>/ 20</a:t>
            </a:r>
            <a:endParaRPr b="0" i="0" sz="1000" u="none" cap="none" strike="noStrike">
              <a:solidFill>
                <a:schemeClr val="dk1"/>
              </a:solidFill>
              <a:latin typeface="Calibri"/>
              <a:ea typeface="Calibri"/>
              <a:cs typeface="Calibri"/>
              <a:sym typeface="Calibri"/>
            </a:endParaRPr>
          </a:p>
        </p:txBody>
      </p:sp>
      <p:sp>
        <p:nvSpPr>
          <p:cNvPr id="606" name="Google Shape;606;g3e5a2eb6d59_1_169"/>
          <p:cNvSpPr/>
          <p:nvPr/>
        </p:nvSpPr>
        <p:spPr>
          <a:xfrm>
            <a:off x="548640" y="658368"/>
            <a:ext cx="11094300" cy="11100"/>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g3e5a2eb6d59_1_169"/>
          <p:cNvSpPr/>
          <p:nvPr/>
        </p:nvSpPr>
        <p:spPr>
          <a:xfrm>
            <a:off x="548640" y="868680"/>
            <a:ext cx="110943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lang="en-US" sz="3200">
                <a:solidFill>
                  <a:srgbClr val="2E3138"/>
                </a:solidFill>
                <a:latin typeface="Calibri"/>
                <a:ea typeface="Calibri"/>
                <a:cs typeface="Calibri"/>
                <a:sym typeface="Calibri"/>
              </a:rPr>
              <a:t>LASSO multi-ómico: selección de biomarcadores por desenlace</a:t>
            </a:r>
            <a:endParaRPr b="0" i="0" sz="3200" u="none" cap="none" strike="noStrike">
              <a:solidFill>
                <a:schemeClr val="dk1"/>
              </a:solidFill>
              <a:latin typeface="Calibri"/>
              <a:ea typeface="Calibri"/>
              <a:cs typeface="Calibri"/>
              <a:sym typeface="Calibri"/>
            </a:endParaRPr>
          </a:p>
        </p:txBody>
      </p:sp>
      <p:sp>
        <p:nvSpPr>
          <p:cNvPr id="608" name="Google Shape;608;g3e5a2eb6d59_1_169"/>
          <p:cNvSpPr/>
          <p:nvPr/>
        </p:nvSpPr>
        <p:spPr>
          <a:xfrm>
            <a:off x="548640" y="1691640"/>
            <a:ext cx="11094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600"/>
              <a:buFont typeface="Calibri"/>
              <a:buNone/>
            </a:pPr>
            <a:r>
              <a:rPr lang="en-US" sz="1800">
                <a:solidFill>
                  <a:srgbClr val="6B707A"/>
                </a:solidFill>
                <a:latin typeface="Calibri"/>
                <a:ea typeface="Calibri"/>
                <a:cs typeface="Calibri"/>
                <a:sym typeface="Calibri"/>
              </a:rPr>
              <a:t>Variables convergentes con DIABLO; rendimiento discriminativo moderado</a:t>
            </a:r>
            <a:endParaRPr b="0" i="0" sz="1800" u="none" cap="none" strike="noStrike">
              <a:solidFill>
                <a:schemeClr val="dk1"/>
              </a:solidFill>
              <a:latin typeface="Calibri"/>
              <a:ea typeface="Calibri"/>
              <a:cs typeface="Calibri"/>
              <a:sym typeface="Calibri"/>
            </a:endParaRPr>
          </a:p>
        </p:txBody>
      </p:sp>
      <p:sp>
        <p:nvSpPr>
          <p:cNvPr id="609" name="Google Shape;609;g3e5a2eb6d59_1_169"/>
          <p:cNvSpPr/>
          <p:nvPr/>
        </p:nvSpPr>
        <p:spPr>
          <a:xfrm>
            <a:off x="6695750" y="2194575"/>
            <a:ext cx="4947300" cy="4023300"/>
          </a:xfrm>
          <a:prstGeom prst="roundRect">
            <a:avLst>
              <a:gd fmla="val 2727"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10" name="Google Shape;610;g3e5a2eb6d59_1_169"/>
          <p:cNvSpPr/>
          <p:nvPr/>
        </p:nvSpPr>
        <p:spPr>
          <a:xfrm>
            <a:off x="6991449" y="2331723"/>
            <a:ext cx="47313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400"/>
              <a:buFont typeface="Calibri"/>
              <a:buNone/>
            </a:pPr>
            <a:r>
              <a:rPr b="1" i="0" lang="en-US" sz="1800" u="none" cap="none" strike="noStrike">
                <a:solidFill>
                  <a:srgbClr val="2E3138"/>
                </a:solidFill>
                <a:latin typeface="Calibri"/>
                <a:ea typeface="Calibri"/>
                <a:cs typeface="Calibri"/>
                <a:sym typeface="Calibri"/>
              </a:rPr>
              <a:t>LASSO penalizado</a:t>
            </a:r>
            <a:endParaRPr b="0" i="0" sz="1800" u="none" cap="none" strike="noStrike">
              <a:solidFill>
                <a:schemeClr val="dk1"/>
              </a:solidFill>
              <a:latin typeface="Calibri"/>
              <a:ea typeface="Calibri"/>
              <a:cs typeface="Calibri"/>
              <a:sym typeface="Calibri"/>
            </a:endParaRPr>
          </a:p>
        </p:txBody>
      </p:sp>
      <p:sp>
        <p:nvSpPr>
          <p:cNvPr id="611" name="Google Shape;611;g3e5a2eb6d59_1_169"/>
          <p:cNvSpPr/>
          <p:nvPr/>
        </p:nvSpPr>
        <p:spPr>
          <a:xfrm>
            <a:off x="6991449" y="2788925"/>
            <a:ext cx="47313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4000"/>
              <a:buFont typeface="Calibri"/>
              <a:buNone/>
            </a:pPr>
            <a:r>
              <a:rPr b="1" i="0" lang="en-US" sz="4400" u="none" cap="none" strike="noStrike">
                <a:solidFill>
                  <a:srgbClr val="0F6B78"/>
                </a:solidFill>
                <a:latin typeface="Calibri"/>
                <a:ea typeface="Calibri"/>
                <a:cs typeface="Calibri"/>
                <a:sym typeface="Calibri"/>
              </a:rPr>
              <a:t>0,554 – 0,663</a:t>
            </a:r>
            <a:endParaRPr b="0" i="0" sz="4400" u="none" cap="none" strike="noStrike">
              <a:solidFill>
                <a:schemeClr val="dk1"/>
              </a:solidFill>
              <a:latin typeface="Calibri"/>
              <a:ea typeface="Calibri"/>
              <a:cs typeface="Calibri"/>
              <a:sym typeface="Calibri"/>
            </a:endParaRPr>
          </a:p>
        </p:txBody>
      </p:sp>
      <p:sp>
        <p:nvSpPr>
          <p:cNvPr id="612" name="Google Shape;612;g3e5a2eb6d59_1_169"/>
          <p:cNvSpPr/>
          <p:nvPr/>
        </p:nvSpPr>
        <p:spPr>
          <a:xfrm>
            <a:off x="6991450" y="3657600"/>
            <a:ext cx="43581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200"/>
              <a:buFont typeface="Calibri"/>
              <a:buNone/>
            </a:pPr>
            <a:r>
              <a:rPr b="0" i="0" lang="en-US" sz="1600" u="none" cap="none" strike="noStrike">
                <a:solidFill>
                  <a:srgbClr val="6B707A"/>
                </a:solidFill>
                <a:latin typeface="Calibri"/>
                <a:ea typeface="Calibri"/>
                <a:cs typeface="Calibri"/>
                <a:sym typeface="Calibri"/>
              </a:rPr>
              <a:t>AUC validación cruzada (por desenlace)</a:t>
            </a:r>
            <a:endParaRPr b="0" i="0" sz="1600" u="none" cap="none" strike="noStrike">
              <a:solidFill>
                <a:schemeClr val="dk1"/>
              </a:solidFill>
              <a:latin typeface="Calibri"/>
              <a:ea typeface="Calibri"/>
              <a:cs typeface="Calibri"/>
              <a:sym typeface="Calibri"/>
            </a:endParaRPr>
          </a:p>
        </p:txBody>
      </p:sp>
      <p:sp>
        <p:nvSpPr>
          <p:cNvPr id="613" name="Google Shape;613;g3e5a2eb6d59_1_169"/>
          <p:cNvSpPr/>
          <p:nvPr/>
        </p:nvSpPr>
        <p:spPr>
          <a:xfrm>
            <a:off x="6991450" y="4206250"/>
            <a:ext cx="4358100" cy="1783200"/>
          </a:xfrm>
          <a:prstGeom prst="rect">
            <a:avLst/>
          </a:prstGeom>
          <a:noFill/>
          <a:ln>
            <a:noFill/>
          </a:ln>
        </p:spPr>
        <p:txBody>
          <a:bodyPr anchorCtr="0" anchor="t" bIns="45700" lIns="91425" spcFirstLastPara="1" rIns="91425" wrap="square" tIns="45700">
            <a:noAutofit/>
          </a:bodyPr>
          <a:lstStyle/>
          <a:p>
            <a:pPr indent="-361950" lvl="0" marL="342900" marR="0" rtl="0" algn="just">
              <a:lnSpc>
                <a:spcPct val="115000"/>
              </a:lnSpc>
              <a:spcBef>
                <a:spcPts val="0"/>
              </a:spcBef>
              <a:spcAft>
                <a:spcPts val="0"/>
              </a:spcAft>
              <a:buClr>
                <a:srgbClr val="2E3138"/>
              </a:buClr>
              <a:buSzPts val="1550"/>
              <a:buFont typeface="Calibri"/>
              <a:buChar char="•"/>
            </a:pPr>
            <a:r>
              <a:rPr b="0" i="0" lang="en-US" sz="1550" u="none" cap="none" strike="noStrike">
                <a:solidFill>
                  <a:srgbClr val="2E3138"/>
                </a:solidFill>
                <a:latin typeface="Calibri"/>
                <a:ea typeface="Calibri"/>
                <a:cs typeface="Calibri"/>
                <a:sym typeface="Calibri"/>
              </a:rPr>
              <a:t>Selección de variables candidatas asociadas a actividad.</a:t>
            </a:r>
            <a:endParaRPr b="0" i="0" sz="1550" u="none" cap="none" strike="noStrike">
              <a:solidFill>
                <a:schemeClr val="dk1"/>
              </a:solidFill>
              <a:latin typeface="Calibri"/>
              <a:ea typeface="Calibri"/>
              <a:cs typeface="Calibri"/>
              <a:sym typeface="Calibri"/>
            </a:endParaRPr>
          </a:p>
          <a:p>
            <a:pPr indent="-361950" lvl="0" marL="342900" marR="0" rtl="0" algn="just">
              <a:lnSpc>
                <a:spcPct val="115000"/>
              </a:lnSpc>
              <a:spcBef>
                <a:spcPts val="600"/>
              </a:spcBef>
              <a:spcAft>
                <a:spcPts val="0"/>
              </a:spcAft>
              <a:buClr>
                <a:srgbClr val="2E3138"/>
              </a:buClr>
              <a:buSzPts val="1550"/>
              <a:buFont typeface="Calibri"/>
              <a:buChar char="•"/>
            </a:pPr>
            <a:r>
              <a:rPr b="0" i="0" lang="en-US" sz="1550" u="none" cap="none" strike="noStrike">
                <a:solidFill>
                  <a:srgbClr val="2E3138"/>
                </a:solidFill>
                <a:latin typeface="Calibri"/>
                <a:ea typeface="Calibri"/>
                <a:cs typeface="Calibri"/>
                <a:sym typeface="Calibri"/>
              </a:rPr>
              <a:t>Rendimiento discriminativo limitado en todos los desenlaces.</a:t>
            </a:r>
            <a:endParaRPr b="0" i="0" sz="1550" u="none" cap="none" strike="noStrike">
              <a:solidFill>
                <a:schemeClr val="dk1"/>
              </a:solidFill>
              <a:latin typeface="Calibri"/>
              <a:ea typeface="Calibri"/>
              <a:cs typeface="Calibri"/>
              <a:sym typeface="Calibri"/>
            </a:endParaRPr>
          </a:p>
          <a:p>
            <a:pPr indent="-361950" lvl="0" marL="342900" marR="0" rtl="0" algn="just">
              <a:lnSpc>
                <a:spcPct val="115000"/>
              </a:lnSpc>
              <a:spcBef>
                <a:spcPts val="600"/>
              </a:spcBef>
              <a:spcAft>
                <a:spcPts val="0"/>
              </a:spcAft>
              <a:buClr>
                <a:srgbClr val="2E3138"/>
              </a:buClr>
              <a:buSzPts val="1550"/>
              <a:buFont typeface="Calibri"/>
              <a:buChar char="•"/>
            </a:pPr>
            <a:r>
              <a:rPr b="0" i="0" lang="en-US" sz="1550" u="none" cap="none" strike="noStrike">
                <a:solidFill>
                  <a:srgbClr val="2E3138"/>
                </a:solidFill>
                <a:latin typeface="Calibri"/>
                <a:ea typeface="Calibri"/>
                <a:cs typeface="Calibri"/>
                <a:sym typeface="Calibri"/>
              </a:rPr>
              <a:t>No constituye una validación clínica definitiva.</a:t>
            </a:r>
            <a:endParaRPr b="0" i="0" sz="1550" u="none" cap="none" strike="noStrike">
              <a:solidFill>
                <a:schemeClr val="dk1"/>
              </a:solidFill>
              <a:latin typeface="Calibri"/>
              <a:ea typeface="Calibri"/>
              <a:cs typeface="Calibri"/>
              <a:sym typeface="Calibri"/>
            </a:endParaRPr>
          </a:p>
        </p:txBody>
      </p:sp>
      <p:sp>
        <p:nvSpPr>
          <p:cNvPr id="614" name="Google Shape;614;g3e5a2eb6d59_1_169"/>
          <p:cNvSpPr/>
          <p:nvPr/>
        </p:nvSpPr>
        <p:spPr>
          <a:xfrm>
            <a:off x="548640" y="6355080"/>
            <a:ext cx="11094300" cy="11100"/>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g3e5a2eb6d59_1_169"/>
          <p:cNvSpPr/>
          <p:nvPr/>
        </p:nvSpPr>
        <p:spPr>
          <a:xfrm>
            <a:off x="548640" y="6446520"/>
            <a:ext cx="7315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616" name="Google Shape;616;g3e5a2eb6d59_1_169"/>
          <p:cNvSpPr/>
          <p:nvPr/>
        </p:nvSpPr>
        <p:spPr>
          <a:xfrm>
            <a:off x="7071055" y="6446520"/>
            <a:ext cx="4572000" cy="27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
        <p:nvSpPr>
          <p:cNvPr id="617" name="Google Shape;617;g3e5a2eb6d59_1_169"/>
          <p:cNvSpPr/>
          <p:nvPr/>
        </p:nvSpPr>
        <p:spPr>
          <a:xfrm>
            <a:off x="548650" y="2194650"/>
            <a:ext cx="5961900" cy="3248100"/>
          </a:xfrm>
          <a:prstGeom prst="roundRect">
            <a:avLst>
              <a:gd fmla="val 2727"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618" name="Google Shape;618;g3e5a2eb6d59_1_169"/>
          <p:cNvSpPr/>
          <p:nvPr/>
        </p:nvSpPr>
        <p:spPr>
          <a:xfrm>
            <a:off x="548754" y="2194650"/>
            <a:ext cx="5961900" cy="508500"/>
          </a:xfrm>
          <a:prstGeom prst="rect">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619" name="Google Shape;619;g3e5a2eb6d59_1_169"/>
          <p:cNvSpPr/>
          <p:nvPr/>
        </p:nvSpPr>
        <p:spPr>
          <a:xfrm>
            <a:off x="600448" y="2233793"/>
            <a:ext cx="1992000" cy="39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00"/>
              <a:buFont typeface="Calibri"/>
              <a:buNone/>
            </a:pPr>
            <a:r>
              <a:rPr b="1" i="0" lang="en-US" sz="1900" u="none" cap="none" strike="noStrike">
                <a:solidFill>
                  <a:srgbClr val="2E3138"/>
                </a:solidFill>
                <a:latin typeface="Calibri"/>
                <a:ea typeface="Calibri"/>
                <a:cs typeface="Calibri"/>
                <a:sym typeface="Calibri"/>
              </a:rPr>
              <a:t>DESENLACE</a:t>
            </a:r>
            <a:endParaRPr b="0" i="0" sz="1900" u="none" cap="none" strike="noStrike">
              <a:solidFill>
                <a:schemeClr val="dk1"/>
              </a:solidFill>
              <a:latin typeface="Calibri"/>
              <a:ea typeface="Calibri"/>
              <a:cs typeface="Calibri"/>
              <a:sym typeface="Calibri"/>
            </a:endParaRPr>
          </a:p>
        </p:txBody>
      </p:sp>
      <p:sp>
        <p:nvSpPr>
          <p:cNvPr id="620" name="Google Shape;620;g3e5a2eb6d59_1_169"/>
          <p:cNvSpPr/>
          <p:nvPr/>
        </p:nvSpPr>
        <p:spPr>
          <a:xfrm>
            <a:off x="2596708" y="2296488"/>
            <a:ext cx="953400" cy="313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00"/>
              <a:buFont typeface="Calibri"/>
              <a:buNone/>
            </a:pPr>
            <a:r>
              <a:rPr b="1" lang="en-US" sz="1900">
                <a:solidFill>
                  <a:srgbClr val="2E3138"/>
                </a:solidFill>
                <a:latin typeface="Calibri"/>
                <a:ea typeface="Calibri"/>
                <a:cs typeface="Calibri"/>
                <a:sym typeface="Calibri"/>
              </a:rPr>
              <a:t>AUC CV</a:t>
            </a:r>
            <a:endParaRPr b="0" i="0" sz="1900" u="none" cap="none" strike="noStrike">
              <a:solidFill>
                <a:schemeClr val="dk1"/>
              </a:solidFill>
              <a:latin typeface="Calibri"/>
              <a:ea typeface="Calibri"/>
              <a:cs typeface="Calibri"/>
              <a:sym typeface="Calibri"/>
            </a:endParaRPr>
          </a:p>
        </p:txBody>
      </p:sp>
      <p:sp>
        <p:nvSpPr>
          <p:cNvPr id="621" name="Google Shape;621;g3e5a2eb6d59_1_169"/>
          <p:cNvSpPr/>
          <p:nvPr/>
        </p:nvSpPr>
        <p:spPr>
          <a:xfrm>
            <a:off x="3639002" y="2272821"/>
            <a:ext cx="2871600" cy="39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000"/>
              <a:buFont typeface="Calibri"/>
              <a:buNone/>
            </a:pPr>
            <a:r>
              <a:rPr b="1" lang="en-US" sz="1900">
                <a:solidFill>
                  <a:srgbClr val="2E3138"/>
                </a:solidFill>
                <a:latin typeface="Calibri"/>
                <a:ea typeface="Calibri"/>
                <a:cs typeface="Calibri"/>
                <a:sym typeface="Calibri"/>
              </a:rPr>
              <a:t>VARIABLES</a:t>
            </a:r>
            <a:endParaRPr b="0" i="0" sz="1900" u="none" cap="none" strike="noStrike">
              <a:solidFill>
                <a:schemeClr val="dk1"/>
              </a:solidFill>
              <a:latin typeface="Calibri"/>
              <a:ea typeface="Calibri"/>
              <a:cs typeface="Calibri"/>
              <a:sym typeface="Calibri"/>
            </a:endParaRPr>
          </a:p>
        </p:txBody>
      </p:sp>
      <p:sp>
        <p:nvSpPr>
          <p:cNvPr id="622" name="Google Shape;622;g3e5a2eb6d59_1_169"/>
          <p:cNvSpPr/>
          <p:nvPr/>
        </p:nvSpPr>
        <p:spPr>
          <a:xfrm>
            <a:off x="548728" y="2703349"/>
            <a:ext cx="5961900" cy="66600"/>
          </a:xfrm>
          <a:prstGeom prst="rect">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623" name="Google Shape;623;g3e5a2eb6d59_1_169"/>
          <p:cNvSpPr/>
          <p:nvPr/>
        </p:nvSpPr>
        <p:spPr>
          <a:xfrm>
            <a:off x="647873" y="2781677"/>
            <a:ext cx="18969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SLEDAI-2K</a:t>
            </a:r>
            <a:endParaRPr b="0" i="0" sz="1750" u="none" cap="none" strike="noStrike">
              <a:solidFill>
                <a:schemeClr val="dk1"/>
              </a:solidFill>
              <a:latin typeface="Calibri"/>
              <a:ea typeface="Calibri"/>
              <a:cs typeface="Calibri"/>
              <a:sym typeface="Calibri"/>
            </a:endParaRPr>
          </a:p>
        </p:txBody>
      </p:sp>
      <p:sp>
        <p:nvSpPr>
          <p:cNvPr id="624" name="Google Shape;624;g3e5a2eb6d59_1_169"/>
          <p:cNvSpPr/>
          <p:nvPr/>
        </p:nvSpPr>
        <p:spPr>
          <a:xfrm>
            <a:off x="2596707" y="2781669"/>
            <a:ext cx="9534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lang="en-US" sz="1750">
                <a:solidFill>
                  <a:srgbClr val="0F6B78"/>
                </a:solidFill>
                <a:latin typeface="Calibri"/>
                <a:ea typeface="Calibri"/>
                <a:cs typeface="Calibri"/>
                <a:sym typeface="Calibri"/>
              </a:rPr>
              <a:t>0,630</a:t>
            </a:r>
            <a:endParaRPr b="0" i="0" sz="1750" u="none" cap="none" strike="noStrike">
              <a:solidFill>
                <a:schemeClr val="dk1"/>
              </a:solidFill>
              <a:latin typeface="Calibri"/>
              <a:ea typeface="Calibri"/>
              <a:cs typeface="Calibri"/>
              <a:sym typeface="Calibri"/>
            </a:endParaRPr>
          </a:p>
        </p:txBody>
      </p:sp>
      <p:sp>
        <p:nvSpPr>
          <p:cNvPr id="625" name="Google Shape;625;g3e5a2eb6d59_1_169"/>
          <p:cNvSpPr/>
          <p:nvPr/>
        </p:nvSpPr>
        <p:spPr>
          <a:xfrm>
            <a:off x="3639006" y="2742444"/>
            <a:ext cx="28716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lang="en-US" sz="1750">
                <a:solidFill>
                  <a:srgbClr val="A84B2F"/>
                </a:solidFill>
                <a:latin typeface="Calibri"/>
                <a:ea typeface="Calibri"/>
                <a:cs typeface="Calibri"/>
                <a:sym typeface="Calibri"/>
              </a:rPr>
              <a:t>6 (</a:t>
            </a:r>
            <a:r>
              <a:rPr b="1" lang="en-US" sz="1750">
                <a:solidFill>
                  <a:srgbClr val="A84B2F"/>
                </a:solidFill>
                <a:latin typeface="Calibri"/>
                <a:ea typeface="Calibri"/>
                <a:cs typeface="Calibri"/>
                <a:sym typeface="Calibri"/>
              </a:rPr>
              <a:t>C3 · C4 </a:t>
            </a:r>
            <a:r>
              <a:rPr lang="en-US" sz="1750">
                <a:solidFill>
                  <a:srgbClr val="A84B2F"/>
                </a:solidFill>
                <a:latin typeface="Calibri"/>
                <a:ea typeface="Calibri"/>
                <a:cs typeface="Calibri"/>
                <a:sym typeface="Calibri"/>
              </a:rPr>
              <a:t>· </a:t>
            </a:r>
            <a:r>
              <a:rPr lang="en-US" sz="1750">
                <a:solidFill>
                  <a:srgbClr val="A84B2F"/>
                </a:solidFill>
                <a:latin typeface="Calibri"/>
                <a:ea typeface="Calibri"/>
                <a:cs typeface="Calibri"/>
                <a:sym typeface="Calibri"/>
              </a:rPr>
              <a:t>TAG</a:t>
            </a:r>
            <a:r>
              <a:rPr lang="en-US" sz="1750">
                <a:solidFill>
                  <a:srgbClr val="A84B2F"/>
                </a:solidFill>
                <a:latin typeface="Calibri"/>
                <a:ea typeface="Calibri"/>
                <a:cs typeface="Calibri"/>
                <a:sym typeface="Calibri"/>
              </a:rPr>
              <a:t> · Eje IFN) </a:t>
            </a:r>
            <a:endParaRPr b="0" i="0" sz="1750" u="none" cap="none" strike="noStrike">
              <a:solidFill>
                <a:schemeClr val="dk1"/>
              </a:solidFill>
              <a:latin typeface="Calibri"/>
              <a:ea typeface="Calibri"/>
              <a:cs typeface="Calibri"/>
              <a:sym typeface="Calibri"/>
            </a:endParaRPr>
          </a:p>
        </p:txBody>
      </p:sp>
      <p:sp>
        <p:nvSpPr>
          <p:cNvPr id="626" name="Google Shape;626;g3e5a2eb6d59_1_169"/>
          <p:cNvSpPr/>
          <p:nvPr/>
        </p:nvSpPr>
        <p:spPr>
          <a:xfrm>
            <a:off x="548650" y="3298263"/>
            <a:ext cx="5961900" cy="516600"/>
          </a:xfrm>
          <a:prstGeom prst="rect">
            <a:avLst/>
          </a:prstGeom>
          <a:solidFill>
            <a:srgbClr val="F2F3F5"/>
          </a:solidFill>
          <a:ln cap="flat" cmpd="sng" w="12700">
            <a:solidFill>
              <a:srgbClr val="F2F3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627" name="Google Shape;627;g3e5a2eb6d59_1_169"/>
          <p:cNvSpPr/>
          <p:nvPr/>
        </p:nvSpPr>
        <p:spPr>
          <a:xfrm>
            <a:off x="647873" y="3298254"/>
            <a:ext cx="18969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SLE-DAS</a:t>
            </a:r>
            <a:endParaRPr b="0" i="0" sz="1750" u="none" cap="none" strike="noStrike">
              <a:solidFill>
                <a:schemeClr val="dk1"/>
              </a:solidFill>
              <a:latin typeface="Calibri"/>
              <a:ea typeface="Calibri"/>
              <a:cs typeface="Calibri"/>
              <a:sym typeface="Calibri"/>
            </a:endParaRPr>
          </a:p>
        </p:txBody>
      </p:sp>
      <p:sp>
        <p:nvSpPr>
          <p:cNvPr id="628" name="Google Shape;628;g3e5a2eb6d59_1_169"/>
          <p:cNvSpPr/>
          <p:nvPr/>
        </p:nvSpPr>
        <p:spPr>
          <a:xfrm>
            <a:off x="2596707" y="3298263"/>
            <a:ext cx="9534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lang="en-US" sz="1750">
                <a:solidFill>
                  <a:srgbClr val="0F6B78"/>
                </a:solidFill>
                <a:latin typeface="Calibri"/>
                <a:ea typeface="Calibri"/>
                <a:cs typeface="Calibri"/>
                <a:sym typeface="Calibri"/>
              </a:rPr>
              <a:t>0,614</a:t>
            </a:r>
            <a:endParaRPr b="0" i="0" sz="1750" u="none" cap="none" strike="noStrike">
              <a:solidFill>
                <a:schemeClr val="dk1"/>
              </a:solidFill>
              <a:latin typeface="Calibri"/>
              <a:ea typeface="Calibri"/>
              <a:cs typeface="Calibri"/>
              <a:sym typeface="Calibri"/>
            </a:endParaRPr>
          </a:p>
        </p:txBody>
      </p:sp>
      <p:sp>
        <p:nvSpPr>
          <p:cNvPr id="629" name="Google Shape;629;g3e5a2eb6d59_1_169"/>
          <p:cNvSpPr/>
          <p:nvPr/>
        </p:nvSpPr>
        <p:spPr>
          <a:xfrm>
            <a:off x="3638903" y="3298177"/>
            <a:ext cx="28716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lang="en-US" sz="1750">
                <a:solidFill>
                  <a:srgbClr val="A84B2F"/>
                </a:solidFill>
                <a:latin typeface="Calibri"/>
                <a:ea typeface="Calibri"/>
                <a:cs typeface="Calibri"/>
                <a:sym typeface="Calibri"/>
              </a:rPr>
              <a:t>2 (</a:t>
            </a:r>
            <a:r>
              <a:rPr b="1" i="0" lang="en-US" sz="1750" u="none" cap="none" strike="noStrike">
                <a:solidFill>
                  <a:srgbClr val="A84B2F"/>
                </a:solidFill>
                <a:latin typeface="Calibri"/>
                <a:ea typeface="Calibri"/>
                <a:cs typeface="Calibri"/>
                <a:sym typeface="Calibri"/>
              </a:rPr>
              <a:t>Apo A-I </a:t>
            </a:r>
            <a:r>
              <a:rPr b="0" i="0" lang="en-US" sz="1750" u="none" cap="none" strike="noStrike">
                <a:solidFill>
                  <a:srgbClr val="A84B2F"/>
                </a:solidFill>
                <a:latin typeface="Calibri"/>
                <a:ea typeface="Calibri"/>
                <a:cs typeface="Calibri"/>
                <a:sym typeface="Calibri"/>
              </a:rPr>
              <a:t>· </a:t>
            </a:r>
            <a:r>
              <a:rPr lang="en-US" sz="1750">
                <a:solidFill>
                  <a:srgbClr val="A84B2F"/>
                </a:solidFill>
                <a:latin typeface="Calibri"/>
                <a:ea typeface="Calibri"/>
                <a:cs typeface="Calibri"/>
                <a:sym typeface="Calibri"/>
              </a:rPr>
              <a:t>IFI27)</a:t>
            </a:r>
            <a:endParaRPr b="0" i="0" sz="1750" u="none" cap="none" strike="noStrike">
              <a:solidFill>
                <a:schemeClr val="dk1"/>
              </a:solidFill>
              <a:latin typeface="Calibri"/>
              <a:ea typeface="Calibri"/>
              <a:cs typeface="Calibri"/>
              <a:sym typeface="Calibri"/>
            </a:endParaRPr>
          </a:p>
        </p:txBody>
      </p:sp>
      <p:sp>
        <p:nvSpPr>
          <p:cNvPr id="630" name="Google Shape;630;g3e5a2eb6d59_1_169"/>
          <p:cNvSpPr/>
          <p:nvPr/>
        </p:nvSpPr>
        <p:spPr>
          <a:xfrm>
            <a:off x="647873" y="3814830"/>
            <a:ext cx="18969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SLICC-DI</a:t>
            </a:r>
            <a:endParaRPr b="0" i="0" sz="1750" u="none" cap="none" strike="noStrike">
              <a:solidFill>
                <a:schemeClr val="dk1"/>
              </a:solidFill>
              <a:latin typeface="Calibri"/>
              <a:ea typeface="Calibri"/>
              <a:cs typeface="Calibri"/>
              <a:sym typeface="Calibri"/>
            </a:endParaRPr>
          </a:p>
        </p:txBody>
      </p:sp>
      <p:sp>
        <p:nvSpPr>
          <p:cNvPr id="631" name="Google Shape;631;g3e5a2eb6d59_1_169"/>
          <p:cNvSpPr/>
          <p:nvPr/>
        </p:nvSpPr>
        <p:spPr>
          <a:xfrm>
            <a:off x="2596707" y="3814836"/>
            <a:ext cx="9534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lang="en-US" sz="1750">
                <a:solidFill>
                  <a:srgbClr val="0F6B78"/>
                </a:solidFill>
                <a:latin typeface="Calibri"/>
                <a:ea typeface="Calibri"/>
                <a:cs typeface="Calibri"/>
                <a:sym typeface="Calibri"/>
              </a:rPr>
              <a:t>0,625</a:t>
            </a:r>
            <a:endParaRPr b="0" i="0" sz="1750" u="none" cap="none" strike="noStrike">
              <a:solidFill>
                <a:schemeClr val="dk1"/>
              </a:solidFill>
              <a:latin typeface="Calibri"/>
              <a:ea typeface="Calibri"/>
              <a:cs typeface="Calibri"/>
              <a:sym typeface="Calibri"/>
            </a:endParaRPr>
          </a:p>
        </p:txBody>
      </p:sp>
      <p:sp>
        <p:nvSpPr>
          <p:cNvPr id="632" name="Google Shape;632;g3e5a2eb6d59_1_169"/>
          <p:cNvSpPr/>
          <p:nvPr/>
        </p:nvSpPr>
        <p:spPr>
          <a:xfrm>
            <a:off x="3638994" y="3795213"/>
            <a:ext cx="28716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lang="en-US" sz="1750">
                <a:solidFill>
                  <a:srgbClr val="A84B2F"/>
                </a:solidFill>
                <a:latin typeface="Calibri"/>
                <a:ea typeface="Calibri"/>
                <a:cs typeface="Calibri"/>
                <a:sym typeface="Calibri"/>
              </a:rPr>
              <a:t>3 (</a:t>
            </a:r>
            <a:r>
              <a:rPr b="1" i="0" lang="en-US" sz="1750" u="none" cap="none" strike="noStrike">
                <a:solidFill>
                  <a:srgbClr val="A84B2F"/>
                </a:solidFill>
                <a:latin typeface="Calibri"/>
                <a:ea typeface="Calibri"/>
                <a:cs typeface="Calibri"/>
                <a:sym typeface="Calibri"/>
              </a:rPr>
              <a:t>creatinina</a:t>
            </a:r>
            <a:r>
              <a:rPr b="0" i="0" lang="en-US" sz="1750" u="none" cap="none" strike="noStrike">
                <a:solidFill>
                  <a:srgbClr val="A84B2F"/>
                </a:solidFill>
                <a:latin typeface="Calibri"/>
                <a:ea typeface="Calibri"/>
                <a:cs typeface="Calibri"/>
                <a:sym typeface="Calibri"/>
              </a:rPr>
              <a:t> </a:t>
            </a:r>
            <a:r>
              <a:rPr lang="en-US" sz="1750">
                <a:solidFill>
                  <a:srgbClr val="A84B2F"/>
                </a:solidFill>
                <a:latin typeface="Calibri"/>
                <a:ea typeface="Calibri"/>
                <a:cs typeface="Calibri"/>
                <a:sym typeface="Calibri"/>
              </a:rPr>
              <a:t>· BAFF · TRIM38)</a:t>
            </a:r>
            <a:endParaRPr b="0" i="0" sz="1750" u="none" cap="none" strike="noStrike">
              <a:solidFill>
                <a:schemeClr val="dk1"/>
              </a:solidFill>
              <a:latin typeface="Calibri"/>
              <a:ea typeface="Calibri"/>
              <a:cs typeface="Calibri"/>
              <a:sym typeface="Calibri"/>
            </a:endParaRPr>
          </a:p>
        </p:txBody>
      </p:sp>
      <p:sp>
        <p:nvSpPr>
          <p:cNvPr id="633" name="Google Shape;633;g3e5a2eb6d59_1_169"/>
          <p:cNvSpPr/>
          <p:nvPr/>
        </p:nvSpPr>
        <p:spPr>
          <a:xfrm>
            <a:off x="548650" y="4331409"/>
            <a:ext cx="5961900" cy="516600"/>
          </a:xfrm>
          <a:prstGeom prst="rect">
            <a:avLst/>
          </a:prstGeom>
          <a:solidFill>
            <a:srgbClr val="F2F3F5"/>
          </a:solidFill>
          <a:ln cap="flat" cmpd="sng" w="12700">
            <a:solidFill>
              <a:srgbClr val="F2F3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900"/>
          </a:p>
        </p:txBody>
      </p:sp>
      <p:sp>
        <p:nvSpPr>
          <p:cNvPr id="634" name="Google Shape;634;g3e5a2eb6d59_1_169"/>
          <p:cNvSpPr/>
          <p:nvPr/>
        </p:nvSpPr>
        <p:spPr>
          <a:xfrm>
            <a:off x="647873" y="4331406"/>
            <a:ext cx="18969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DORIS</a:t>
            </a:r>
            <a:endParaRPr b="0" i="0" sz="1750" u="none" cap="none" strike="noStrike">
              <a:solidFill>
                <a:schemeClr val="dk1"/>
              </a:solidFill>
              <a:latin typeface="Calibri"/>
              <a:ea typeface="Calibri"/>
              <a:cs typeface="Calibri"/>
              <a:sym typeface="Calibri"/>
            </a:endParaRPr>
          </a:p>
        </p:txBody>
      </p:sp>
      <p:sp>
        <p:nvSpPr>
          <p:cNvPr id="635" name="Google Shape;635;g3e5a2eb6d59_1_169"/>
          <p:cNvSpPr/>
          <p:nvPr/>
        </p:nvSpPr>
        <p:spPr>
          <a:xfrm>
            <a:off x="2596707" y="4331409"/>
            <a:ext cx="9534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lang="en-US" sz="1750">
                <a:solidFill>
                  <a:srgbClr val="0F6B78"/>
                </a:solidFill>
                <a:latin typeface="Calibri"/>
                <a:ea typeface="Calibri"/>
                <a:cs typeface="Calibri"/>
                <a:sym typeface="Calibri"/>
              </a:rPr>
              <a:t>0,554</a:t>
            </a:r>
            <a:endParaRPr b="0" i="0" sz="1750" u="none" cap="none" strike="noStrike">
              <a:solidFill>
                <a:schemeClr val="dk1"/>
              </a:solidFill>
              <a:latin typeface="Calibri"/>
              <a:ea typeface="Calibri"/>
              <a:cs typeface="Calibri"/>
              <a:sym typeface="Calibri"/>
            </a:endParaRPr>
          </a:p>
        </p:txBody>
      </p:sp>
      <p:sp>
        <p:nvSpPr>
          <p:cNvPr id="636" name="Google Shape;636;g3e5a2eb6d59_1_169"/>
          <p:cNvSpPr/>
          <p:nvPr/>
        </p:nvSpPr>
        <p:spPr>
          <a:xfrm>
            <a:off x="3638902" y="4331580"/>
            <a:ext cx="28716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lang="en-US" sz="1750">
                <a:solidFill>
                  <a:srgbClr val="A84B2F"/>
                </a:solidFill>
                <a:latin typeface="Calibri"/>
                <a:ea typeface="Calibri"/>
                <a:cs typeface="Calibri"/>
                <a:sym typeface="Calibri"/>
              </a:rPr>
              <a:t>2 (</a:t>
            </a:r>
            <a:r>
              <a:rPr b="1" i="0" lang="en-US" sz="1750" u="none" cap="none" strike="noStrike">
                <a:solidFill>
                  <a:srgbClr val="A84B2F"/>
                </a:solidFill>
                <a:latin typeface="Calibri"/>
                <a:ea typeface="Calibri"/>
                <a:cs typeface="Calibri"/>
                <a:sym typeface="Calibri"/>
              </a:rPr>
              <a:t>IFN-α </a:t>
            </a:r>
            <a:r>
              <a:rPr b="0" i="0" lang="en-US" sz="1750" u="none" cap="none" strike="noStrike">
                <a:solidFill>
                  <a:srgbClr val="A84B2F"/>
                </a:solidFill>
                <a:latin typeface="Calibri"/>
                <a:ea typeface="Calibri"/>
                <a:cs typeface="Calibri"/>
                <a:sym typeface="Calibri"/>
              </a:rPr>
              <a:t>· </a:t>
            </a:r>
            <a:r>
              <a:rPr lang="en-US" sz="1750">
                <a:solidFill>
                  <a:srgbClr val="A84B2F"/>
                </a:solidFill>
                <a:latin typeface="Calibri"/>
                <a:ea typeface="Calibri"/>
                <a:cs typeface="Calibri"/>
                <a:sym typeface="Calibri"/>
              </a:rPr>
              <a:t>IFI27)</a:t>
            </a:r>
            <a:endParaRPr b="0" i="0" sz="1750" u="none" cap="none" strike="noStrike">
              <a:solidFill>
                <a:schemeClr val="dk1"/>
              </a:solidFill>
              <a:latin typeface="Calibri"/>
              <a:ea typeface="Calibri"/>
              <a:cs typeface="Calibri"/>
              <a:sym typeface="Calibri"/>
            </a:endParaRPr>
          </a:p>
        </p:txBody>
      </p:sp>
      <p:sp>
        <p:nvSpPr>
          <p:cNvPr id="637" name="Google Shape;637;g3e5a2eb6d59_1_169"/>
          <p:cNvSpPr/>
          <p:nvPr/>
        </p:nvSpPr>
        <p:spPr>
          <a:xfrm>
            <a:off x="647873" y="4847983"/>
            <a:ext cx="18969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1250"/>
              <a:buFont typeface="Calibri"/>
              <a:buNone/>
            </a:pPr>
            <a:r>
              <a:rPr b="1" i="0" lang="en-US" sz="1750" u="none" cap="none" strike="noStrike">
                <a:solidFill>
                  <a:srgbClr val="2E3138"/>
                </a:solidFill>
                <a:latin typeface="Calibri"/>
                <a:ea typeface="Calibri"/>
                <a:cs typeface="Calibri"/>
                <a:sym typeface="Calibri"/>
              </a:rPr>
              <a:t>Remisión estricta</a:t>
            </a:r>
            <a:endParaRPr b="0" i="0" sz="1750" u="none" cap="none" strike="noStrike">
              <a:solidFill>
                <a:schemeClr val="dk1"/>
              </a:solidFill>
              <a:latin typeface="Calibri"/>
              <a:ea typeface="Calibri"/>
              <a:cs typeface="Calibri"/>
              <a:sym typeface="Calibri"/>
            </a:endParaRPr>
          </a:p>
        </p:txBody>
      </p:sp>
      <p:sp>
        <p:nvSpPr>
          <p:cNvPr id="638" name="Google Shape;638;g3e5a2eb6d59_1_169"/>
          <p:cNvSpPr/>
          <p:nvPr/>
        </p:nvSpPr>
        <p:spPr>
          <a:xfrm>
            <a:off x="2596707" y="4847982"/>
            <a:ext cx="9534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250"/>
              <a:buFont typeface="Calibri"/>
              <a:buNone/>
            </a:pPr>
            <a:r>
              <a:rPr lang="en-US" sz="1750">
                <a:solidFill>
                  <a:srgbClr val="0F6B78"/>
                </a:solidFill>
                <a:latin typeface="Calibri"/>
                <a:ea typeface="Calibri"/>
                <a:cs typeface="Calibri"/>
                <a:sym typeface="Calibri"/>
              </a:rPr>
              <a:t>0,663</a:t>
            </a:r>
            <a:endParaRPr b="0" i="0" sz="1750" u="none" cap="none" strike="noStrike">
              <a:solidFill>
                <a:schemeClr val="dk1"/>
              </a:solidFill>
              <a:latin typeface="Calibri"/>
              <a:ea typeface="Calibri"/>
              <a:cs typeface="Calibri"/>
              <a:sym typeface="Calibri"/>
            </a:endParaRPr>
          </a:p>
        </p:txBody>
      </p:sp>
      <p:sp>
        <p:nvSpPr>
          <p:cNvPr id="639" name="Google Shape;639;g3e5a2eb6d59_1_169"/>
          <p:cNvSpPr/>
          <p:nvPr/>
        </p:nvSpPr>
        <p:spPr>
          <a:xfrm>
            <a:off x="3639006" y="4867947"/>
            <a:ext cx="2871600" cy="516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4B2F"/>
              </a:buClr>
              <a:buSzPts val="1250"/>
              <a:buFont typeface="Calibri"/>
              <a:buNone/>
            </a:pPr>
            <a:r>
              <a:rPr lang="en-US" sz="1750">
                <a:solidFill>
                  <a:srgbClr val="A84B2F"/>
                </a:solidFill>
                <a:latin typeface="Calibri"/>
                <a:ea typeface="Calibri"/>
                <a:cs typeface="Calibri"/>
                <a:sym typeface="Calibri"/>
              </a:rPr>
              <a:t>26 (Proteoma</a:t>
            </a:r>
            <a:r>
              <a:rPr lang="en-US" sz="1750">
                <a:solidFill>
                  <a:srgbClr val="A84B2F"/>
                </a:solidFill>
                <a:latin typeface="Calibri"/>
                <a:ea typeface="Calibri"/>
                <a:cs typeface="Calibri"/>
                <a:sym typeface="Calibri"/>
              </a:rPr>
              <a:t> · Eje IFN)</a:t>
            </a:r>
            <a:endParaRPr b="0" i="0" sz="1750" u="none" cap="none" strike="noStrike">
              <a:solidFill>
                <a:schemeClr val="dk1"/>
              </a:solidFill>
              <a:latin typeface="Calibri"/>
              <a:ea typeface="Calibri"/>
              <a:cs typeface="Calibri"/>
              <a:sym typeface="Calibri"/>
            </a:endParaRPr>
          </a:p>
        </p:txBody>
      </p:sp>
      <p:sp>
        <p:nvSpPr>
          <p:cNvPr id="640" name="Google Shape;640;g3e5a2eb6d59_1_169"/>
          <p:cNvSpPr/>
          <p:nvPr/>
        </p:nvSpPr>
        <p:spPr>
          <a:xfrm>
            <a:off x="548750" y="5554063"/>
            <a:ext cx="5961900" cy="689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100"/>
              <a:buFont typeface="Calibri"/>
              <a:buNone/>
            </a:pPr>
            <a:r>
              <a:rPr lang="en-US">
                <a:solidFill>
                  <a:srgbClr val="6B707A"/>
                </a:solidFill>
                <a:latin typeface="Calibri"/>
                <a:ea typeface="Calibri"/>
                <a:cs typeface="Calibri"/>
                <a:sym typeface="Calibri"/>
              </a:rPr>
              <a:t>AUC CV = validación cruzada 10-fold (λ.1se) — métrica robusta preferente sobre el AUC aparente</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645" name="Shape 645"/>
        <p:cNvGrpSpPr/>
        <p:nvPr/>
      </p:nvGrpSpPr>
      <p:grpSpPr>
        <a:xfrm>
          <a:off x="0" y="0"/>
          <a:ext cx="0" cy="0"/>
          <a:chOff x="0" y="0"/>
          <a:chExt cx="0" cy="0"/>
        </a:xfrm>
      </p:grpSpPr>
      <p:sp>
        <p:nvSpPr>
          <p:cNvPr id="646" name="Google Shape;646;p19"/>
          <p:cNvSpPr/>
          <p:nvPr/>
        </p:nvSpPr>
        <p:spPr>
          <a:xfrm>
            <a:off x="640200" y="5504948"/>
            <a:ext cx="11094300" cy="560700"/>
          </a:xfrm>
          <a:prstGeom prst="roundRect">
            <a:avLst>
              <a:gd fmla="val 11765" name="adj"/>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LIMITACIONES</a:t>
            </a:r>
            <a:endParaRPr b="0" i="0" sz="1000" u="none" cap="none" strike="noStrike">
              <a:solidFill>
                <a:schemeClr val="dk1"/>
              </a:solidFill>
              <a:latin typeface="Calibri"/>
              <a:ea typeface="Calibri"/>
              <a:cs typeface="Calibri"/>
              <a:sym typeface="Calibri"/>
            </a:endParaRPr>
          </a:p>
        </p:txBody>
      </p:sp>
      <p:sp>
        <p:nvSpPr>
          <p:cNvPr id="648" name="Google Shape;648;p19"/>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19 / 20</a:t>
            </a:r>
            <a:endParaRPr b="0" i="0" sz="1000" u="none" cap="none" strike="noStrike">
              <a:solidFill>
                <a:schemeClr val="dk1"/>
              </a:solidFill>
              <a:latin typeface="Calibri"/>
              <a:ea typeface="Calibri"/>
              <a:cs typeface="Calibri"/>
              <a:sym typeface="Calibri"/>
            </a:endParaRPr>
          </a:p>
        </p:txBody>
      </p:sp>
      <p:sp>
        <p:nvSpPr>
          <p:cNvPr id="649" name="Google Shape;649;p19"/>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548640" y="800092"/>
            <a:ext cx="110943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200"/>
              <a:buFont typeface="Calibri"/>
              <a:buNone/>
            </a:pPr>
            <a:r>
              <a:rPr b="1" i="0" lang="en-US" sz="3200" u="none" cap="none" strike="noStrike">
                <a:solidFill>
                  <a:srgbClr val="2E3138"/>
                </a:solidFill>
                <a:latin typeface="Calibri"/>
                <a:ea typeface="Calibri"/>
                <a:cs typeface="Calibri"/>
                <a:sym typeface="Calibri"/>
              </a:rPr>
              <a:t>Limitaciones del estudio</a:t>
            </a:r>
            <a:endParaRPr b="0" i="0" sz="3200" u="none" cap="none" strike="noStrike">
              <a:solidFill>
                <a:schemeClr val="dk1"/>
              </a:solidFill>
              <a:latin typeface="Calibri"/>
              <a:ea typeface="Calibri"/>
              <a:cs typeface="Calibri"/>
              <a:sym typeface="Calibri"/>
            </a:endParaRPr>
          </a:p>
        </p:txBody>
      </p:sp>
      <p:sp>
        <p:nvSpPr>
          <p:cNvPr id="651" name="Google Shape;651;p19"/>
          <p:cNvSpPr/>
          <p:nvPr/>
        </p:nvSpPr>
        <p:spPr>
          <a:xfrm>
            <a:off x="640100" y="1668900"/>
            <a:ext cx="11002800" cy="3525600"/>
          </a:xfrm>
          <a:prstGeom prst="roundRect">
            <a:avLst>
              <a:gd fmla="val 2727" name="adj"/>
            </a:avLst>
          </a:prstGeom>
          <a:solidFill>
            <a:srgbClr val="EEF0F4"/>
          </a:solidFill>
          <a:ln cap="flat" cmpd="sng" w="12700">
            <a:solidFill>
              <a:srgbClr val="EEF0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52" name="Google Shape;652;p19"/>
          <p:cNvSpPr/>
          <p:nvPr/>
        </p:nvSpPr>
        <p:spPr>
          <a:xfrm>
            <a:off x="1145456" y="1943075"/>
            <a:ext cx="9992100" cy="3063300"/>
          </a:xfrm>
          <a:prstGeom prst="rect">
            <a:avLst/>
          </a:prstGeom>
          <a:noFill/>
          <a:ln>
            <a:noFill/>
          </a:ln>
        </p:spPr>
        <p:txBody>
          <a:bodyPr anchorCtr="0" anchor="t" bIns="45700" lIns="91425" spcFirstLastPara="1" rIns="91425" wrap="square" tIns="45700">
            <a:noAutofit/>
          </a:bodyPr>
          <a:lstStyle/>
          <a:p>
            <a:pPr indent="-368300" lvl="0" marL="342900" marR="0" rtl="0" algn="just">
              <a:lnSpc>
                <a:spcPct val="115000"/>
              </a:lnSpc>
              <a:spcBef>
                <a:spcPts val="0"/>
              </a:spcBef>
              <a:spcAft>
                <a:spcPts val="0"/>
              </a:spcAft>
              <a:buClr>
                <a:srgbClr val="2E3138"/>
              </a:buClr>
              <a:buSzPts val="1750"/>
              <a:buFont typeface="Calibri"/>
              <a:buChar char="•"/>
            </a:pPr>
            <a:r>
              <a:rPr lang="en-US" sz="1750">
                <a:solidFill>
                  <a:srgbClr val="2E3138"/>
                </a:solidFill>
                <a:latin typeface="Calibri"/>
                <a:ea typeface="Calibri"/>
                <a:cs typeface="Calibri"/>
                <a:sym typeface="Calibri"/>
              </a:rPr>
              <a:t>Diseño transversal → Asociaciones sin causalidad; firma IFN-I sin evaluación longitudinal. </a:t>
            </a:r>
            <a:endParaRPr sz="1750">
              <a:solidFill>
                <a:srgbClr val="2E3138"/>
              </a:solidFill>
              <a:latin typeface="Calibri"/>
              <a:ea typeface="Calibri"/>
              <a:cs typeface="Calibri"/>
              <a:sym typeface="Calibri"/>
            </a:endParaRPr>
          </a:p>
          <a:p>
            <a:pPr indent="-368300" lvl="0" marL="342900" marR="0" rtl="0" algn="just">
              <a:lnSpc>
                <a:spcPct val="115000"/>
              </a:lnSpc>
              <a:spcBef>
                <a:spcPts val="1000"/>
              </a:spcBef>
              <a:spcAft>
                <a:spcPts val="0"/>
              </a:spcAft>
              <a:buClr>
                <a:srgbClr val="2E3138"/>
              </a:buClr>
              <a:buSzPts val="1750"/>
              <a:buFont typeface="Calibri"/>
              <a:buChar char="•"/>
            </a:pPr>
            <a:r>
              <a:rPr lang="en-US" sz="1750">
                <a:solidFill>
                  <a:srgbClr val="2E3138"/>
                </a:solidFill>
                <a:latin typeface="Calibri"/>
                <a:ea typeface="Calibri"/>
                <a:cs typeface="Calibri"/>
                <a:sym typeface="Calibri"/>
              </a:rPr>
              <a:t>Efecto del tratamient</a:t>
            </a:r>
            <a:r>
              <a:rPr lang="en-US" sz="1750">
                <a:solidFill>
                  <a:srgbClr val="2E3138"/>
                </a:solidFill>
                <a:latin typeface="Calibri"/>
                <a:ea typeface="Calibri"/>
                <a:cs typeface="Calibri"/>
                <a:sym typeface="Calibri"/>
              </a:rPr>
              <a:t>o → IS</a:t>
            </a:r>
            <a:r>
              <a:rPr lang="en-US" sz="1750">
                <a:solidFill>
                  <a:srgbClr val="2E3138"/>
                </a:solidFill>
                <a:latin typeface="Calibri"/>
                <a:ea typeface="Calibri"/>
                <a:cs typeface="Calibri"/>
                <a:sym typeface="Calibri"/>
              </a:rPr>
              <a:t>Gs medidos bajo terapia; IFN-score potencialmente infraestimado. </a:t>
            </a:r>
            <a:endParaRPr sz="1750">
              <a:solidFill>
                <a:srgbClr val="2E3138"/>
              </a:solidFill>
              <a:latin typeface="Calibri"/>
              <a:ea typeface="Calibri"/>
              <a:cs typeface="Calibri"/>
              <a:sym typeface="Calibri"/>
            </a:endParaRPr>
          </a:p>
          <a:p>
            <a:pPr indent="-368300" lvl="0" marL="342900" marR="0" rtl="0" algn="just">
              <a:lnSpc>
                <a:spcPct val="115000"/>
              </a:lnSpc>
              <a:spcBef>
                <a:spcPts val="1000"/>
              </a:spcBef>
              <a:spcAft>
                <a:spcPts val="0"/>
              </a:spcAft>
              <a:buClr>
                <a:srgbClr val="2E3138"/>
              </a:buClr>
              <a:buSzPts val="1750"/>
              <a:buFont typeface="Calibri"/>
              <a:buChar char="•"/>
            </a:pPr>
            <a:r>
              <a:rPr lang="en-US" sz="1750">
                <a:solidFill>
                  <a:srgbClr val="2E3138"/>
                </a:solidFill>
                <a:latin typeface="Calibri"/>
                <a:ea typeface="Calibri"/>
                <a:cs typeface="Calibri"/>
                <a:sym typeface="Calibri"/>
              </a:rPr>
              <a:t>Representatividad limitada → Cohorte española/caucásica con baja actividad predominante; generalización étnica y clínica limitada</a:t>
            </a:r>
            <a:endParaRPr sz="1750">
              <a:solidFill>
                <a:srgbClr val="2E3138"/>
              </a:solidFill>
              <a:latin typeface="Calibri"/>
              <a:ea typeface="Calibri"/>
              <a:cs typeface="Calibri"/>
              <a:sym typeface="Calibri"/>
            </a:endParaRPr>
          </a:p>
          <a:p>
            <a:pPr indent="-368300" lvl="0" marL="342900" marR="0" rtl="0" algn="just">
              <a:lnSpc>
                <a:spcPct val="115000"/>
              </a:lnSpc>
              <a:spcBef>
                <a:spcPts val="1000"/>
              </a:spcBef>
              <a:spcAft>
                <a:spcPts val="0"/>
              </a:spcAft>
              <a:buClr>
                <a:srgbClr val="2E3138"/>
              </a:buClr>
              <a:buSzPts val="1750"/>
              <a:buFont typeface="Calibri"/>
              <a:buChar char="•"/>
            </a:pPr>
            <a:r>
              <a:rPr lang="en-US" sz="1750">
                <a:solidFill>
                  <a:srgbClr val="2E3138"/>
                </a:solidFill>
                <a:latin typeface="Calibri"/>
                <a:ea typeface="Calibri"/>
                <a:cs typeface="Calibri"/>
                <a:sym typeface="Calibri"/>
              </a:rPr>
              <a:t>Sobreajuste LASSO → p ≫ n (≈90 predictores, ~250 muestras); AUC optimistas sin validación externa. </a:t>
            </a:r>
            <a:endParaRPr sz="1750">
              <a:solidFill>
                <a:srgbClr val="2E3138"/>
              </a:solidFill>
              <a:latin typeface="Calibri"/>
              <a:ea typeface="Calibri"/>
              <a:cs typeface="Calibri"/>
              <a:sym typeface="Calibri"/>
            </a:endParaRPr>
          </a:p>
          <a:p>
            <a:pPr indent="-368300" lvl="0" marL="342900" marR="0" rtl="0" algn="just">
              <a:lnSpc>
                <a:spcPct val="115000"/>
              </a:lnSpc>
              <a:spcBef>
                <a:spcPts val="1000"/>
              </a:spcBef>
              <a:spcAft>
                <a:spcPts val="0"/>
              </a:spcAft>
              <a:buClr>
                <a:srgbClr val="2E3138"/>
              </a:buClr>
              <a:buSzPts val="1750"/>
              <a:buFont typeface="Calibri"/>
              <a:buChar char="•"/>
            </a:pPr>
            <a:r>
              <a:rPr lang="en-US" sz="1750">
                <a:solidFill>
                  <a:srgbClr val="2E3138"/>
                </a:solidFill>
                <a:latin typeface="Calibri"/>
                <a:ea typeface="Calibri"/>
                <a:cs typeface="Calibri"/>
                <a:sym typeface="Calibri"/>
              </a:rPr>
              <a:t>Datos faltantes → Proteínas séricas con alta proporción de missings; robustez reducida.</a:t>
            </a:r>
            <a:endParaRPr sz="1750">
              <a:solidFill>
                <a:srgbClr val="2E3138"/>
              </a:solidFill>
              <a:latin typeface="Calibri"/>
              <a:ea typeface="Calibri"/>
              <a:cs typeface="Calibri"/>
              <a:sym typeface="Calibri"/>
            </a:endParaRPr>
          </a:p>
          <a:p>
            <a:pPr indent="-368300" lvl="0" marL="342900" marR="0" rtl="0" algn="just">
              <a:lnSpc>
                <a:spcPct val="115000"/>
              </a:lnSpc>
              <a:spcBef>
                <a:spcPts val="1000"/>
              </a:spcBef>
              <a:spcAft>
                <a:spcPts val="1000"/>
              </a:spcAft>
              <a:buClr>
                <a:srgbClr val="2E3138"/>
              </a:buClr>
              <a:buSzPts val="1750"/>
              <a:buFont typeface="Calibri"/>
              <a:buChar char="•"/>
            </a:pPr>
            <a:r>
              <a:rPr lang="en-US" sz="1750">
                <a:solidFill>
                  <a:srgbClr val="2E3138"/>
                </a:solidFill>
                <a:latin typeface="Calibri"/>
                <a:ea typeface="Calibri"/>
                <a:cs typeface="Calibri"/>
                <a:sym typeface="Calibri"/>
              </a:rPr>
              <a:t>Cobertura parcial → Panel NanoString 72 ISGs: firma IFN canónica, no transcriptoma completo</a:t>
            </a:r>
            <a:endParaRPr b="0" i="0" sz="1750" u="none" cap="none" strike="noStrike">
              <a:solidFill>
                <a:schemeClr val="dk1"/>
              </a:solidFill>
              <a:latin typeface="Calibri"/>
              <a:ea typeface="Calibri"/>
              <a:cs typeface="Calibri"/>
              <a:sym typeface="Calibri"/>
            </a:endParaRPr>
          </a:p>
        </p:txBody>
      </p:sp>
      <p:sp>
        <p:nvSpPr>
          <p:cNvPr id="653" name="Google Shape;653;p19"/>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9"/>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Bernal </a:t>
            </a:r>
            <a:r>
              <a:rPr lang="en-US" sz="900">
                <a:solidFill>
                  <a:srgbClr val="6B707A"/>
                </a:solidFill>
                <a:latin typeface="Calibri"/>
                <a:ea typeface="Calibri"/>
                <a:cs typeface="Calibri"/>
                <a:sym typeface="Calibri"/>
              </a:rPr>
              <a:t>Gómez </a:t>
            </a:r>
            <a:r>
              <a:rPr b="0" i="0" lang="en-US" sz="900" u="none" cap="none" strike="noStrike">
                <a:solidFill>
                  <a:srgbClr val="6B707A"/>
                </a:solidFill>
                <a:latin typeface="Calibri"/>
                <a:ea typeface="Calibri"/>
                <a:cs typeface="Calibri"/>
                <a:sym typeface="Calibri"/>
              </a:rPr>
              <a:t>· TFM Bioinformática y Bioestadística</a:t>
            </a:r>
            <a:endParaRPr b="0" i="0" sz="900" u="none" cap="none" strike="noStrike">
              <a:solidFill>
                <a:schemeClr val="dk1"/>
              </a:solidFill>
              <a:latin typeface="Calibri"/>
              <a:ea typeface="Calibri"/>
              <a:cs typeface="Calibri"/>
              <a:sym typeface="Calibri"/>
            </a:endParaRPr>
          </a:p>
        </p:txBody>
      </p:sp>
      <p:sp>
        <p:nvSpPr>
          <p:cNvPr id="655" name="Google Shape;655;p19"/>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
        <p:nvSpPr>
          <p:cNvPr id="656" name="Google Shape;656;p19"/>
          <p:cNvSpPr/>
          <p:nvPr/>
        </p:nvSpPr>
        <p:spPr>
          <a:xfrm>
            <a:off x="640100" y="5483925"/>
            <a:ext cx="11094300" cy="560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1" lang="en-US" sz="2300">
                <a:solidFill>
                  <a:srgbClr val="FFFFFF"/>
                </a:solidFill>
                <a:latin typeface="Calibri"/>
                <a:ea typeface="Calibri"/>
                <a:cs typeface="Calibri"/>
                <a:sym typeface="Calibri"/>
              </a:rPr>
              <a:t>Todos los resultados son exploratorios y requieren validación en cohortes independientes</a:t>
            </a:r>
            <a:endParaRPr b="0" i="0" sz="23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661" name="Shape 661"/>
        <p:cNvGrpSpPr/>
        <p:nvPr/>
      </p:nvGrpSpPr>
      <p:grpSpPr>
        <a:xfrm>
          <a:off x="0" y="0"/>
          <a:ext cx="0" cy="0"/>
          <a:chOff x="0" y="0"/>
          <a:chExt cx="0" cy="0"/>
        </a:xfrm>
      </p:grpSpPr>
      <p:sp>
        <p:nvSpPr>
          <p:cNvPr id="662" name="Google Shape;662;p20"/>
          <p:cNvSpPr/>
          <p:nvPr/>
        </p:nvSpPr>
        <p:spPr>
          <a:xfrm>
            <a:off x="548640" y="32004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CONCLUSIONES</a:t>
            </a:r>
            <a:endParaRPr b="0" i="0" sz="1000" u="none" cap="none" strike="noStrike">
              <a:solidFill>
                <a:schemeClr val="dk1"/>
              </a:solidFill>
              <a:latin typeface="Calibri"/>
              <a:ea typeface="Calibri"/>
              <a:cs typeface="Calibri"/>
              <a:sym typeface="Calibri"/>
            </a:endParaRPr>
          </a:p>
        </p:txBody>
      </p:sp>
      <p:sp>
        <p:nvSpPr>
          <p:cNvPr id="663" name="Google Shape;663;p20"/>
          <p:cNvSpPr/>
          <p:nvPr/>
        </p:nvSpPr>
        <p:spPr>
          <a:xfrm>
            <a:off x="10911535" y="3200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1000"/>
              <a:buFont typeface="Calibri"/>
              <a:buNone/>
            </a:pPr>
            <a:r>
              <a:rPr b="0" i="0" lang="en-US" sz="1000" u="none" cap="none" strike="noStrike">
                <a:solidFill>
                  <a:srgbClr val="6B707A"/>
                </a:solidFill>
                <a:latin typeface="Calibri"/>
                <a:ea typeface="Calibri"/>
                <a:cs typeface="Calibri"/>
                <a:sym typeface="Calibri"/>
              </a:rPr>
              <a:t>20 / 20</a:t>
            </a:r>
            <a:endParaRPr b="0" i="0" sz="1000" u="none" cap="none" strike="noStrike">
              <a:solidFill>
                <a:schemeClr val="dk1"/>
              </a:solidFill>
              <a:latin typeface="Calibri"/>
              <a:ea typeface="Calibri"/>
              <a:cs typeface="Calibri"/>
              <a:sym typeface="Calibri"/>
            </a:endParaRPr>
          </a:p>
        </p:txBody>
      </p:sp>
      <p:sp>
        <p:nvSpPr>
          <p:cNvPr id="664" name="Google Shape;664;p20"/>
          <p:cNvSpPr/>
          <p:nvPr/>
        </p:nvSpPr>
        <p:spPr>
          <a:xfrm>
            <a:off x="548640" y="658368"/>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548840" y="746105"/>
            <a:ext cx="11094300" cy="868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E3138"/>
              </a:buClr>
              <a:buSzPts val="3600"/>
              <a:buFont typeface="Calibri"/>
              <a:buNone/>
            </a:pPr>
            <a:r>
              <a:rPr b="1" i="0" lang="en-US" sz="3600" u="none" cap="none" strike="noStrike">
                <a:solidFill>
                  <a:srgbClr val="2E3138"/>
                </a:solidFill>
                <a:latin typeface="Calibri"/>
                <a:ea typeface="Calibri"/>
                <a:cs typeface="Calibri"/>
                <a:sym typeface="Calibri"/>
              </a:rPr>
              <a:t>Conclusiones</a:t>
            </a:r>
            <a:endParaRPr b="0" i="0" sz="3600" u="none" cap="none" strike="noStrike">
              <a:solidFill>
                <a:schemeClr val="dk1"/>
              </a:solidFill>
              <a:latin typeface="Calibri"/>
              <a:ea typeface="Calibri"/>
              <a:cs typeface="Calibri"/>
              <a:sym typeface="Calibri"/>
            </a:endParaRPr>
          </a:p>
        </p:txBody>
      </p:sp>
      <p:sp>
        <p:nvSpPr>
          <p:cNvPr id="666" name="Google Shape;666;p20"/>
          <p:cNvSpPr/>
          <p:nvPr/>
        </p:nvSpPr>
        <p:spPr>
          <a:xfrm>
            <a:off x="548500" y="1563250"/>
            <a:ext cx="5226900" cy="1894200"/>
          </a:xfrm>
          <a:prstGeom prst="roundRect">
            <a:avLst>
              <a:gd fmla="val 7742"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667" name="Google Shape;667;p20"/>
          <p:cNvSpPr/>
          <p:nvPr/>
        </p:nvSpPr>
        <p:spPr>
          <a:xfrm>
            <a:off x="863686" y="1755840"/>
            <a:ext cx="4817700" cy="45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700"/>
              <a:buFont typeface="Calibri"/>
              <a:buNone/>
            </a:pPr>
            <a:r>
              <a:rPr b="1" i="0" lang="en-US" sz="2300" u="none" cap="none" strike="noStrike">
                <a:solidFill>
                  <a:srgbClr val="0F6B78"/>
                </a:solidFill>
                <a:latin typeface="Calibri"/>
                <a:ea typeface="Calibri"/>
                <a:cs typeface="Calibri"/>
                <a:sym typeface="Calibri"/>
              </a:rPr>
              <a:t>IFN-score </a:t>
            </a:r>
            <a:endParaRPr b="0" i="0" sz="2300" u="none" cap="none" strike="noStrike">
              <a:solidFill>
                <a:schemeClr val="dk1"/>
              </a:solidFill>
              <a:latin typeface="Calibri"/>
              <a:ea typeface="Calibri"/>
              <a:cs typeface="Calibri"/>
              <a:sym typeface="Calibri"/>
            </a:endParaRPr>
          </a:p>
        </p:txBody>
      </p:sp>
      <p:sp>
        <p:nvSpPr>
          <p:cNvPr id="668" name="Google Shape;668;p20"/>
          <p:cNvSpPr/>
          <p:nvPr/>
        </p:nvSpPr>
        <p:spPr>
          <a:xfrm>
            <a:off x="863675" y="2234350"/>
            <a:ext cx="4738800" cy="10254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2E3138"/>
              </a:buClr>
              <a:buSzPts val="1300"/>
              <a:buFont typeface="Calibri"/>
              <a:buNone/>
            </a:pPr>
            <a:r>
              <a:rPr lang="en-US" sz="1600">
                <a:solidFill>
                  <a:srgbClr val="2E3138"/>
                </a:solidFill>
                <a:latin typeface="Calibri"/>
                <a:ea typeface="Calibri"/>
                <a:cs typeface="Calibri"/>
                <a:sym typeface="Calibri"/>
              </a:rPr>
              <a:t>Mediana LES = 0,78 vs controles = 0,01; p &lt; 0,001</a:t>
            </a:r>
            <a:endParaRPr sz="1600">
              <a:solidFill>
                <a:srgbClr val="2E3138"/>
              </a:solidFill>
              <a:latin typeface="Calibri"/>
              <a:ea typeface="Calibri"/>
              <a:cs typeface="Calibri"/>
              <a:sym typeface="Calibri"/>
            </a:endParaRPr>
          </a:p>
          <a:p>
            <a:pPr indent="0" lvl="0" marL="0" marR="0" rtl="0" algn="just">
              <a:lnSpc>
                <a:spcPct val="100000"/>
              </a:lnSpc>
              <a:spcBef>
                <a:spcPts val="0"/>
              </a:spcBef>
              <a:spcAft>
                <a:spcPts val="0"/>
              </a:spcAft>
              <a:buClr>
                <a:srgbClr val="2E3138"/>
              </a:buClr>
              <a:buSzPts val="1300"/>
              <a:buFont typeface="Calibri"/>
              <a:buNone/>
            </a:pPr>
            <a:r>
              <a:rPr lang="en-US" sz="1600">
                <a:solidFill>
                  <a:srgbClr val="2E3138"/>
                </a:solidFill>
                <a:latin typeface="Calibri"/>
                <a:ea typeface="Calibri"/>
                <a:cs typeface="Calibri"/>
                <a:sym typeface="Calibri"/>
              </a:rPr>
              <a:t>Concordancia con score clásico (κ = 0,779)</a:t>
            </a:r>
            <a:endParaRPr sz="1600">
              <a:solidFill>
                <a:srgbClr val="2E3138"/>
              </a:solidFill>
              <a:latin typeface="Calibri"/>
              <a:ea typeface="Calibri"/>
              <a:cs typeface="Calibri"/>
              <a:sym typeface="Calibri"/>
            </a:endParaRPr>
          </a:p>
          <a:p>
            <a:pPr indent="0" lvl="0" marL="0" marR="0" rtl="0" algn="just">
              <a:lnSpc>
                <a:spcPct val="100000"/>
              </a:lnSpc>
              <a:spcBef>
                <a:spcPts val="0"/>
              </a:spcBef>
              <a:spcAft>
                <a:spcPts val="0"/>
              </a:spcAft>
              <a:buClr>
                <a:srgbClr val="2E3138"/>
              </a:buClr>
              <a:buSzPts val="1300"/>
              <a:buFont typeface="Calibri"/>
              <a:buNone/>
            </a:pPr>
            <a:r>
              <a:rPr b="1" i="0" lang="en-US" sz="1600" u="none" cap="none" strike="noStrike">
                <a:solidFill>
                  <a:srgbClr val="2E3138"/>
                </a:solidFill>
                <a:latin typeface="Calibri"/>
                <a:ea typeface="Calibri"/>
                <a:cs typeface="Calibri"/>
                <a:sym typeface="Calibri"/>
              </a:rPr>
              <a:t>Eje IFN-I aumentado y validado de forma robusta en la cohorte LES.</a:t>
            </a:r>
            <a:endParaRPr b="1" i="0" sz="1600" u="none" cap="none" strike="noStrike">
              <a:solidFill>
                <a:schemeClr val="dk1"/>
              </a:solidFill>
              <a:latin typeface="Calibri"/>
              <a:ea typeface="Calibri"/>
              <a:cs typeface="Calibri"/>
              <a:sym typeface="Calibri"/>
            </a:endParaRPr>
          </a:p>
        </p:txBody>
      </p:sp>
      <p:sp>
        <p:nvSpPr>
          <p:cNvPr id="669" name="Google Shape;669;p20"/>
          <p:cNvSpPr/>
          <p:nvPr/>
        </p:nvSpPr>
        <p:spPr>
          <a:xfrm>
            <a:off x="6194825" y="1563250"/>
            <a:ext cx="5448000" cy="1894200"/>
          </a:xfrm>
          <a:prstGeom prst="roundRect">
            <a:avLst>
              <a:gd fmla="val 7742"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670" name="Google Shape;670;p20"/>
          <p:cNvSpPr/>
          <p:nvPr/>
        </p:nvSpPr>
        <p:spPr>
          <a:xfrm>
            <a:off x="6510013" y="1755840"/>
            <a:ext cx="4817700" cy="45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700"/>
              <a:buFont typeface="Calibri"/>
              <a:buNone/>
            </a:pPr>
            <a:r>
              <a:rPr b="1" lang="en-US" sz="2300">
                <a:solidFill>
                  <a:srgbClr val="0F6B78"/>
                </a:solidFill>
                <a:latin typeface="Calibri"/>
                <a:ea typeface="Calibri"/>
                <a:cs typeface="Calibri"/>
                <a:sym typeface="Calibri"/>
              </a:rPr>
              <a:t>Fenotipo </a:t>
            </a:r>
            <a:r>
              <a:rPr b="1" i="0" lang="en-US" sz="2300" u="none" cap="none" strike="noStrike">
                <a:solidFill>
                  <a:srgbClr val="0F6B78"/>
                </a:solidFill>
                <a:latin typeface="Calibri"/>
                <a:ea typeface="Calibri"/>
                <a:cs typeface="Calibri"/>
                <a:sym typeface="Calibri"/>
              </a:rPr>
              <a:t>IFN-high</a:t>
            </a:r>
            <a:endParaRPr b="0" i="0" sz="2300" u="none" cap="none" strike="noStrike">
              <a:solidFill>
                <a:schemeClr val="dk1"/>
              </a:solidFill>
              <a:latin typeface="Calibri"/>
              <a:ea typeface="Calibri"/>
              <a:cs typeface="Calibri"/>
              <a:sym typeface="Calibri"/>
            </a:endParaRPr>
          </a:p>
        </p:txBody>
      </p:sp>
      <p:sp>
        <p:nvSpPr>
          <p:cNvPr id="671" name="Google Shape;671;p20"/>
          <p:cNvSpPr/>
          <p:nvPr/>
        </p:nvSpPr>
        <p:spPr>
          <a:xfrm>
            <a:off x="6510025" y="2234350"/>
            <a:ext cx="4817700" cy="10254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2E3138"/>
              </a:buClr>
              <a:buSzPts val="1300"/>
              <a:buFont typeface="Calibri"/>
              <a:buNone/>
            </a:pPr>
            <a:r>
              <a:rPr lang="en-US" sz="1600">
                <a:solidFill>
                  <a:srgbClr val="2E3138"/>
                </a:solidFill>
                <a:latin typeface="Calibri"/>
                <a:ea typeface="Calibri"/>
                <a:cs typeface="Calibri"/>
                <a:sym typeface="Calibri"/>
              </a:rPr>
              <a:t>↑SLEDAI-2K, ↑ SLE-DAS, ↑ SLICC-DI, ↑IFN, </a:t>
            </a:r>
            <a:r>
              <a:rPr lang="en-US" sz="1600">
                <a:solidFill>
                  <a:srgbClr val="2E3138"/>
                </a:solidFill>
                <a:latin typeface="Calibri"/>
                <a:ea typeface="Calibri"/>
                <a:cs typeface="Calibri"/>
                <a:sym typeface="Calibri"/>
              </a:rPr>
              <a:t>↓ </a:t>
            </a:r>
            <a:r>
              <a:rPr lang="en-US" sz="1600">
                <a:solidFill>
                  <a:srgbClr val="2E3138"/>
                </a:solidFill>
                <a:latin typeface="Calibri"/>
                <a:ea typeface="Calibri"/>
                <a:cs typeface="Calibri"/>
                <a:sym typeface="Calibri"/>
              </a:rPr>
              <a:t>Edad, </a:t>
            </a:r>
            <a:r>
              <a:rPr lang="en-US" sz="1600">
                <a:solidFill>
                  <a:srgbClr val="2E3138"/>
                </a:solidFill>
                <a:latin typeface="Calibri"/>
                <a:ea typeface="Calibri"/>
                <a:cs typeface="Calibri"/>
                <a:sym typeface="Calibri"/>
              </a:rPr>
              <a:t>↓ HDL</a:t>
            </a:r>
            <a:endParaRPr sz="1600">
              <a:solidFill>
                <a:srgbClr val="2E3138"/>
              </a:solidFill>
              <a:latin typeface="Calibri"/>
              <a:ea typeface="Calibri"/>
              <a:cs typeface="Calibri"/>
              <a:sym typeface="Calibri"/>
            </a:endParaRPr>
          </a:p>
          <a:p>
            <a:pPr indent="0" lvl="0" marL="0" marR="0" rtl="0" algn="just">
              <a:lnSpc>
                <a:spcPct val="100000"/>
              </a:lnSpc>
              <a:spcBef>
                <a:spcPts val="0"/>
              </a:spcBef>
              <a:spcAft>
                <a:spcPts val="0"/>
              </a:spcAft>
              <a:buClr>
                <a:srgbClr val="2E3138"/>
              </a:buClr>
              <a:buSzPts val="1300"/>
              <a:buFont typeface="Calibri"/>
              <a:buNone/>
            </a:pPr>
            <a:r>
              <a:rPr b="1" i="0" lang="en-US" sz="1600" u="none" cap="none" strike="noStrike">
                <a:solidFill>
                  <a:srgbClr val="2E3138"/>
                </a:solidFill>
                <a:latin typeface="Calibri"/>
                <a:ea typeface="Calibri"/>
                <a:cs typeface="Calibri"/>
                <a:sym typeface="Calibri"/>
              </a:rPr>
              <a:t>Identifica un fenotipo más desfavorable: mayor actividad y mayor daño</a:t>
            </a:r>
            <a:r>
              <a:rPr b="1" lang="en-US" sz="1600">
                <a:solidFill>
                  <a:srgbClr val="2E3138"/>
                </a:solidFill>
                <a:latin typeface="Calibri"/>
                <a:ea typeface="Calibri"/>
                <a:cs typeface="Calibri"/>
                <a:sym typeface="Calibri"/>
              </a:rPr>
              <a:t>, debut más precoz. </a:t>
            </a:r>
            <a:endParaRPr b="1" i="0" sz="1600" u="none" cap="none" strike="noStrike">
              <a:solidFill>
                <a:schemeClr val="dk1"/>
              </a:solidFill>
              <a:latin typeface="Calibri"/>
              <a:ea typeface="Calibri"/>
              <a:cs typeface="Calibri"/>
              <a:sym typeface="Calibri"/>
            </a:endParaRPr>
          </a:p>
        </p:txBody>
      </p:sp>
      <p:sp>
        <p:nvSpPr>
          <p:cNvPr id="672" name="Google Shape;672;p20"/>
          <p:cNvSpPr/>
          <p:nvPr/>
        </p:nvSpPr>
        <p:spPr>
          <a:xfrm>
            <a:off x="548500" y="3708300"/>
            <a:ext cx="5226900" cy="1894200"/>
          </a:xfrm>
          <a:prstGeom prst="roundRect">
            <a:avLst>
              <a:gd fmla="val 7742"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673" name="Google Shape;673;p20"/>
          <p:cNvSpPr/>
          <p:nvPr/>
        </p:nvSpPr>
        <p:spPr>
          <a:xfrm>
            <a:off x="863686" y="3879201"/>
            <a:ext cx="4817700" cy="45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700"/>
              <a:buFont typeface="Calibri"/>
              <a:buNone/>
            </a:pPr>
            <a:r>
              <a:rPr b="1" i="0" lang="en-US" sz="2300" u="none" cap="none" strike="noStrike">
                <a:solidFill>
                  <a:srgbClr val="0F6B78"/>
                </a:solidFill>
                <a:latin typeface="Calibri"/>
                <a:ea typeface="Calibri"/>
                <a:cs typeface="Calibri"/>
                <a:sym typeface="Calibri"/>
              </a:rPr>
              <a:t>MOFA2</a:t>
            </a:r>
            <a:endParaRPr b="0" i="0" sz="2300" u="none" cap="none" strike="noStrike">
              <a:solidFill>
                <a:schemeClr val="dk1"/>
              </a:solidFill>
              <a:latin typeface="Calibri"/>
              <a:ea typeface="Calibri"/>
              <a:cs typeface="Calibri"/>
              <a:sym typeface="Calibri"/>
            </a:endParaRPr>
          </a:p>
        </p:txBody>
      </p:sp>
      <p:sp>
        <p:nvSpPr>
          <p:cNvPr id="674" name="Google Shape;674;p20"/>
          <p:cNvSpPr/>
          <p:nvPr/>
        </p:nvSpPr>
        <p:spPr>
          <a:xfrm>
            <a:off x="863675" y="4369125"/>
            <a:ext cx="4738800" cy="10254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2E3138"/>
              </a:buClr>
              <a:buSzPts val="1300"/>
              <a:buFont typeface="Calibri"/>
              <a:buNone/>
            </a:pPr>
            <a:r>
              <a:rPr lang="en-US" sz="1600">
                <a:solidFill>
                  <a:srgbClr val="2E3138"/>
                </a:solidFill>
                <a:latin typeface="Calibri"/>
                <a:ea typeface="Calibri"/>
                <a:cs typeface="Calibri"/>
                <a:sym typeface="Calibri"/>
              </a:rPr>
              <a:t>Factor 1: 85% varianza transcriptómica + 8% varianza Proteómica (IFN-α)</a:t>
            </a:r>
            <a:endParaRPr sz="1600">
              <a:solidFill>
                <a:srgbClr val="2E3138"/>
              </a:solidFill>
              <a:latin typeface="Calibri"/>
              <a:ea typeface="Calibri"/>
              <a:cs typeface="Calibri"/>
              <a:sym typeface="Calibri"/>
            </a:endParaRPr>
          </a:p>
          <a:p>
            <a:pPr indent="0" lvl="0" marL="0" marR="0" rtl="0" algn="just">
              <a:lnSpc>
                <a:spcPct val="100000"/>
              </a:lnSpc>
              <a:spcBef>
                <a:spcPts val="0"/>
              </a:spcBef>
              <a:spcAft>
                <a:spcPts val="0"/>
              </a:spcAft>
              <a:buClr>
                <a:srgbClr val="2E3138"/>
              </a:buClr>
              <a:buSzPts val="1300"/>
              <a:buFont typeface="Calibri"/>
              <a:buNone/>
            </a:pPr>
            <a:r>
              <a:rPr b="0" i="0" lang="en-US" sz="1600" u="none" cap="none" strike="noStrike">
                <a:solidFill>
                  <a:srgbClr val="2E3138"/>
                </a:solidFill>
                <a:latin typeface="Calibri"/>
                <a:ea typeface="Calibri"/>
                <a:cs typeface="Calibri"/>
                <a:sym typeface="Calibri"/>
              </a:rPr>
              <a:t>Confirma una </a:t>
            </a:r>
            <a:r>
              <a:rPr b="1" i="0" lang="en-US" sz="1600" u="none" cap="none" strike="noStrike">
                <a:solidFill>
                  <a:srgbClr val="2E3138"/>
                </a:solidFill>
                <a:latin typeface="Calibri"/>
                <a:ea typeface="Calibri"/>
                <a:cs typeface="Calibri"/>
                <a:sym typeface="Calibri"/>
              </a:rPr>
              <a:t>estructura latente dominante de IFN compartida entre ómicas.</a:t>
            </a:r>
            <a:endParaRPr b="1" i="0" sz="1600" u="none" cap="none" strike="noStrike">
              <a:solidFill>
                <a:schemeClr val="dk1"/>
              </a:solidFill>
              <a:latin typeface="Calibri"/>
              <a:ea typeface="Calibri"/>
              <a:cs typeface="Calibri"/>
              <a:sym typeface="Calibri"/>
            </a:endParaRPr>
          </a:p>
        </p:txBody>
      </p:sp>
      <p:sp>
        <p:nvSpPr>
          <p:cNvPr id="675" name="Google Shape;675;p20"/>
          <p:cNvSpPr/>
          <p:nvPr/>
        </p:nvSpPr>
        <p:spPr>
          <a:xfrm>
            <a:off x="6194825" y="3708300"/>
            <a:ext cx="5448000" cy="1894200"/>
          </a:xfrm>
          <a:prstGeom prst="roundRect">
            <a:avLst>
              <a:gd fmla="val 7742" name="adj"/>
            </a:avLst>
          </a:prstGeom>
          <a:solidFill>
            <a:srgbClr val="E7E9EE"/>
          </a:solidFill>
          <a:ln cap="flat" cmpd="sng" w="12700">
            <a:solidFill>
              <a:srgbClr val="E7E9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p:txBody>
      </p:sp>
      <p:sp>
        <p:nvSpPr>
          <p:cNvPr id="676" name="Google Shape;676;p20"/>
          <p:cNvSpPr/>
          <p:nvPr/>
        </p:nvSpPr>
        <p:spPr>
          <a:xfrm>
            <a:off x="6510013" y="3879201"/>
            <a:ext cx="4817700" cy="45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F6B78"/>
              </a:buClr>
              <a:buSzPts val="1700"/>
              <a:buFont typeface="Calibri"/>
              <a:buNone/>
            </a:pPr>
            <a:r>
              <a:rPr b="1" i="0" lang="en-US" sz="2300" u="none" cap="none" strike="noStrike">
                <a:solidFill>
                  <a:srgbClr val="0F6B78"/>
                </a:solidFill>
                <a:latin typeface="Calibri"/>
                <a:ea typeface="Calibri"/>
                <a:cs typeface="Calibri"/>
                <a:sym typeface="Calibri"/>
              </a:rPr>
              <a:t>DIABLO</a:t>
            </a:r>
            <a:endParaRPr b="0" i="0" sz="2300" u="none" cap="none" strike="noStrike">
              <a:solidFill>
                <a:schemeClr val="dk1"/>
              </a:solidFill>
              <a:latin typeface="Calibri"/>
              <a:ea typeface="Calibri"/>
              <a:cs typeface="Calibri"/>
              <a:sym typeface="Calibri"/>
            </a:endParaRPr>
          </a:p>
        </p:txBody>
      </p:sp>
      <p:sp>
        <p:nvSpPr>
          <p:cNvPr id="677" name="Google Shape;677;p20"/>
          <p:cNvSpPr/>
          <p:nvPr/>
        </p:nvSpPr>
        <p:spPr>
          <a:xfrm>
            <a:off x="6510025" y="4369125"/>
            <a:ext cx="4738800" cy="10254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2E3138"/>
              </a:buClr>
              <a:buSzPts val="1300"/>
              <a:buFont typeface="Calibri"/>
              <a:buNone/>
            </a:pPr>
            <a:r>
              <a:rPr lang="en-US" sz="1600">
                <a:solidFill>
                  <a:srgbClr val="2E3138"/>
                </a:solidFill>
                <a:latin typeface="Calibri"/>
                <a:ea typeface="Calibri"/>
                <a:cs typeface="Calibri"/>
                <a:sym typeface="Calibri"/>
              </a:rPr>
              <a:t>C3/C4 → </a:t>
            </a:r>
            <a:r>
              <a:rPr lang="en-US" sz="1600">
                <a:solidFill>
                  <a:srgbClr val="2E3138"/>
                </a:solidFill>
                <a:latin typeface="Calibri"/>
                <a:ea typeface="Calibri"/>
                <a:cs typeface="Calibri"/>
                <a:sym typeface="Calibri"/>
              </a:rPr>
              <a:t>SLEDAI-2K </a:t>
            </a:r>
            <a:r>
              <a:rPr lang="en-US" sz="1600">
                <a:solidFill>
                  <a:srgbClr val="2E3138"/>
                </a:solidFill>
                <a:latin typeface="Calibri"/>
                <a:ea typeface="Calibri"/>
                <a:cs typeface="Calibri"/>
                <a:sym typeface="Calibri"/>
              </a:rPr>
              <a:t>· Apo A-I/HDL → SLE-DAS · Creatinina → daño renal</a:t>
            </a:r>
            <a:endParaRPr sz="1600">
              <a:solidFill>
                <a:srgbClr val="2E3138"/>
              </a:solidFill>
              <a:latin typeface="Calibri"/>
              <a:ea typeface="Calibri"/>
              <a:cs typeface="Calibri"/>
              <a:sym typeface="Calibri"/>
            </a:endParaRPr>
          </a:p>
          <a:p>
            <a:pPr indent="0" lvl="0" marL="0" marR="0" rtl="0" algn="just">
              <a:lnSpc>
                <a:spcPct val="100000"/>
              </a:lnSpc>
              <a:spcBef>
                <a:spcPts val="0"/>
              </a:spcBef>
              <a:spcAft>
                <a:spcPts val="0"/>
              </a:spcAft>
              <a:buClr>
                <a:srgbClr val="2E3138"/>
              </a:buClr>
              <a:buSzPts val="1300"/>
              <a:buFont typeface="Calibri"/>
              <a:buNone/>
            </a:pPr>
            <a:r>
              <a:rPr b="0" i="0" lang="en-US" sz="1600" u="none" cap="none" strike="noStrike">
                <a:solidFill>
                  <a:srgbClr val="2E3138"/>
                </a:solidFill>
                <a:latin typeface="Calibri"/>
                <a:ea typeface="Calibri"/>
                <a:cs typeface="Calibri"/>
                <a:sym typeface="Calibri"/>
              </a:rPr>
              <a:t>Revela </a:t>
            </a:r>
            <a:r>
              <a:rPr b="1" i="0" lang="en-US" sz="1600" u="none" cap="none" strike="noStrike">
                <a:solidFill>
                  <a:srgbClr val="2E3138"/>
                </a:solidFill>
                <a:latin typeface="Calibri"/>
                <a:ea typeface="Calibri"/>
                <a:cs typeface="Calibri"/>
                <a:sym typeface="Calibri"/>
              </a:rPr>
              <a:t>especificidad por desenlace</a:t>
            </a:r>
            <a:r>
              <a:rPr b="0" i="0" lang="en-US" sz="1600" u="none" cap="none" strike="noStrike">
                <a:solidFill>
                  <a:srgbClr val="2E3138"/>
                </a:solidFill>
                <a:latin typeface="Calibri"/>
                <a:ea typeface="Calibri"/>
                <a:cs typeface="Calibri"/>
                <a:sym typeface="Calibri"/>
              </a:rPr>
              <a:t> y aporta interpretación clínica integrada.</a:t>
            </a:r>
            <a:endParaRPr b="0" i="0" sz="1600" u="none" cap="none" strike="noStrike">
              <a:solidFill>
                <a:schemeClr val="dk1"/>
              </a:solidFill>
              <a:latin typeface="Calibri"/>
              <a:ea typeface="Calibri"/>
              <a:cs typeface="Calibri"/>
              <a:sym typeface="Calibri"/>
            </a:endParaRPr>
          </a:p>
        </p:txBody>
      </p:sp>
      <p:sp>
        <p:nvSpPr>
          <p:cNvPr id="678" name="Google Shape;678;p20"/>
          <p:cNvSpPr/>
          <p:nvPr/>
        </p:nvSpPr>
        <p:spPr>
          <a:xfrm>
            <a:off x="548700" y="5696700"/>
            <a:ext cx="11094300" cy="475500"/>
          </a:xfrm>
          <a:prstGeom prst="roundRect">
            <a:avLst>
              <a:gd fmla="val 11765" name="adj"/>
            </a:avLst>
          </a:prstGeom>
          <a:solidFill>
            <a:srgbClr val="2E3138"/>
          </a:solidFill>
          <a:ln cap="flat" cmpd="sng" w="12700">
            <a:solidFill>
              <a:srgbClr val="2E3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0"/>
          <p:cNvSpPr/>
          <p:nvPr/>
        </p:nvSpPr>
        <p:spPr>
          <a:xfrm>
            <a:off x="548700" y="5696700"/>
            <a:ext cx="11094300" cy="475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400"/>
              <a:buFont typeface="Calibri"/>
              <a:buNone/>
            </a:pPr>
            <a:r>
              <a:rPr b="1" i="1" lang="en-US" sz="2400">
                <a:solidFill>
                  <a:srgbClr val="FFFFFF"/>
                </a:solidFill>
                <a:latin typeface="Calibri"/>
                <a:ea typeface="Calibri"/>
                <a:cs typeface="Calibri"/>
                <a:sym typeface="Calibri"/>
              </a:rPr>
              <a:t>La firma interferón conecta transcriptoma y proteoma en el LES.</a:t>
            </a:r>
            <a:endParaRPr b="0" i="0" sz="2400" u="none" cap="none" strike="noStrike">
              <a:solidFill>
                <a:schemeClr val="dk1"/>
              </a:solidFill>
              <a:latin typeface="Calibri"/>
              <a:ea typeface="Calibri"/>
              <a:cs typeface="Calibri"/>
              <a:sym typeface="Calibri"/>
            </a:endParaRPr>
          </a:p>
        </p:txBody>
      </p:sp>
      <p:sp>
        <p:nvSpPr>
          <p:cNvPr id="680" name="Google Shape;680;p20"/>
          <p:cNvSpPr/>
          <p:nvPr/>
        </p:nvSpPr>
        <p:spPr>
          <a:xfrm>
            <a:off x="548640" y="6355080"/>
            <a:ext cx="11094415" cy="10973"/>
          </a:xfrm>
          <a:prstGeom prst="rect">
            <a:avLst/>
          </a:prstGeom>
          <a:solidFill>
            <a:srgbClr val="D7D9DD"/>
          </a:solidFill>
          <a:ln cap="flat" cmpd="sng" w="12700">
            <a:solidFill>
              <a:srgbClr val="D7D9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548640" y="6446520"/>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Fuensanta Gómez Bernal · TFM Bioinformática y Bioestadística</a:t>
            </a:r>
            <a:endParaRPr b="0" i="0" sz="900" u="none" cap="none" strike="noStrike">
              <a:solidFill>
                <a:schemeClr val="dk1"/>
              </a:solidFill>
              <a:latin typeface="Calibri"/>
              <a:ea typeface="Calibri"/>
              <a:cs typeface="Calibri"/>
              <a:sym typeface="Calibri"/>
            </a:endParaRPr>
          </a:p>
        </p:txBody>
      </p:sp>
      <p:sp>
        <p:nvSpPr>
          <p:cNvPr id="682" name="Google Shape;682;p20"/>
          <p:cNvSpPr/>
          <p:nvPr/>
        </p:nvSpPr>
        <p:spPr>
          <a:xfrm>
            <a:off x="7071055" y="6446520"/>
            <a:ext cx="457200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6B707A"/>
              </a:buClr>
              <a:buSzPts val="900"/>
              <a:buFont typeface="Calibri"/>
              <a:buNone/>
            </a:pPr>
            <a:r>
              <a:rPr b="0" i="0" lang="en-US" sz="900" u="none" cap="none" strike="noStrike">
                <a:solidFill>
                  <a:srgbClr val="6B707A"/>
                </a:solidFill>
                <a:latin typeface="Calibri"/>
                <a:ea typeface="Calibri"/>
                <a:cs typeface="Calibri"/>
                <a:sym typeface="Calibri"/>
              </a:rPr>
              <a:t>Integración multi-ómica · IFN-I · LES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2026-05-26T12:09:30Z</dcterms:created>
  <dc:creator>Fuensanta Gómez Bernal</dc:creator>
</cp:coreProperties>
</file>