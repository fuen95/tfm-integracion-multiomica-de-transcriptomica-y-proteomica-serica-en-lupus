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Mediana IFN-score</c:v>
                </c:pt>
              </c:strCache>
            </c:strRef>
          </c:tx>
          <c:spPr>
            <a:solidFill>
              <a:srgbClr val="6B70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E31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0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Controles sanos</c:v>
                  </c:pt>
                  <c:pt idx="1">
                    <c:v>Pacientes LES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0.006</c:v>
                </c:pt>
                <c:pt idx="1">
                  <c:v>0.782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2E31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pacientes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7C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IFN-high</c:v>
                  </c:pt>
                  <c:pt idx="1">
                    <c:v>IFN-low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164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 ρ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3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IFN-α sérico</c:v>
                  </c:pt>
                  <c:pt idx="1">
                    <c:v>SLE-DAS</c:v>
                  </c:pt>
                  <c:pt idx="2">
                    <c:v>SLEDAI-2K</c:v>
                  </c:pt>
                  <c:pt idx="3">
                    <c:v>Apo A-I</c:v>
                  </c:pt>
                  <c:pt idx="4">
                    <c:v>HDL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0.856</c:v>
                </c:pt>
                <c:pt idx="1">
                  <c:v>0.196</c:v>
                </c:pt>
                <c:pt idx="2">
                  <c:v>0.182</c:v>
                </c:pt>
                <c:pt idx="3">
                  <c:v>-0.21</c:v>
                </c:pt>
                <c:pt idx="4">
                  <c:v>-0.18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63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3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ROC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E31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A3A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A3A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A3A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IFN-α sérico</c:v>
                  </c:pt>
                  <c:pt idx="1">
                    <c:v>SLEDAI-2K</c:v>
                  </c:pt>
                  <c:pt idx="2">
                    <c:v>C3</c:v>
                  </c:pt>
                  <c:pt idx="3">
                    <c:v>C4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0.944</c:v>
                </c:pt>
                <c:pt idx="1">
                  <c:v>0.591</c:v>
                </c:pt>
                <c:pt idx="2">
                  <c:v>0.538</c:v>
                </c:pt>
                <c:pt idx="3">
                  <c:v>0.529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E31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Varianza explicada (%)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EE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B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EEF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Factor 1
Transcriptómica</c:v>
                  </c:pt>
                  <c:pt idx="1">
                    <c:v>Factor 2
Transcript.</c:v>
                  </c:pt>
                  <c:pt idx="2">
                    <c:v>Factor 1
Proteómica</c:v>
                  </c:pt>
                  <c:pt idx="3">
                    <c:v>Factor 2
Proteómica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85.06</c:v>
                </c:pt>
                <c:pt idx="1">
                  <c:v>4.12</c:v>
                </c:pt>
                <c:pt idx="2">
                  <c:v>7.71</c:v>
                </c:pt>
                <c:pt idx="3">
                  <c:v>3.55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A84B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63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7C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4B2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SLEDAI-2K</c:v>
                  </c:pt>
                  <c:pt idx="1">
                    <c:v>SLE-DAS</c:v>
                  </c:pt>
                  <c:pt idx="2">
                    <c:v>SLICC-SDI</c:v>
                  </c:pt>
                  <c:pt idx="3">
                    <c:v>DORIS</c:v>
                  </c:pt>
                  <c:pt idx="4">
                    <c:v>Rem. estricta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0.64</c:v>
                </c:pt>
                <c:pt idx="1">
                  <c:v>0.63</c:v>
                </c:pt>
                <c:pt idx="2">
                  <c:v>0.63</c:v>
                </c:pt>
                <c:pt idx="3">
                  <c:v>0.57</c:v>
                </c:pt>
                <c:pt idx="4">
                  <c:v>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63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72830"/>
          </a:solidFill>
          <a:ln w="12700">
            <a:solidFill>
              <a:srgbClr val="172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0"/>
            <a:ext cx="1005840" cy="6858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9326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genes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680960" y="1965960"/>
            <a:ext cx="1005840" cy="6858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19842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2313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sérica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1005840" cy="6858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035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822960" cy="365760"/>
          </a:xfrm>
          <a:prstGeom prst="line">
            <a:avLst/>
          </a:prstGeom>
          <a:noFill/>
          <a:ln w="19050">
            <a:solidFill>
              <a:srgbClr val="0F6B78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8183880" y="2651760"/>
            <a:ext cx="-822960" cy="365760"/>
          </a:xfrm>
          <a:prstGeom prst="line">
            <a:avLst/>
          </a:prstGeom>
          <a:noFill/>
          <a:ln w="19050">
            <a:solidFill>
              <a:srgbClr val="0F6B78"/>
            </a:solidFill>
            <a:prstDash val="sysDash"/>
          </a:ln>
        </p:spPr>
      </p:sp>
      <p:sp>
        <p:nvSpPr>
          <p:cNvPr id="15" name="Text 13"/>
          <p:cNvSpPr/>
          <p:nvPr/>
        </p:nvSpPr>
        <p:spPr>
          <a:xfrm>
            <a:off x="411480" y="64008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multi-ómica de la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interferón tipo I 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biomaracadores séricos en LES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5303520" cy="36576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358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 en Bioinformática y Bioestadística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Fuensanta Bernal Gómez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767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TFM ·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LES: una enfermedad heterogénea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2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0" y="1828800"/>
            <a:ext cx="2194560" cy="109728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286000" cy="91440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64008" cy="9144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variable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manifestaciones multi-órgano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645920"/>
            <a:ext cx="822960" cy="731520"/>
          </a:xfrm>
          <a:prstGeom prst="line">
            <a:avLst/>
          </a:prstGeom>
          <a:noFill/>
          <a:ln w="15240">
            <a:solidFill>
              <a:srgbClr val="CCCED4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6400800" y="1188720"/>
            <a:ext cx="2286000" cy="91440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188720"/>
            <a:ext cx="64008" cy="9144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fluctuante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1664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brotes ↔ remisión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-731520" cy="731520"/>
          </a:xfrm>
          <a:prstGeom prst="line">
            <a:avLst/>
          </a:prstGeom>
          <a:noFill/>
          <a:ln w="15240">
            <a:solidFill>
              <a:srgbClr val="CCCED4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2286000" cy="91440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64008" cy="91440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acumulado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SLICC / SDI progresivo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3383280"/>
            <a:ext cx="822960" cy="-1005840"/>
          </a:xfrm>
          <a:prstGeom prst="line">
            <a:avLst/>
          </a:prstGeom>
          <a:noFill/>
          <a:ln w="15240">
            <a:solidFill>
              <a:srgbClr val="CCCED4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6400800" y="2926080"/>
            <a:ext cx="2286000" cy="91440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926080"/>
            <a:ext cx="64008" cy="91440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diversa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IFN, NFκB, complemento...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383280"/>
            <a:ext cx="-731520" cy="-1005840"/>
          </a:xfrm>
          <a:prstGeom prst="line">
            <a:avLst/>
          </a:prstGeom>
          <a:noFill/>
          <a:ln w="15240">
            <a:solidFill>
              <a:srgbClr val="CCCED4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heterogeneidad dificulta predecir actividad, daño y remisión con un único marcador.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vía IFN-I organiza un endotipo molecular del 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3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828800" cy="11887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 inicial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103120"/>
            <a:ext cx="411480" cy="0"/>
          </a:xfrm>
          <a:prstGeom prst="line">
            <a:avLst/>
          </a:prstGeom>
          <a:noFill/>
          <a:ln w="31750">
            <a:solidFill>
              <a:srgbClr val="0F6B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B78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1828800" cy="1188720"/>
          </a:xfrm>
          <a:prstGeom prst="rect">
            <a:avLst/>
          </a:prstGeom>
          <a:solidFill>
            <a:srgbClr val="D4EEF1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JAK/STAT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411480" cy="0"/>
          </a:xfrm>
          <a:prstGeom prst="line">
            <a:avLst/>
          </a:prstGeom>
          <a:noFill/>
          <a:ln w="31750">
            <a:solidFill>
              <a:srgbClr val="0F6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B78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66360" y="1508760"/>
            <a:ext cx="1828800" cy="11887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636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genes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2103120"/>
            <a:ext cx="411480" cy="0"/>
          </a:xfrm>
          <a:prstGeom prst="line">
            <a:avLst/>
          </a:prstGeom>
          <a:noFill/>
          <a:ln w="31750">
            <a:solidFill>
              <a:srgbClr val="0F6B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B78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1508760"/>
            <a:ext cx="1828800" cy="11887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· daño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8138160" cy="868680"/>
          </a:xfrm>
          <a:prstGeom prst="rect">
            <a:avLst/>
          </a:prstGeom>
          <a:solidFill>
            <a:srgbClr val="D4EEF1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12724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¿Se conecta esta señal molecular con la actividad clínica, el daño acumulado y los biomarcadores séricos?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297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vía IFN-I es una de las señales más reproducidas en LES. Presente en ~50-70% de pacientes.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analítica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4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920240" cy="10058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1920240" cy="10058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14600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sanos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20240" cy="10058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NanoString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2011680" cy="10058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20840" y="16733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séricas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(panel multicomp.)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331720"/>
            <a:ext cx="8321040" cy="16916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31720"/>
            <a:ext cx="64008" cy="169164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95728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Transcriptómica final: </a:t>
            </a:r>
            <a:pPr indent="0" marL="0">
              <a:buNone/>
            </a:pPr>
            <a:r>
              <a:rPr lang="en-US" sz="12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LES + 24 controles (1 muestra excluida por QC)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sérica: </a:t>
            </a:r>
            <a:pPr indent="0" marL="0">
              <a:buNone/>
            </a:pPr>
            <a:r>
              <a:rPr lang="en-US" sz="12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IFN-α, C3, C4, BAFF, HDL, Apo A-I, creatinina y otros
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RELESSER-TRANS / Hospital Virgen de las Nieves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2519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Desenlaces clínicos: SLEDAI-2K · SLE-DAS · SLICC-SDI · DORIS · Remisión estricta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selección de participantes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5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0" y="960120"/>
            <a:ext cx="3291840" cy="566928"/>
          </a:xfrm>
          <a:prstGeom prst="rect">
            <a:avLst/>
          </a:prstGeom>
          <a:solidFill>
            <a:srgbClr val="E9F4F6"/>
          </a:solidFill>
          <a:ln w="1524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960120"/>
            <a:ext cx="3291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pacientes preseleccionados con diagnóstico de 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62272" y="15270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6B78"/>
                </a:solidFill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176272"/>
            <a:ext cx="3291840" cy="566928"/>
          </a:xfrm>
          <a:prstGeom prst="rect">
            <a:avLst/>
          </a:prstGeom>
          <a:solidFill>
            <a:srgbClr val="D4EEF1"/>
          </a:solidFill>
          <a:ln w="1524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pacientes elegibles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62272" y="27432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6B78"/>
                </a:solidFill>
              </a:rPr>
              <a:t>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3291840" cy="566928"/>
          </a:xfrm>
          <a:prstGeom prst="rect">
            <a:avLst/>
          </a:prstGeom>
          <a:solidFill>
            <a:srgbClr val="0F6B78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3383280"/>
            <a:ext cx="3291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pacientes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muestra analítica final 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62272" y="39502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508760"/>
            <a:ext cx="2468880" cy="1325880"/>
          </a:xfrm>
          <a:prstGeom prst="rect">
            <a:avLst/>
          </a:prstGeom>
          <a:solidFill>
            <a:srgbClr val="F5DDD7"/>
          </a:solidFill>
          <a:ln w="10160">
            <a:solidFill>
              <a:srgbClr val="A84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exclusión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65392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≥4 criterios ACR   n=45 (11,3%)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65392" y="21122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Consent. incompleto    n=20 (5,0%)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65392" y="23500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Anifrolumab            n=12 (3,0%)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65392" y="25877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inadecuadas   n=10 (2,5%)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1920240"/>
            <a:ext cx="-457200" cy="0"/>
          </a:xfrm>
          <a:prstGeom prst="line">
            <a:avLst/>
          </a:prstGeom>
          <a:noFill/>
          <a:ln w="15240">
            <a:solidFill>
              <a:srgbClr val="A84B2F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411480" y="4169664"/>
            <a:ext cx="4389120" cy="50292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 controles sanos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IFN-score, no incluidos en análisis clínico)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4169664"/>
            <a:ext cx="3749040" cy="50292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41879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transcriptómica: 1 muestra no superó QC NanoString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251 pacientes en análisis de expresión génica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analítica del estudio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6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560320" cy="822960"/>
          </a:xfrm>
          <a:prstGeom prst="rect">
            <a:avLst/>
          </a:prstGeom>
          <a:solidFill>
            <a:srgbClr val="D4EEF1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560320" cy="2743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Transcriptómica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ISGs · NanoString nCounter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17904" y="17373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07A"/>
                </a:solidFill>
              </a:rPr>
              <a:t>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560320" cy="822960"/>
          </a:xfrm>
          <a:prstGeom prst="rect">
            <a:avLst/>
          </a:prstGeom>
          <a:solidFill>
            <a:srgbClr val="E7E9EE"/>
          </a:solidFill>
          <a:ln w="12700">
            <a:solidFill>
              <a:srgbClr val="2E31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560320" cy="274320"/>
          </a:xfrm>
          <a:prstGeom prst="rect">
            <a:avLst/>
          </a:prstGeom>
          <a:solidFill>
            <a:srgbClr val="2E3138"/>
          </a:solidFill>
          <a:ln w="12700">
            <a:solidFill>
              <a:srgbClr val="2E31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sérica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2070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multicomponente (IFN-α, C3/C4, BAFF, HDL...)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17373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07A"/>
                </a:solidFill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53328" y="914400"/>
            <a:ext cx="2560320" cy="822960"/>
          </a:xfrm>
          <a:prstGeom prst="rect">
            <a:avLst/>
          </a:prstGeom>
          <a:solidFill>
            <a:srgbClr val="F5DDD7"/>
          </a:solidFill>
          <a:ln w="1270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914400"/>
            <a:ext cx="2560320" cy="2743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clínicos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9048" y="12070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SLEDAI-2K · SLE-DAS · SLICC-DI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LLDAS · DORIS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17373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07A"/>
                </a:solidFill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1965960"/>
            <a:ext cx="8458200" cy="658368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1965960"/>
            <a:ext cx="8458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IFN-score  →  Estratificación IFN-high / IFN-low  +  Comparaciones clínicas clásicas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26243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07A"/>
                </a:solidFill>
              </a:rPr>
              <a:t>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" y="2880360"/>
            <a:ext cx="2606040" cy="960120"/>
          </a:xfrm>
          <a:prstGeom prst="rect">
            <a:avLst/>
          </a:prstGeom>
          <a:solidFill>
            <a:srgbClr val="D4EEF1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2880360"/>
            <a:ext cx="2606040" cy="2743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MOFA2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" y="317296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multi-ómica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36192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7A"/>
                </a:solidFill>
              </a:rPr>
              <a:t>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63240" y="2880360"/>
            <a:ext cx="2606040" cy="960120"/>
          </a:xfrm>
          <a:prstGeom prst="rect">
            <a:avLst/>
          </a:prstGeom>
          <a:solidFill>
            <a:srgbClr val="E7E9EE"/>
          </a:solidFill>
          <a:ln w="12700">
            <a:solidFill>
              <a:srgbClr val="2E31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63240" y="2880360"/>
            <a:ext cx="2606040" cy="274320"/>
          </a:xfrm>
          <a:prstGeom prst="rect">
            <a:avLst/>
          </a:prstGeom>
          <a:solidFill>
            <a:srgbClr val="2E3138"/>
          </a:solidFill>
          <a:ln w="12700">
            <a:solidFill>
              <a:srgbClr val="2E31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36392" y="317296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multi-ómica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supervisada (5 desenlaces)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51960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7A"/>
                </a:solidFill>
              </a:rPr>
              <a:t>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79008" y="2880360"/>
            <a:ext cx="2606040" cy="960120"/>
          </a:xfrm>
          <a:prstGeom prst="rect">
            <a:avLst/>
          </a:prstGeom>
          <a:solidFill>
            <a:srgbClr val="F5DDD7"/>
          </a:solidFill>
          <a:ln w="1270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79008" y="2880360"/>
            <a:ext cx="2606040" cy="2743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317296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penalizada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67728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7A"/>
                </a:solidFill>
              </a:rPr>
              <a:t>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" y="4041648"/>
            <a:ext cx="8458200" cy="566928"/>
          </a:xfrm>
          <a:prstGeom prst="rect">
            <a:avLst/>
          </a:prstGeom>
          <a:solidFill>
            <a:srgbClr val="1E2A30"/>
          </a:solidFill>
          <a:ln w="12700">
            <a:solidFill>
              <a:srgbClr val="1E2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041648"/>
            <a:ext cx="8458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multi-ómica de la actividad, el daño y la remisión en 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analítico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7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1353312" cy="132588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325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691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28216" y="17602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A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83664" y="1234440"/>
            <a:ext cx="1353312" cy="132588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83664" y="1325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83664" y="1691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7602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19856" y="1234440"/>
            <a:ext cx="1353312" cy="1325880"/>
          </a:xfrm>
          <a:prstGeom prst="rect">
            <a:avLst/>
          </a:prstGeom>
          <a:solidFill>
            <a:srgbClr val="D4EEF1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9856" y="1325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19856" y="1691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602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56048" y="1234440"/>
            <a:ext cx="1353312" cy="1325880"/>
          </a:xfrm>
          <a:prstGeom prst="rect">
            <a:avLst/>
          </a:prstGeom>
          <a:solidFill>
            <a:srgbClr val="D4EEF1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1325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56048" y="1691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IFN-high/low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17602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1234440"/>
            <a:ext cx="1353312" cy="132588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325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1691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MOFA2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72984" y="17602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A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28432" y="1234440"/>
            <a:ext cx="1353312" cy="1325880"/>
          </a:xfrm>
          <a:prstGeom prst="rect">
            <a:avLst/>
          </a:prstGeom>
          <a:solidFill>
            <a:srgbClr val="F5DDD7"/>
          </a:solidFill>
          <a:ln w="12700">
            <a:solidFill>
              <a:srgbClr val="F5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28432" y="1325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28432" y="1691640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2761488"/>
            <a:ext cx="3072384" cy="457200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76148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brutos → listos para análisis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02736" y="2761488"/>
            <a:ext cx="3072384" cy="457200"/>
          </a:xfrm>
          <a:prstGeom prst="rect">
            <a:avLst/>
          </a:prstGeom>
          <a:solidFill>
            <a:srgbClr val="D4EEF1"/>
          </a:solidFill>
          <a:ln w="12700">
            <a:solidFill>
              <a:srgbClr val="D4EE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4176" y="276148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IFN-score validado frente al score clásico de 4 genes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761488"/>
            <a:ext cx="1920240" cy="457200"/>
          </a:xfrm>
          <a:prstGeom prst="rect">
            <a:avLst/>
          </a:prstGeom>
          <a:solidFill>
            <a:srgbClr val="F5DDD7"/>
          </a:solidFill>
          <a:ln w="12700">
            <a:solidFill>
              <a:srgbClr val="F5DD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7614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Multi-ómica supervisada + LASSO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IFN-score distingue LES de controles sanos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8 / 22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47472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1097280"/>
            <a:ext cx="2651760" cy="10058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719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2331720"/>
            <a:ext cx="2651760" cy="10058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" y="2377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0,006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11480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controles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3584448"/>
            <a:ext cx="2651760" cy="548640"/>
          </a:xfrm>
          <a:prstGeom prst="rect">
            <a:avLst/>
          </a:prstGeom>
          <a:solidFill>
            <a:srgbClr val="F5DDD7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6210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1,05 × 10⁻⁴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transcriptómica de la vía IFN-I confirmada en la cohorte.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ampliado reproduce el score clásico de 4 genes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9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840480" cy="3017520"/>
          </a:xfrm>
          <a:prstGeom prst="rect">
            <a:avLst/>
          </a:prstGeom>
          <a:solidFill>
            <a:srgbClr val="D4EEF1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0,972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continua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72 genes ↔ Score 4 genes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840480" cy="301752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0,779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Concordancia dicotómica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IFN-high / IFN-low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4251960"/>
            <a:ext cx="8321040" cy="5029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7024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Concordancia sustancial  →  El score de 72 ISGs no genera señal artificial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Estratificación molecular: endotipo IFN-high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10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840480" cy="3200400"/>
          </a:xfrm>
          <a:prstGeom prst="rect">
            <a:avLst/>
          </a:prstGeom>
          <a:solidFill>
            <a:srgbClr val="D4EEF1"/>
          </a:solidFill>
          <a:ln w="1905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34,7%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pacientes 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IFN-high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corte: media + 2 SD controles (1,264)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0" y="91440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43891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IFN-high · 164 IFN-low · Total: 251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IFN-high: fenotipo clínico más activo y con mayor daño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11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931920" cy="1463040"/>
          </a:xfrm>
          <a:prstGeom prst="rect">
            <a:avLst/>
          </a:prstGeom>
          <a:solidFill>
            <a:srgbClr val="F5DDD7"/>
          </a:solidFill>
          <a:ln w="12700">
            <a:solidFill>
              <a:srgbClr val="F5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64008" cy="146304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SLEDAI-2K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actividad global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31920" cy="1463040"/>
          </a:xfrm>
          <a:prstGeom prst="rect">
            <a:avLst/>
          </a:prstGeom>
          <a:solidFill>
            <a:srgbClr val="F5DDD7"/>
          </a:solidFill>
          <a:ln w="12700">
            <a:solidFill>
              <a:srgbClr val="F5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46304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394960" y="1188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SLE-DAS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1737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actividad compuesta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3931920" cy="1463040"/>
          </a:xfrm>
          <a:prstGeom prst="rect">
            <a:avLst/>
          </a:prstGeom>
          <a:solidFill>
            <a:srgbClr val="F5DDD7"/>
          </a:solidFill>
          <a:ln w="12700">
            <a:solidFill>
              <a:srgbClr val="F5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834640"/>
            <a:ext cx="64008" cy="146304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09728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SLICC-DI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daño acumulado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3931920" cy="146304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34640"/>
            <a:ext cx="64008" cy="1463040"/>
          </a:xfrm>
          <a:prstGeom prst="rect">
            <a:avLst/>
          </a:prstGeom>
          <a:solidFill>
            <a:srgbClr val="6B707A"/>
          </a:solidFill>
          <a:ln w="12700">
            <a:solidFill>
              <a:srgbClr val="6B7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26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menor remisión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significativa)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 IFN molecular identifica un subgrupo clínico con peor pronóstico.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IFN-score se refleja en sangre periférica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12 / 22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0" y="91440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1005840"/>
            <a:ext cx="3200400" cy="1188720"/>
          </a:xfrm>
          <a:prstGeom prst="rect">
            <a:avLst/>
          </a:prstGeom>
          <a:solidFill>
            <a:srgbClr val="D4EEF1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051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0,856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1148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  ↔  IFN-score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423160"/>
            <a:ext cx="3200400" cy="960120"/>
          </a:xfrm>
          <a:prstGeom prst="rect">
            <a:avLst/>
          </a:prstGeom>
          <a:solidFill>
            <a:srgbClr val="F5DDD7"/>
          </a:solidFill>
          <a:ln w="1270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248716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y Apo A-I correlacionan negativamente → perfil lipídico aterogénico asociado a mayor activación IFN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transcriptómica y la proteómica convergen en el mismo eje biológico.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 clasifica IFN-high con excelente capacidad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13 / 22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0" y="914400"/>
          <a:ext cx="4663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1005840"/>
            <a:ext cx="3474720" cy="146304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097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0,944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 para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IFN-high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743200"/>
            <a:ext cx="3474720" cy="178308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2816352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excelente (AUC &gt; 0,9)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actúa como biomarcador puente entre la señal transcriptómica y el fenotipo proteómico.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MOFA2 identifica un Factor 1 dominante: el eje IFN-I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14 / 22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14400"/>
            <a:ext cx="3108960" cy="3291840"/>
          </a:xfrm>
          <a:prstGeom prst="rect">
            <a:avLst/>
          </a:prstGeom>
          <a:solidFill>
            <a:srgbClr val="D4EEF1"/>
          </a:solidFill>
          <a:ln w="1270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987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 — Loadings principales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1444752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0" y="1481328"/>
            <a:ext cx="137160" cy="13716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61888" y="144475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(IFI27, IFI44L, USP18...)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819656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1856232"/>
            <a:ext cx="137160" cy="13716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1888" y="181965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2231136"/>
            <a:ext cx="137160" cy="13716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19456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 (B-cell activating)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2569464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606040"/>
            <a:ext cx="137160" cy="13716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61888" y="25694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· Apo A-I (inverso)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2944368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2980944"/>
            <a:ext cx="137160" cy="13716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1888" y="294436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C4 (complemento)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supervisión clínica, MOFA2 recapitula el eje IFN-I como estructura dominante de la variabilidad multi-ómica.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DIABLO: arquitectura de integración supervisada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15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017520" cy="3520440"/>
          </a:xfrm>
          <a:prstGeom prst="rect">
            <a:avLst/>
          </a:prstGeom>
          <a:solidFill>
            <a:srgbClr val="D4EEF1"/>
          </a:solidFill>
          <a:ln w="1905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Transcriptómica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ISGs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NanoString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IFITM1, IFI27, IFI44L,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USP18, TRIM38,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PARP9, TAP1...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960120"/>
            <a:ext cx="3017520" cy="3520440"/>
          </a:xfrm>
          <a:prstGeom prst="rect">
            <a:avLst/>
          </a:prstGeom>
          <a:solidFill>
            <a:srgbClr val="E7E9EE"/>
          </a:solidFill>
          <a:ln w="12700">
            <a:solidFill>
              <a:srgbClr val="6B70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024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II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sérica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75564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variables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séricas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25603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IFN-α, C3, C4, BAFF,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HDL, Apo A-I,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creatinina...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6B7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6B7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950208" y="960120"/>
            <a:ext cx="12435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50208" y="9601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SLEDAI-2K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50208" y="1664208"/>
            <a:ext cx="12435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0208" y="1664208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SLE-DAS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50208" y="2368296"/>
            <a:ext cx="12435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50208" y="236829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SLICC-SDI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50208" y="3072384"/>
            <a:ext cx="12435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50208" y="3072384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50208" y="3776472"/>
            <a:ext cx="12435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50208" y="3776472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Remisión estricta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modelos independientes  ·  mismo bloque ómico, distinto desenlace clínico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 – Actividad clínica: dos lecturas biológicas distintas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16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SLEDAI-2K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931920" cy="2834640"/>
          </a:xfrm>
          <a:prstGeom prst="rect">
            <a:avLst/>
          </a:prstGeom>
          <a:solidFill>
            <a:srgbClr val="F5DDD7"/>
          </a:solidFill>
          <a:ln w="1016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Transcriptómica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canónicos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(IFITM1, TRIM38, EIFAK2, TAP1)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32304"/>
            <a:ext cx="3566160" cy="0"/>
          </a:xfrm>
          <a:prstGeom prst="line">
            <a:avLst/>
          </a:prstGeom>
          <a:noFill/>
          <a:ln w="10160">
            <a:solidFill>
              <a:srgbClr val="CCC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sérica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y C4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(consumo de complemento)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401568"/>
            <a:ext cx="376732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4B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4564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leída como eje ISGs altos + complemento bajo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3931920" cy="5029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SLE-DAS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3931920" cy="2834640"/>
          </a:xfrm>
          <a:prstGeom prst="rect">
            <a:avLst/>
          </a:prstGeom>
          <a:solidFill>
            <a:srgbClr val="D4EEF1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Transcriptómica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canónicos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(IFI27, USP18 destacados)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432304"/>
            <a:ext cx="3566160" cy="0"/>
          </a:xfrm>
          <a:prstGeom prst="line">
            <a:avLst/>
          </a:prstGeom>
          <a:noFill/>
          <a:ln w="10160">
            <a:solidFill>
              <a:srgbClr val="CCC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sérica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IFN-α, Apo A-I, HDL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(dislipemia inflamatoria)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3401568"/>
            <a:ext cx="376732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F6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4564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+ componente lipídico-inflamatorio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eje IFN transcriptómico  ·  Distinta especificidad proteómica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 – Daño acumulado (SLICC-SDI): señal renal emergente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17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D4EEF1"/>
          </a:solidFill>
          <a:ln w="12700">
            <a:solidFill>
              <a:srgbClr val="D4EE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05156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261872"/>
            <a:ext cx="731520" cy="73152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89888" y="11887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IFN estable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157276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TRIM38 · PARP9 · TAP1 · IFITM1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05156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73152" cy="1051560"/>
          </a:xfrm>
          <a:prstGeom prst="rect">
            <a:avLst/>
          </a:prstGeom>
          <a:solidFill>
            <a:srgbClr val="2E3138"/>
          </a:solidFill>
          <a:ln w="12700">
            <a:solidFill>
              <a:srgbClr val="2E31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496312"/>
            <a:ext cx="731520" cy="731520"/>
          </a:xfrm>
          <a:prstGeom prst="ellipse">
            <a:avLst/>
          </a:prstGeom>
          <a:solidFill>
            <a:srgbClr val="2E3138"/>
          </a:solidFill>
          <a:ln w="12700">
            <a:solidFill>
              <a:srgbClr val="2E31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96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89888" y="24231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28072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directa con daño acumulado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F5DDD7"/>
          </a:solidFill>
          <a:ln w="12700">
            <a:solidFill>
              <a:srgbClr val="F5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66160"/>
            <a:ext cx="73152" cy="105156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730752"/>
            <a:ext cx="731520" cy="731520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30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89888" y="3657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Creatinina plasmática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404164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renal / daño acumulado — diferencial del modelo SLICC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36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creatinina como biomarcador diferencial → coherente con el carácter acumulativo y renal del daño en LES.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 – Remisión: señal multi-ómica más compleja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18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solidFill>
            <a:srgbClr val="2E3138"/>
          </a:solidFill>
          <a:ln w="12700">
            <a:solidFill>
              <a:srgbClr val="2E31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931920" cy="2331720"/>
          </a:xfrm>
          <a:prstGeom prst="rect">
            <a:avLst/>
          </a:prstGeom>
          <a:solidFill>
            <a:srgbClr val="E7E9EE"/>
          </a:solidFill>
          <a:ln w="10160">
            <a:solidFill>
              <a:srgbClr val="2E31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dominante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 (act. células 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inflamatorias/metabólicas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3886200"/>
            <a:ext cx="3767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E31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93192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Remisión multidimensional: incluye tratamiento y estado clínico global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50292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Remisión estricta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2331720"/>
          </a:xfrm>
          <a:prstGeom prst="rect">
            <a:avLst/>
          </a:prstGeom>
          <a:solidFill>
            <a:srgbClr val="D4EEF1"/>
          </a:solidFill>
          <a:ln w="10160">
            <a:solidFill>
              <a:srgbClr val="0F6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Proteómica dominante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sérico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 (act. células B)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688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complemento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0723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metabólico-renales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28032" y="3886200"/>
            <a:ext cx="3767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F6B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93192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Supresión simultánea de IFN, B-cells, complemento y metabolismo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2E3138"/>
          </a:solidFill>
          <a:ln w="12700">
            <a:solidFill>
              <a:srgbClr val="2E31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Remisión clínica ≠ silencio molecular completo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desenlace 'lee' una biología multi-ómica distinta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19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554480" cy="4572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2194560" cy="4572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transcriptómica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960120"/>
            <a:ext cx="2286000" cy="4572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proteómica dominante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960120"/>
            <a:ext cx="2560320" cy="4572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biológica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41732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SLEDAI-2K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74520" y="141732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9384" y="1417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+ IFITM1,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TRIM38, TAP1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1417320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23944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C3, C4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1417320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4173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= eje IFN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bajo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30552"/>
            <a:ext cx="155448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21305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SLE-DAS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74520" y="2130552"/>
            <a:ext cx="219456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9384" y="2130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+ IFI27,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2130552"/>
            <a:ext cx="228600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21305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IFN-α, Apo A-I, HDL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2130552"/>
            <a:ext cx="256032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21305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= IFN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dislipemia inflamatoria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843784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84378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SLICC-SDI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74520" y="2843784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9384" y="2843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+ TRIM38,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PARP9, IFITM1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69080" y="2843784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3944" y="28437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 + creatinina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843784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2843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acumulado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dimensión renal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557016"/>
            <a:ext cx="155448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355701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74520" y="3557016"/>
            <a:ext cx="219456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9384" y="35570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canónicos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(IFI27, IFI44L)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69080" y="3557016"/>
            <a:ext cx="228600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23944" y="35570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IFN-α, BAFF,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metabólico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55080" y="3557016"/>
            <a:ext cx="2560320" cy="658368"/>
          </a:xfrm>
          <a:prstGeom prst="rect">
            <a:avLst/>
          </a:prstGeom>
          <a:solidFill>
            <a:srgbClr val="F5F6F8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9944" y="35570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Remisión multidim.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 ómicas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270248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42702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Rem. estricta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74520" y="4270248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29384" y="4270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+ TRIM38,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IFITM1, PARP9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69080" y="4270248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23944" y="42702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IFN-α, BAFF, C3,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metabólico-renal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427024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9944" y="42702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Supresión IFN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B-cell + complemento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" y="5029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Transcriptoma: eje IFN estable en todos los modelos  ·  Proteoma: especificidad clínica por desenlace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DIABLO: valor interpretativo más que predictivo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20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2011680"/>
          </a:xfrm>
          <a:prstGeom prst="rect">
            <a:avLst/>
          </a:prstGeom>
          <a:solidFill>
            <a:srgbClr val="F5DDD7"/>
          </a:solidFill>
          <a:ln w="1905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0,55–0,69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modelo ≥ 0,70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BER: 0,398–0,452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89120" y="91440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246120"/>
            <a:ext cx="3840480" cy="141732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3310128"/>
            <a:ext cx="3566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DIABLO no es la predicción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la descomposición biológica de cómo cada índice clínico combina el eje IFN con señales proteómicas específicas.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 rendimiento esperada dado el bajo nivel medio de actividad de la cohorte.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exploratorio y limitaciones del estudio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02920" cy="54864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AC"/>
                </a:solidFill>
              </a:rPr>
              <a:t>21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3474720"/>
          </a:xfrm>
          <a:prstGeom prst="rect">
            <a:avLst/>
          </a:prstGeom>
          <a:solidFill>
            <a:srgbClr val="E7E9EE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977640" cy="438912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— Análisis exploratorio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CV: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0,554 – 0,663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3657600" cy="0"/>
          </a:xfrm>
          <a:prstGeom prst="line">
            <a:avLst/>
          </a:prstGeom>
          <a:noFill/>
          <a:ln w="6350">
            <a:solidFill>
              <a:srgbClr val="E2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942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2494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 candidatas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3657600" cy="0"/>
          </a:xfrm>
          <a:prstGeom prst="line">
            <a:avLst/>
          </a:prstGeom>
          <a:noFill/>
          <a:ln w="6350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98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ISGs selectos: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8986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IFI27, IFITM1, USP18, TRIM38...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3657600" cy="0"/>
          </a:xfrm>
          <a:prstGeom prst="line">
            <a:avLst/>
          </a:prstGeom>
          <a:noFill/>
          <a:ln w="6350">
            <a:solidFill>
              <a:srgbClr val="E2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47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547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en cohorte externa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160520" cy="3474720"/>
          </a:xfrm>
          <a:prstGeom prst="rect">
            <a:avLst/>
          </a:prstGeom>
          <a:solidFill>
            <a:srgbClr val="F5DDD7"/>
          </a:solidFill>
          <a:ln w="12700">
            <a:solidFill>
              <a:srgbClr val="A84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160520" cy="43891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00584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1728" y="1572768"/>
            <a:ext cx="182880" cy="182880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con baja actividad media → restricción de separabilidad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066544"/>
            <a:ext cx="182880" cy="182880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025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Desenlaces clínicos complejos: mezclan actividad, tratamiento y tiempo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2560320"/>
            <a:ext cx="182880" cy="182880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496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séricos faltantes en subconjunto de muestras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3054096"/>
            <a:ext cx="182880" cy="182880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990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transversal: no permite inferencia temporal ni causal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3547872"/>
            <a:ext cx="182880" cy="182880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483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cohorte externa independiente pendiente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congruentes con la literatura; la robustez mejorará con validación externa.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667512"/>
          </a:xfrm>
          <a:prstGeom prst="rect">
            <a:avLst/>
          </a:prstGeom>
          <a:solidFill>
            <a:srgbClr val="1E3540"/>
          </a:solidFill>
          <a:ln w="10160">
            <a:solidFill>
              <a:srgbClr val="2B4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475488" cy="47548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0149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IFN-I está aumentado y validado en LES — concordancia con score clásico (κ = 0,779)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8321040" cy="667512"/>
          </a:xfrm>
          <a:prstGeom prst="rect">
            <a:avLst/>
          </a:prstGeom>
          <a:solidFill>
            <a:srgbClr val="1E3540"/>
          </a:solidFill>
          <a:ln w="10160">
            <a:solidFill>
              <a:srgbClr val="2B4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56232"/>
            <a:ext cx="475488" cy="47548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8196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IFN-high define un fenotipo más activo (SLEDAI-2K ↑, SLE-DAS ↑) y con mayor daño (SLICC-DI ↑)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69464"/>
            <a:ext cx="8321040" cy="667512"/>
          </a:xfrm>
          <a:prstGeom prst="rect">
            <a:avLst/>
          </a:prstGeom>
          <a:solidFill>
            <a:srgbClr val="1E3540"/>
          </a:solidFill>
          <a:ln w="10160">
            <a:solidFill>
              <a:srgbClr val="2B4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60904"/>
            <a:ext cx="475488" cy="47548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624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MOFA2 confirma el eje IFN-I como estructura dominante multi-ómica sin supervisión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374136"/>
            <a:ext cx="8321040" cy="667512"/>
          </a:xfrm>
          <a:prstGeom prst="rect">
            <a:avLst/>
          </a:prstGeom>
          <a:solidFill>
            <a:srgbClr val="1E3540"/>
          </a:solidFill>
          <a:ln w="10160">
            <a:solidFill>
              <a:srgbClr val="2B4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65576"/>
            <a:ext cx="475488" cy="47548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65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DIABLO revela especificidad proteómica por desenlace: C3/C4, HDL/Apo A-I, creatinina, BAFF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178808"/>
            <a:ext cx="8321040" cy="667512"/>
          </a:xfrm>
          <a:prstGeom prst="rect">
            <a:avLst/>
          </a:prstGeom>
          <a:solidFill>
            <a:srgbClr val="1E3540"/>
          </a:solidFill>
          <a:ln w="10160">
            <a:solidFill>
              <a:srgbClr val="2B4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270248"/>
            <a:ext cx="475488" cy="47548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2336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transcriptoma-proteoma aporta interpretación clínica — más allá de la predicción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09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IFN-score al endotipo multi-ómico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Integración multi-ómica firma IFN-I en LES</dc:title>
  <dc:subject>PptxGenJS Presentation</dc:subject>
  <dc:creator>Fuensanta Bernal Gómez</dc:creator>
  <cp:lastModifiedBy>Fuensanta Bernal Gómez</cp:lastModifiedBy>
  <cp:revision>1</cp:revision>
  <dcterms:created xsi:type="dcterms:W3CDTF">2026-05-28T07:54:38Z</dcterms:created>
  <dcterms:modified xsi:type="dcterms:W3CDTF">2026-05-28T07:54:38Z</dcterms:modified>
</cp:coreProperties>
</file>